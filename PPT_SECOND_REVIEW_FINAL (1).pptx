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12.xml" ContentType="application/vnd.openxmlformats-officedocument.theme+xml"/>
  <Override PartName="/ppt/theme/theme7.xml" ContentType="application/vnd.openxmlformats-officedocument.theme+xml"/>
  <Override PartName="/ppt/theme/theme6.xml" ContentType="application/vnd.openxmlformats-officedocument.theme+xml"/>
  <Override PartName="/ppt/theme/theme8.xml" ContentType="application/vnd.openxmlformats-officedocument.theme+xml"/>
  <Override PartName="/ppt/theme/theme5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2.xml" ContentType="application/vnd.openxmlformats-officedocument.presentationml.slide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3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9" r:id="rId6"/>
    <p:sldMasterId id="2147483661" r:id="rId7"/>
    <p:sldMasterId id="2147483663" r:id="rId8"/>
    <p:sldMasterId id="2147483665" r:id="rId9"/>
    <p:sldMasterId id="2147483667" r:id="rId10"/>
    <p:sldMasterId id="2147483669" r:id="rId11"/>
    <p:sldMasterId id="2147483671" r:id="rId12"/>
  </p:sldMasterIdLst>
  <p:notesMasterIdLst>
    <p:notesMasterId r:id="rId13"/>
  </p:notes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  <p:sldId id="266" r:id="rId24"/>
    <p:sldId id="267" r:id="rId25"/>
    <p:sldId id="268" r:id="rId26"/>
    <p:sldId id="269" r:id="rId2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B11B5AF9-D8E3-4853-AE77-9CD11A5116C9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9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FC1BFE9-357A-4D61-B472-81541306549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0F2CD07-211A-483D-B465-A315B9C7099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 vert="eaVer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2B43C733-3408-46DF-BDF0-3FC771C6517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7540560" y="274680"/>
            <a:ext cx="1144800" cy="5296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 anchorCtr="1" vert="eaVert">
            <a:no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457200" y="85320"/>
            <a:ext cx="6400080" cy="604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 vert="eaVer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7CFEB208-D455-453A-A540-F4E4BE3C4AB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7540560" y="274680"/>
            <a:ext cx="1144800" cy="5296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 anchorCtr="1" vert="eaVert">
            <a:no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457200" y="85320"/>
            <a:ext cx="6400080" cy="604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 vert="eaVer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4940A2D1-A67A-42E8-B394-1DD5201A4CD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 vert="eaVer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FE7A312E-F99D-4DF2-831E-F0D4DA7FE13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52ED2BAD-D5CC-43D2-A80B-986AF1C2E01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79D8CCC5-D434-4328-915C-09142263D3A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1CDE93D6-0D42-410B-868F-AACDE1FDD03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440" cy="452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/>
          </p:nvPr>
        </p:nvSpPr>
        <p:spPr>
          <a:xfrm>
            <a:off x="4673880" y="1600200"/>
            <a:ext cx="4015440" cy="452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9C584E71-FDD3-418A-8CDC-DAE126E417B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5C11563E-7A7D-4AB0-9A28-2ABBC39837E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AB157B52-43E7-49C3-A820-BCAC0B4C44F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DE5EEEE2-3CE6-48B2-8AC2-C8BA658AABB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F4886EBA-E743-4E18-AA60-3A88C820E7A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E0852DCC-AA7A-41E8-B528-045FF18147F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<Relationship Id="rId4" Type="http://schemas.openxmlformats.org/officeDocument/2006/relationships/slideLayout" Target="../slideLayouts/slideLayout6.xml"/><Relationship Id="rId5" Type="http://schemas.openxmlformats.org/officeDocument/2006/relationships/slideLayout" Target="../slideLayouts/slideLayout7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8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9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10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11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12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3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AD3811– PROJECT WORK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7B93F32-E19D-4E0F-8ECD-E39A97F85D7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04/09/2026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ftr" idx="4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ldNum" idx="5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5AFC4B7-4312-458A-875B-FC43EF971BA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6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ftr" idx="7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sldNum" idx="8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EDA7788-27EA-4903-B3B8-231E4C857C5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dt" idx="9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ftr" idx="10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sldNum" idx="11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B4B6E0E-ACC7-41C7-AF4B-9D5A02918B7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dt" idx="12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2"/>
    <p:sldLayoutId id="2147483656" r:id="rId3"/>
    <p:sldLayoutId id="2147483657" r:id="rId4"/>
    <p:sldLayoutId id="2147483658" r:id="rId5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ftr" idx="13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sldNum" idx="14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B7177C1-3761-486A-B98C-48E09744B7C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dt" idx="15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440" cy="452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440" cy="452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ftr" idx="16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 type="sldNum" idx="17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8C0B4B2-78D2-4058-8E41-146727B0CA6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6"/>
          <p:cNvSpPr>
            <a:spLocks noGrp="1"/>
          </p:cNvSpPr>
          <p:nvPr>
            <p:ph type="dt" idx="18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ftr" idx="19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sldNum" idx="20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29E27C1-38A5-4CA2-8FDC-C29FE257207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dt" idx="2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ftr" idx="2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sldNum" idx="2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53A5D59-D933-4BB4-B01B-CC01DA19634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dt" idx="24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ftr" idx="25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sldNum" idx="26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5BC4C6E-A600-48AB-8624-D2D7A466781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dt" idx="27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ftr" idx="28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sldNum" idx="29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3A6454B-9A3C-497C-8D1B-50C08E13457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dt" idx="30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ftr" idx="3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ldNum" idx="3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9C11CA5-EADC-4AA6-83E4-6C66902F24E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dt" idx="3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7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7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hyperlink" Target="https://ieeexplore.ieee.org/document/8588801/" TargetMode="External"/><Relationship Id="rId2" Type="http://schemas.openxmlformats.org/officeDocument/2006/relationships/slideLayout" Target="../slideLayouts/slideLayout7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91560" y="1669680"/>
            <a:ext cx="7771680" cy="844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47500" lnSpcReduction="1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br>
              <a:rPr sz="2600"/>
            </a:br>
            <a:r>
              <a:rPr lang="en-US" sz="2600" b="1" u="none" strike="noStrike">
                <a:solidFill>
                  <a:srgbClr val="7030a0"/>
                </a:solidFill>
                <a:effectLst/>
                <a:uFillTx/>
                <a:latin typeface="Arial Black"/>
                <a:ea typeface="Calibri"/>
              </a:rPr>
              <a:t>Department of Computer Science and  Engineering</a:t>
            </a:r>
            <a:br>
              <a:rPr sz="2200"/>
            </a:br>
            <a:br>
              <a:rPr sz="2200"/>
            </a:br>
            <a:br>
              <a:rPr sz="2600"/>
            </a:b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itle 1"/>
          <p:cNvSpPr/>
          <p:nvPr/>
        </p:nvSpPr>
        <p:spPr>
          <a:xfrm>
            <a:off x="457200" y="458280"/>
            <a:ext cx="838116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7030a0"/>
                </a:solidFill>
                <a:effectLst/>
                <a:uFillTx/>
                <a:latin typeface="Arial Rounded MT Bold"/>
                <a:ea typeface="Calibri"/>
              </a:rPr>
              <a:t>ANNA UNIVERSITY REGIONAL CAMPUS COIMBATORE</a:t>
            </a:r>
            <a:br>
              <a:rPr sz="1400"/>
            </a:br>
            <a:br>
              <a:rPr sz="2800"/>
            </a:b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2"/>
          <p:cNvSpPr/>
          <p:nvPr/>
        </p:nvSpPr>
        <p:spPr>
          <a:xfrm>
            <a:off x="723960" y="2514600"/>
            <a:ext cx="7848000" cy="222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2000" b="1" u="none" strike="noStrike">
                <a:solidFill>
                  <a:srgbClr val="c00000"/>
                </a:solidFill>
                <a:effectLst/>
                <a:uFillTx/>
                <a:latin typeface="Arial"/>
              </a:rPr>
              <a:t>AD3811 &amp; PROJECT WORK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2000" b="1" u="none" strike="noStrike">
                <a:solidFill>
                  <a:srgbClr val="c00000"/>
                </a:solidFill>
                <a:effectLst/>
                <a:uFillTx/>
                <a:latin typeface="Arial"/>
              </a:rPr>
              <a:t>THIRD REVIEW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2000" b="0" u="none" strike="noStrike">
                <a:solidFill>
                  <a:srgbClr val="c00000"/>
                </a:solidFill>
                <a:effectLst/>
                <a:uFillTx/>
                <a:latin typeface="Arial"/>
              </a:rPr>
              <a:t>Title of the project 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2000" b="1" u="none" strike="noStrike">
                <a:solidFill>
                  <a:srgbClr val="c00000"/>
                </a:solidFill>
                <a:effectLst/>
                <a:uFillTx/>
                <a:latin typeface="Arial"/>
              </a:rPr>
              <a:t>Reverse Engineering of Voyager-Based GraphQL APIs for Automated Professional Profile Data Extraction</a:t>
            </a:r>
            <a:br>
              <a:rPr sz="2000"/>
            </a:br>
            <a:br>
              <a:rPr sz="2000"/>
            </a:br>
            <a:r>
              <a:rPr lang="en-US" sz="2000" b="1" u="none" strike="noStrike">
                <a:solidFill>
                  <a:srgbClr val="6535eb"/>
                </a:solidFill>
                <a:effectLst/>
                <a:uFillTx/>
                <a:latin typeface="Times New Roman"/>
              </a:rPr>
              <a:t>Date :</a:t>
            </a:r>
            <a:r>
              <a:rPr lang="en-US" sz="2000" b="0" u="none" strike="noStrike">
                <a:solidFill>
                  <a:srgbClr val="6535eb"/>
                </a:solidFill>
                <a:effectLst/>
                <a:uFillTx/>
                <a:latin typeface="Times New Roman"/>
              </a:rPr>
              <a:t> 10.04.2026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70" name="Table 8"/>
          <p:cNvGraphicFramePr/>
          <p:nvPr/>
        </p:nvGraphicFramePr>
        <p:xfrm>
          <a:off x="1144080" y="4724280"/>
          <a:ext cx="7162200" cy="1829520"/>
        </p:xfrm>
        <a:graphic>
          <a:graphicData uri="http://schemas.openxmlformats.org/drawingml/2006/table">
            <a:tbl>
              <a:tblPr/>
              <a:tblGrid>
                <a:gridCol w="3581280"/>
                <a:gridCol w="3581280"/>
              </a:tblGrid>
              <a:tr h="53316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Project Guide Name/Designation: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Name / Desn. / CSE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Dr.P.Marikkannu AP/CSE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5176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Name and Regn. Number of Students: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Name (Regn. No.)</a:t>
                      </a:r>
                      <a:br>
                        <a:rPr sz="1800"/>
                      </a:b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S.Sidharthan (710022243043)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8880" cy="562680"/>
          </a:xfrm>
          <a:prstGeom prst="rect">
            <a:avLst/>
          </a:prstGeom>
          <a:solidFill>
            <a:srgbClr val="6535eb"/>
          </a:solidFill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1" u="none" strike="noStrike">
                <a:solidFill>
                  <a:schemeClr val="lt1"/>
                </a:solidFill>
                <a:effectLst/>
                <a:uFillTx/>
                <a:latin typeface="Arial Black"/>
              </a:rPr>
              <a:t>AGENDA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914400"/>
            <a:ext cx="8228880" cy="521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algn="just" defTabSz="914400">
              <a:lnSpc>
                <a:spcPct val="100000"/>
              </a:lnSpc>
              <a:spcBef>
                <a:spcPts val="519"/>
              </a:spcBef>
              <a:buClr>
                <a:srgbClr val="000000"/>
              </a:buClr>
              <a:buFont typeface="Arial"/>
              <a:buChar char="•"/>
            </a:pPr>
            <a:r>
              <a:rPr lang="en-IN" sz="2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INTRODUCTION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just" defTabSz="914400">
              <a:lnSpc>
                <a:spcPct val="100000"/>
              </a:lnSpc>
              <a:spcBef>
                <a:spcPts val="519"/>
              </a:spcBef>
              <a:buClr>
                <a:srgbClr val="000000"/>
              </a:buClr>
              <a:buFont typeface="Arial"/>
              <a:buChar char="•"/>
            </a:pPr>
            <a:r>
              <a:rPr lang="en-IN" sz="2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PROBLEM STATEMENT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just" defTabSz="914400">
              <a:lnSpc>
                <a:spcPct val="100000"/>
              </a:lnSpc>
              <a:spcBef>
                <a:spcPts val="51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ABSTRACT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just" defTabSz="914400">
              <a:lnSpc>
                <a:spcPct val="100000"/>
              </a:lnSpc>
              <a:spcBef>
                <a:spcPts val="51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OVERALL DESIGN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just" defTabSz="914400">
              <a:lnSpc>
                <a:spcPct val="100000"/>
              </a:lnSpc>
              <a:spcBef>
                <a:spcPts val="51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MATERIALS AND METHODS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just" defTabSz="914400">
              <a:lnSpc>
                <a:spcPct val="100000"/>
              </a:lnSpc>
              <a:spcBef>
                <a:spcPts val="51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MODULE IMPLEMENTATION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just" defTabSz="914400">
              <a:lnSpc>
                <a:spcPct val="100000"/>
              </a:lnSpc>
              <a:spcBef>
                <a:spcPts val="51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EXPERIMENTAL RESULTS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just" defTabSz="914400">
              <a:lnSpc>
                <a:spcPct val="100000"/>
              </a:lnSpc>
              <a:spcBef>
                <a:spcPts val="51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PERFORMANCE EVALUATION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just" defTabSz="914400">
              <a:lnSpc>
                <a:spcPct val="100000"/>
              </a:lnSpc>
              <a:spcBef>
                <a:spcPts val="51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SCREENSHOT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just" defTabSz="914400">
              <a:lnSpc>
                <a:spcPct val="100000"/>
              </a:lnSpc>
              <a:spcBef>
                <a:spcPts val="51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REFERNCES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just" defTabSz="914400">
              <a:lnSpc>
                <a:spcPct val="100000"/>
              </a:lnSpc>
              <a:spcBef>
                <a:spcPts val="51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CONCLUSION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just" defTabSz="914400">
              <a:lnSpc>
                <a:spcPct val="100000"/>
              </a:lnSpc>
              <a:spcBef>
                <a:spcPts val="621"/>
              </a:spcBef>
              <a:buNone/>
              <a:tabLst>
                <a:tab algn="l" pos="0"/>
              </a:tabLst>
            </a:pPr>
            <a:endParaRPr lang="en-US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just" defTabSz="914400">
              <a:lnSpc>
                <a:spcPct val="100000"/>
              </a:lnSpc>
              <a:spcBef>
                <a:spcPts val="621"/>
              </a:spcBef>
              <a:buNone/>
              <a:tabLst>
                <a:tab algn="l" pos="0"/>
              </a:tabLst>
            </a:pPr>
            <a:endParaRPr lang="en-US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AD3811– PROJECT WORK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5570154C-A0FD-4FC1-BBC8-BB6BD5DF465E}" type="slidenum">
              <a:t>2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fld id="{7A575A68-14FD-4B8D-A594-4714824E86A3}" type="datetime1">
              <a:rPr lang="en-US"/>
              <a:t>04/09/2026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8880" cy="562680"/>
          </a:xfrm>
          <a:prstGeom prst="rect">
            <a:avLst/>
          </a:prstGeom>
          <a:solidFill>
            <a:srgbClr val="6535eb"/>
          </a:solidFill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IN" sz="3600" b="1" u="none" strike="noStrike">
                <a:solidFill>
                  <a:schemeClr val="lt1"/>
                </a:solidFill>
                <a:effectLst/>
                <a:uFillTx/>
                <a:latin typeface="Arial Black"/>
              </a:rPr>
              <a:t>INTRODUCTION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/>
          </p:nvPr>
        </p:nvSpPr>
        <p:spPr>
          <a:xfrm>
            <a:off x="457200" y="1219320"/>
            <a:ext cx="8228880" cy="4906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Professional platforms (LinkedIn, GitHub, X) serve structured data via internal GraphQL APIs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Direct API access is costly, restricted, and rate-limited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This project builds an automated system to extract publicly available professional data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Extended scope: GitHub candidate discovery via keyword search using Scraplin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AD3811– PROJECT WORK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EEC73C59-BFF4-401D-8792-723200906A24}" type="slidenum">
              <a:t>3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fld id="{D7E14CA5-90B7-4297-B555-4ACB2CB2E55D}" type="datetime1">
              <a:rPr lang="en-US"/>
              <a:t>04/09/2026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8880" cy="562680"/>
          </a:xfrm>
          <a:prstGeom prst="rect">
            <a:avLst/>
          </a:prstGeom>
          <a:solidFill>
            <a:srgbClr val="6535eb"/>
          </a:solidFill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IN" sz="3600" b="1" u="none" strike="noStrike">
                <a:solidFill>
                  <a:schemeClr val="lt1"/>
                </a:solidFill>
                <a:effectLst/>
                <a:uFillTx/>
                <a:latin typeface="Arial Black"/>
              </a:rPr>
              <a:t>PROBLEM STATEMENT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219320"/>
            <a:ext cx="8228880" cy="4906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No affordable access to professional profile data at scale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Official APIs: LinkedIn charges $0.30–$0.50/profile; X/Twitter $100–$42K/month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Manual collection: 5–10 minutes per profile, error-prone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Existing open-source tools are outdated and break with platform updates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Gap: No unified, transparent, multi-platform extraction solution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AD3811– PROJECT WORK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E6F56FE9-9078-4A0C-9F74-B0A62EC1682E}" type="slidenum">
              <a:t>4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fld id="{F94D679F-3BFF-4F2C-BFE8-FBD1C30517A5}" type="datetime1">
              <a:rPr lang="en-US"/>
              <a:t>04/09/2026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8880" cy="562680"/>
          </a:xfrm>
          <a:prstGeom prst="rect">
            <a:avLst/>
          </a:prstGeom>
          <a:solidFill>
            <a:srgbClr val="6535eb"/>
          </a:solidFill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1" u="none" strike="noStrike">
                <a:solidFill>
                  <a:schemeClr val="lt1"/>
                </a:solidFill>
                <a:effectLst/>
                <a:uFillTx/>
                <a:latin typeface="Arial Black"/>
              </a:rPr>
              <a:t>ABSTRACT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/>
          </p:nvPr>
        </p:nvSpPr>
        <p:spPr>
          <a:xfrm>
            <a:off x="457200" y="1219320"/>
            <a:ext cx="8228880" cy="4906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5000" lnSpcReduction="19999"/>
          </a:bodyPr>
          <a:p>
            <a:pPr marL="343080" indent="-3430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This system reverse-engineers internal GraphQL APIs of LinkedIn and GitHub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Uses Playwright for browser automation and session management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Scrapling is used for lightweight, fast HTML parsing on GitHub search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Extracts profile data, posts, activity, and media in structured formats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Output: JSON, CSV, PDF — ready for recruitment analytics and research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AD3811– PROJECT WORK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6192A158-30C1-473D-933F-F59741516476}" type="slidenum">
              <a:t>5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fld id="{04CF8FC0-FF4C-4F7C-89B4-7E541DB6A408}" type="datetime1">
              <a:rPr lang="en-US"/>
              <a:t>04/09/2026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8880" cy="562680"/>
          </a:xfrm>
          <a:prstGeom prst="rect">
            <a:avLst/>
          </a:prstGeom>
          <a:solidFill>
            <a:srgbClr val="6535eb"/>
          </a:solidFill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IN" sz="3600" b="1" u="none" strike="noStrike">
                <a:solidFill>
                  <a:schemeClr val="lt1"/>
                </a:solidFill>
                <a:effectLst/>
                <a:uFillTx/>
                <a:latin typeface="Arial Black"/>
              </a:rPr>
              <a:t>PROPOSED WORK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219320"/>
            <a:ext cx="8228880" cy="4906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Module 1: Authentication &amp; Session Management (Playwright + cookie reuse)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Module 2: LinkedIn Profile Extractor (Voyager GraphQL API)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Module 3: LinkedIn Activity Fetcher (posts, comments, media)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Module 4: GitHub Candidate Search (keyword-based, powered by Scrapling)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Module 5: Data Export Engine (JSON → PDF / CSV)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AD3811– PROJECT WORK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8BC230BE-0836-4C95-B40B-071E81257FB2}" type="slidenum">
              <a:t>6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fld id="{CF8CB718-535E-499E-8B59-2ECDAAA675E8}" type="datetime1">
              <a:rPr lang="en-US"/>
              <a:t>04/09/2026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itle 1"/>
          <p:cNvSpPr/>
          <p:nvPr/>
        </p:nvSpPr>
        <p:spPr>
          <a:xfrm>
            <a:off x="493920" y="274680"/>
            <a:ext cx="8381160" cy="913680"/>
          </a:xfrm>
          <a:prstGeom prst="rect">
            <a:avLst/>
          </a:prstGeom>
          <a:solidFill>
            <a:srgbClr val="6c3e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2800" b="1" u="none" strike="noStrike">
                <a:solidFill>
                  <a:schemeClr val="lt1"/>
                </a:solidFill>
                <a:effectLst/>
                <a:uFillTx/>
                <a:latin typeface="Arial Black"/>
              </a:rPr>
              <a:t>ARCHITECTURE DIAGRAM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3" name=""/>
          <p:cNvPicPr/>
          <p:nvPr/>
        </p:nvPicPr>
        <p:blipFill>
          <a:blip r:embed="rId1"/>
          <a:stretch/>
        </p:blipFill>
        <p:spPr>
          <a:xfrm>
            <a:off x="2567520" y="1371600"/>
            <a:ext cx="3375720" cy="4974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AD3811– PROJECT WORK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9C76219B-2AAB-4C1E-8803-BE609028C524}" type="slidenum">
              <a:t>7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2"/>
          </p:nvPr>
        </p:nvSpPr>
        <p:spPr/>
        <p:txBody>
          <a:bodyPr/>
          <a:p>
            <a:fld id="{B11E6D94-1511-474D-AB61-957C158624E7}" type="datetime1">
              <a:rPr lang="en-US"/>
              <a:t>04/09/2026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609480" y="136440"/>
            <a:ext cx="8076600" cy="715320"/>
          </a:xfrm>
          <a:prstGeom prst="rect">
            <a:avLst/>
          </a:prstGeom>
          <a:solidFill>
            <a:srgbClr val="6c3eec"/>
          </a:solidFill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1" u="none" strike="noStrike">
                <a:solidFill>
                  <a:schemeClr val="lt1"/>
                </a:solidFill>
                <a:effectLst/>
                <a:uFillTx/>
                <a:latin typeface="Times New Roman"/>
              </a:rPr>
              <a:t> </a:t>
            </a:r>
            <a:r>
              <a:rPr lang="en-US" sz="3600" b="1" u="none" strike="noStrike">
                <a:solidFill>
                  <a:schemeClr val="lt1"/>
                </a:solidFill>
                <a:effectLst/>
                <a:uFillTx/>
                <a:latin typeface="Arial Black"/>
              </a:rPr>
              <a:t>ER DIAGRAM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5" name=""/>
          <p:cNvPicPr/>
          <p:nvPr/>
        </p:nvPicPr>
        <p:blipFill>
          <a:blip r:embed="rId1"/>
          <a:stretch/>
        </p:blipFill>
        <p:spPr>
          <a:xfrm>
            <a:off x="1828800" y="951840"/>
            <a:ext cx="5943240" cy="5220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AD3811– PROJECT WORK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95B40790-D051-4355-BF5A-CC764823255D}" type="slidenum">
              <a:t>8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2"/>
          </p:nvPr>
        </p:nvSpPr>
        <p:spPr/>
        <p:txBody>
          <a:bodyPr/>
          <a:p>
            <a:fld id="{E9B45232-49B8-42FC-80B3-5F7BC3DA4088}" type="datetime1">
              <a:rPr lang="en-US"/>
              <a:t>04/09/2026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457200" y="321120"/>
            <a:ext cx="8076600" cy="639000"/>
          </a:xfrm>
          <a:prstGeom prst="rect">
            <a:avLst/>
          </a:prstGeom>
          <a:solidFill>
            <a:srgbClr val="6c3eec"/>
          </a:solidFill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1" u="none" strike="noStrike">
                <a:solidFill>
                  <a:schemeClr val="lt1"/>
                </a:solidFill>
                <a:effectLst/>
                <a:uFillTx/>
                <a:latin typeface="Times New Roman"/>
              </a:rPr>
              <a:t> </a:t>
            </a:r>
            <a:r>
              <a:rPr lang="en-US" sz="3600" b="1" u="none" strike="noStrike">
                <a:solidFill>
                  <a:schemeClr val="lt1"/>
                </a:solidFill>
                <a:effectLst/>
                <a:uFillTx/>
                <a:latin typeface="Arial Black"/>
              </a:rPr>
              <a:t>ALGORITHMS &amp; TECHNIQUES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87" name=""/>
          <p:cNvGraphicFramePr/>
          <p:nvPr/>
        </p:nvGraphicFramePr>
        <p:xfrm>
          <a:off x="457200" y="1371600"/>
          <a:ext cx="8265240" cy="4600440"/>
        </p:xfrm>
        <a:graphic>
          <a:graphicData uri="http://schemas.openxmlformats.org/drawingml/2006/table">
            <a:tbl>
              <a:tblPr/>
              <a:tblGrid>
                <a:gridCol w="4102560"/>
                <a:gridCol w="4163040"/>
              </a:tblGrid>
              <a:tr h="57672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Technique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Purpose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7672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GraphQL Query Reverse Engineering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Extract LinkedIn Voyager API structure from browser traffic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7672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Playwright Browser Automation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Login, cookie capture, headless browsing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7672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Scrapling HTML Parsing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Fast, lightweight GitHub search result extraction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7672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Session Cookie Reuse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Avoid repeated logins; persist authenticated state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7672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Rate Limiting &amp; Backoff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Prevent detection; respect platform limits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82152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JSON Schema Normalization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Unify data structure across LinkedIn and GitHub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" name="PlaceHolder 2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AD3811– PROJECT WORK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FA8A392F-45DB-4E69-A7D4-5D038B996683}" type="slidenum">
              <a:t>9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2"/>
          </p:nvPr>
        </p:nvSpPr>
        <p:spPr/>
        <p:txBody>
          <a:bodyPr/>
          <a:p>
            <a:fld id="{40D5DD2F-58C1-497F-A26A-FBDC8A75F89C}" type="datetime1">
              <a:rPr lang="en-US"/>
              <a:t>04/09/2026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8880" cy="562680"/>
          </a:xfrm>
          <a:prstGeom prst="rect">
            <a:avLst/>
          </a:prstGeom>
          <a:solidFill>
            <a:srgbClr val="6535eb"/>
          </a:solidFill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1" u="none" strike="noStrike">
                <a:solidFill>
                  <a:schemeClr val="lt1"/>
                </a:solidFill>
                <a:effectLst/>
                <a:uFillTx/>
                <a:latin typeface="Arial Black"/>
              </a:rPr>
              <a:t>EXPECTED OUTCOME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/>
          </p:nvPr>
        </p:nvSpPr>
        <p:spPr>
          <a:xfrm>
            <a:off x="457200" y="1219320"/>
            <a:ext cx="8228880" cy="4906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Multi-platform pipeline: LinkedIn profiles + GitHub candidates from one system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Keyword-based GitHub search returns name, bio, top repos, location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LinkedIn extractor returns full profile: experience, education, skills, posts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Reusable session management — authenticate once, run multiple queries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Clean exports: structured JSON, tabular CSV, downloadable PDFs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AD3811– PROJECT WORK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9C7942B8-DFEC-48B2-9885-F2A498479013}" type="slidenum">
              <a:t>10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fld id="{519A7249-731B-439E-AEAD-F757CCBF9160}" type="datetime1">
              <a:rPr lang="en-US"/>
              <a:t>04/09/2026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Tool: Playwright (Python)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Flow: Launch browser → Navigate to platform → Login → Extract cookies → Save session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Cookie storage: JSON file, reloaded on next run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Handles: LinkedIn and GitHub session separately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Fallback: Re-authenticate if session expires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 type="title"/>
          </p:nvPr>
        </p:nvSpPr>
        <p:spPr>
          <a:xfrm>
            <a:off x="457200" y="274680"/>
            <a:ext cx="8305200" cy="1094760"/>
          </a:xfrm>
          <a:prstGeom prst="rect">
            <a:avLst/>
          </a:prstGeom>
          <a:solidFill>
            <a:srgbClr val="6c3eec"/>
          </a:solidFill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1" u="none" strike="noStrike">
                <a:solidFill>
                  <a:schemeClr val="lt1"/>
                </a:solidFill>
                <a:effectLst/>
                <a:uFillTx/>
                <a:latin typeface="Times New Roman"/>
              </a:rPr>
              <a:t> </a:t>
            </a:r>
            <a:r>
              <a:rPr lang="en-US" sz="3600" b="1" u="none" strike="noStrike">
                <a:solidFill>
                  <a:schemeClr val="lt1"/>
                </a:solidFill>
                <a:effectLst/>
                <a:uFillTx/>
                <a:latin typeface="Arial Black"/>
              </a:rPr>
              <a:t>IMPLEMENTATION OF 1</a:t>
            </a:r>
            <a:r>
              <a:rPr lang="en-US" sz="3600" b="1" u="none" strike="noStrike" baseline="30000">
                <a:solidFill>
                  <a:schemeClr val="lt1"/>
                </a:solidFill>
                <a:effectLst/>
                <a:uFillTx/>
                <a:latin typeface="Arial Black"/>
              </a:rPr>
              <a:t>ST</a:t>
            </a:r>
            <a:r>
              <a:rPr lang="en-US" sz="3600" b="1" u="none" strike="noStrike">
                <a:solidFill>
                  <a:schemeClr val="lt1"/>
                </a:solidFill>
                <a:effectLst/>
                <a:uFillTx/>
                <a:latin typeface="Arial Black"/>
              </a:rPr>
              <a:t> MODULE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AD3811– PROJECT WORK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4ABC377C-AA28-4D74-B971-ED27828C240B}" type="slidenum">
              <a:t>11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fld id="{E11F3D44-FBAB-48F2-ADB2-F9570A6BC014}" type="datetime1">
              <a:rPr lang="en-US"/>
              <a:t>04/09/2026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"/>
          <p:cNvPicPr/>
          <p:nvPr/>
        </p:nvPicPr>
        <p:blipFill>
          <a:blip r:embed="rId1"/>
          <a:stretch/>
        </p:blipFill>
        <p:spPr>
          <a:xfrm>
            <a:off x="1143000" y="914400"/>
            <a:ext cx="6400440" cy="2514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7543440" cy="410760"/>
          </a:xfrm>
          <a:prstGeom prst="rect">
            <a:avLst/>
          </a:prstGeom>
          <a:solidFill>
            <a:srgbClr val="6c3eec"/>
          </a:solidFill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1" u="none" strike="noStrike">
                <a:solidFill>
                  <a:schemeClr val="lt1"/>
                </a:solidFill>
                <a:effectLst/>
                <a:uFillTx/>
                <a:latin typeface="Arial Black"/>
              </a:rPr>
              <a:t>IMPLEMENTATION(30% CODE)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4" name=""/>
          <p:cNvPicPr/>
          <p:nvPr/>
        </p:nvPicPr>
        <p:blipFill>
          <a:blip r:embed="rId2"/>
          <a:stretch/>
        </p:blipFill>
        <p:spPr>
          <a:xfrm>
            <a:off x="1143000" y="3657600"/>
            <a:ext cx="6400440" cy="2404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AD3811– PROJECT WORK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4AC38B66-6E16-48FC-8F72-A40A4F03B742}" type="slidenum">
              <a:t>12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2"/>
          </p:nvPr>
        </p:nvSpPr>
        <p:spPr/>
        <p:txBody>
          <a:bodyPr/>
          <a:p>
            <a:fld id="{4E6735F8-ABCF-447E-B355-CDC620FAA327}" type="datetime1">
              <a:rPr lang="en-US"/>
              <a:t>04/09/2026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8880" cy="562680"/>
          </a:xfrm>
          <a:prstGeom prst="rect">
            <a:avLst/>
          </a:prstGeom>
          <a:solidFill>
            <a:srgbClr val="6c3eec"/>
          </a:solidFill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1" u="none" strike="noStrike">
                <a:solidFill>
                  <a:schemeClr val="lt1"/>
                </a:solidFill>
                <a:effectLst/>
                <a:uFillTx/>
                <a:latin typeface="Arial Black"/>
              </a:rPr>
              <a:t>REFERENCES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24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[1] LINKSOCIAL: Linking User Profiles Across Multiple Social Media Platforms.Vishal Sharma, Curtis E. Dyreson </a:t>
            </a:r>
            <a:br>
              <a:rPr sz="1600"/>
            </a:br>
            <a:r>
              <a:rPr lang="en-US" sz="1600" b="0" u="sng" strike="noStrike">
                <a:solidFill>
                  <a:schemeClr val="dk1"/>
                </a:solidFill>
                <a:effectLst/>
                <a:uFillTx/>
                <a:latin typeface="Calibri"/>
                <a:hlinkClick r:id="rId1"/>
              </a:rPr>
              <a:t>https://ieeexplore.ieee.org/document/8588801/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24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2] Hartig, O., Pérez, J. (2018). "Semantics and Complexity of GraphQL."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   Proceedings of the 2018 World Wide Web Conference, pp. 1155-1164.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  DOI: 10.1145/3178876.3186014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24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[3] Vogel, M., Weber, S., Zirpins, C. (2017). "Experiences on Migrating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 RESTful Web Services to GraphQL." International Conference on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   Service-Oriented Computing (ICSOC), pp. 283-295.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   DOI: 10.1007/978-3-319-69035-3_20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24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[4] Wittern, E., Cha, A., Davis, J.C., Baudart, G., Mandel, L. (2019).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   "An Empirical Study of GraphQL Schemas."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   IEEE International Conference on Service-Oriented System Engineering,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   pp. 3-13. DOI: 10.1109/SOSE.2019.00011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24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[5] GitHub GraphQL API v4 Documentation (2024).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   Official Documentation. URL: https://docs.github.com/en/graphql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   Accessed: February 2026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AD3811– PROJECT WORK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A55E5DD8-041A-4A94-82D4-F63AC691AA85}" type="slidenum">
              <a:t>13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fld id="{8EB1AF93-25E6-457A-9A3E-92BBA679E3C7}" type="datetime1">
              <a:rPr lang="en-US"/>
              <a:t>04/09/2026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algn="ctr" defTabSz="914400">
              <a:lnSpc>
                <a:spcPct val="100000"/>
              </a:lnSpc>
              <a:spcBef>
                <a:spcPts val="1321"/>
              </a:spcBef>
              <a:buNone/>
              <a:tabLst>
                <a:tab algn="l" pos="0"/>
              </a:tabLst>
            </a:pPr>
            <a:endParaRPr lang="en-US" sz="6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 defTabSz="914400">
              <a:lnSpc>
                <a:spcPct val="100000"/>
              </a:lnSpc>
              <a:spcBef>
                <a:spcPts val="1321"/>
              </a:spcBef>
              <a:buNone/>
              <a:tabLst>
                <a:tab algn="l" pos="0"/>
              </a:tabLst>
            </a:pPr>
            <a:r>
              <a:rPr lang="en-US" sz="6600" b="1" u="none" strike="noStrike">
                <a:solidFill>
                  <a:srgbClr val="6c3eec"/>
                </a:solidFill>
                <a:effectLst/>
                <a:uFillTx/>
                <a:latin typeface="Times New Roman"/>
              </a:rPr>
              <a:t>THANK YOU</a:t>
            </a:r>
            <a:endParaRPr lang="en-US" sz="6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AD3811– PROJECT WORK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A185A52D-7D54-47ED-ACFC-4BEB58BC9638}" type="slidenum">
              <a:t>14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2"/>
          </p:nvPr>
        </p:nvSpPr>
        <p:spPr/>
        <p:txBody>
          <a:bodyPr/>
          <a:p>
            <a:fld id="{A32A767B-D939-414D-95EC-3E8EA5DBBEB1}" type="datetime1">
              <a:rPr lang="en-US"/>
              <a:t>04/09/2026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567</TotalTime>
  <Application>LibreOffice/25.8.6.2$Linux_X86_64 LibreOffice_project/a46b460d1686bb49c718d2ef5f88b83ff2dc4981</Application>
  <AppVersion>15.0000</AppVersion>
  <Words>243</Words>
  <Paragraphs>83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2019-04-01T09:28:24Z</dcterms:created>
  <dc:creator>user</dc:creator>
  <dc:description/>
  <dc:language>en-US</dc:language>
  <cp:lastModifiedBy/>
  <dcterms:modified xsi:type="dcterms:W3CDTF">2026-04-09T17:36:15Z</dcterms:modified>
  <cp:revision>83</cp:revision>
  <dc:subject/>
  <dc:title>Slide 1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</vt:i4>
  </property>
  <property fmtid="{D5CDD505-2E9C-101B-9397-08002B2CF9AE}" pid="3" name="PresentationFormat">
    <vt:lpwstr>On-screen Show (4:3)</vt:lpwstr>
  </property>
  <property fmtid="{D5CDD505-2E9C-101B-9397-08002B2CF9AE}" pid="4" name="Slides">
    <vt:i4>14</vt:i4>
  </property>
</Properties>
</file>