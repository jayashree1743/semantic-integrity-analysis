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63" r:id="rId6"/>
    <p:sldMasterId id="2147483665" r:id="rId7"/>
    <p:sldMasterId id="2147483667" r:id="rId8"/>
    <p:sldMasterId id="2147483669" r:id="rId9"/>
    <p:sldMasterId id="2147483671" r:id="rId10"/>
    <p:sldMasterId id="2147483673" r:id="rId11"/>
    <p:sldMasterId id="2147483675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2A5631-D171-4F06-8794-8B56C9A0CF8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6F8388-2F63-4F63-A9AD-B63C0217B2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668CEC-2037-429B-9BE6-C88A61A602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009639-D8FE-43EB-8FAF-A0296D149D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540560" y="274680"/>
            <a:ext cx="114480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85320"/>
            <a:ext cx="6400080" cy="60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769854F-2542-4DE1-AF49-3363B35199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144B29D-8D06-4E9C-83CE-CD4901879C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625BF0-A786-4A47-AC06-D69412C9A4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760F187-2729-4FB1-8118-998B8D4D65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540560" y="274680"/>
            <a:ext cx="114480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85320"/>
            <a:ext cx="6400080" cy="60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E6E76E4-98C2-4AEC-962C-85A765FCFD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89719ED-059B-4F83-9D58-570E28F6EF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3DDACF4-DF04-4BBE-8683-A2E586583E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637242D-759D-447C-B21C-E440157830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933D662-6858-4402-8199-FF2A1A6407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816DCF4-97E6-484F-8172-FBC8121A18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122C915-7138-419F-86A8-A118E5DA07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7699A79-F5AA-4BC6-ACAE-6CA9E51ABC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6DE40FD-7EF6-4A0E-91F2-AD8B3F25BC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5D48831-ED23-4541-9AEB-FB42B59044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D92F658-4642-4C30-A8DC-FCF7B3EC88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A6345D6-AFAC-4343-8B84-AF35CFA981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2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3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5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6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7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AD3811– PROJECT 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064C12-E831-4ED6-BC9C-F6165679E4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04/09/2026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23FCFC-325A-45A9-BDA8-89A79FD308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3B3529-2D29-4417-B5A0-18AE4DD5D3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0999C2-90B7-4159-924F-8973DCB66F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5B2700-9C86-46BB-971C-86CE388073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47CBA9-EAD6-4F0A-87E2-C798048060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70594E-F608-4411-8134-BA3C595D8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7D831F-4E20-4012-A12C-B3EA97597E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7C5F8C-7A83-4321-B9E6-D217725C4D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FCBC2F-106B-4305-8DAD-BC4D987560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F7ABF8-DE04-41F8-B836-A97F73C162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ieeexplore.ieee.org/document/8588801/" TargetMode="External"/><Relationship Id="rId2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91560" y="1669680"/>
            <a:ext cx="7771680" cy="8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2600"/>
            </a:br>
            <a:r>
              <a:rPr lang="en-US" sz="2600" b="1" u="none" strike="noStrike">
                <a:solidFill>
                  <a:srgbClr val="7030a0"/>
                </a:solidFill>
                <a:effectLst/>
                <a:uFillTx/>
                <a:latin typeface="Arial Black"/>
                <a:ea typeface="Calibri"/>
              </a:rPr>
              <a:t>Department of Computer Science and  Engineering</a:t>
            </a:r>
            <a:br>
              <a:rPr sz="2200"/>
            </a:br>
            <a:br>
              <a:rPr sz="2200"/>
            </a:br>
            <a:br>
              <a:rPr sz="2600"/>
            </a:b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itle 1"/>
          <p:cNvSpPr/>
          <p:nvPr/>
        </p:nvSpPr>
        <p:spPr>
          <a:xfrm>
            <a:off x="457200" y="458280"/>
            <a:ext cx="8381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7030a0"/>
                </a:solidFill>
                <a:effectLst/>
                <a:uFillTx/>
                <a:latin typeface="Arial Rounded MT Bold"/>
                <a:ea typeface="Calibri"/>
              </a:rPr>
              <a:t>ANNA UNIVERSITY REGIONAL CAMPUS COIMBATORE</a:t>
            </a:r>
            <a:br>
              <a:rPr sz="1400"/>
            </a:b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23960" y="2514600"/>
            <a:ext cx="784800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AD3811 &amp; PROJECT 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THIRD REVIEW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Title of the project 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Reverse Engineering of Voyager-Based GraphQL APIs for Automated Professional Profile Data Extraction</a:t>
            </a:r>
            <a:br>
              <a:rPr sz="2000"/>
            </a:br>
            <a:br>
              <a:rPr sz="2000"/>
            </a:br>
            <a:r>
              <a:rPr lang="en-US" sz="2000" b="1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Date :</a:t>
            </a:r>
            <a:r>
              <a:rPr lang="en-US" sz="2000" b="0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 10.04.2026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8"/>
          <p:cNvGraphicFramePr/>
          <p:nvPr/>
        </p:nvGraphicFramePr>
        <p:xfrm>
          <a:off x="1144080" y="4724280"/>
          <a:ext cx="7162200" cy="1829520"/>
        </p:xfrm>
        <a:graphic>
          <a:graphicData uri="http://schemas.openxmlformats.org/drawingml/2006/table">
            <a:tbl>
              <a:tblPr/>
              <a:tblGrid>
                <a:gridCol w="3581280"/>
                <a:gridCol w="3581280"/>
              </a:tblGrid>
              <a:tr h="533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Project Guide Name/Designation: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/ Desn. / CSE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Dr.P.Marikkannu AP/CSE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17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and Regn. Number of Students: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(Regn. No.)</a:t>
                      </a:r>
                      <a:br>
                        <a:rPr sz="1800"/>
                      </a:b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S.Sidharthan (710022243043)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AGENDA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880" cy="52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 STATEMENT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ABSTRACT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OVERALL DESIGN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MATERIALS AND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 IMPLEMENTATION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EXPERIMENTAL 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PERFORMANCE EVALUATION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SCREENSHOT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REFERNCES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E37D8C6-9819-4710-9860-76DC02D26037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4764C7AC-0874-427A-BE32-B666177879A1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INTRODUCTION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Professional platforms (LinkedIn, GitHub, X) serve structured data via internal GraphQL APIs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Direct API access is costly, restricted, and rate-limited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project builds an automated system to extract publicly available professional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Extended scope: GitHub candidate discovery via keyword search using Scraplin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869F564-32B5-4A23-A050-0C6C8F8B19BA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0629AFD3-372B-4D04-9044-7527036B5509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PROBLEM STATEMENT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affordable access to professional profile data at scale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Official APIs: LinkedIn charges $0.30–$0.50/profile; X/Twitter $100–$42K/month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Manual collection: 5–10 minutes per profile, error-prone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Existing open-source tools are outdated and break with platform updates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Gap: No unified, transparent, multi-platform extraction solution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7F4C0BB-E00B-4513-A50C-B89A8635CF61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932A54E2-99DE-45D0-86D9-8D0AE72CE9E3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ABSTRACT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system reverse-engineers internal GraphQL APIs of LinkedIn and GitHub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Uses Playwright for browser automation and session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Scrapling is used for lightweight, fast HTML parsing on GitHub search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Extracts profile data, posts, activity, and media in structured formats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Output: JSON, CSV, PDF — ready for recruitment analytics and research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601BDB6-B3A2-46BD-A9D9-F27D1B11F3C8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5B5BE08-E3F2-492D-A05F-5895D6C377BD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OVERALL DESIGN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880" cy="52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 &amp; Workflow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Goal: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Reproduce and extend the LINKSOCIAL user-profile-linkage pipeline using public profile metadata across Google+, Instagram, and Twitter.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Pipeline: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-Data Ingestion: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Parse raw dataset JSON into standardized, canonical profiles.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-Candidate Pruning: 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 candidate pairs efficiently using bigram Jaccard similarity.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-Feature Extraction: 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Extract classical algorithms, lexical modern matchers, and deep semantic embeddings.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-Ranking Models: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Score and classify pairs using multiple supervised rankers (SGD, LogReg, Random Forest, GBDT).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-Evaluation: 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Assess linkage on pairwise boundaries and multi-platform anchors.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-Interactive Demo: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FastAPI frontend for interactive analyst review and validation.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49B7C64-5386-46C3-85AC-A4A58B8157B1}" type="slidenum">
              <a:t>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06B12D26-BC1E-4671-AE2A-5940BA7CB0ED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/>
          <p:nvPr/>
        </p:nvSpPr>
        <p:spPr>
          <a:xfrm>
            <a:off x="304920" y="720"/>
            <a:ext cx="8381880" cy="6850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MATERIALS AND METHODS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28600" y="685800"/>
            <a:ext cx="8458200" cy="64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Dataset &amp; Technological Stack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Dataset: 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Public LinkSocial benchmark dataset containing identity groups split by platform co-occurrence (single, pair, and three-platform groups).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Inputs Used: 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Public metadata including username, full name, and bio/description.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Technology Stack: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                                                 -Backend: 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Python &gt;= 3.12, FastAPI.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                                                  -ML Stack: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 Scikit-Learn (Classical ML), sentence-transformers                                                                       (BAAI/bge-small-en-v1.5) for GPU-backed semantic embeddings.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Dependency Management: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 uv.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Methodology Constraints: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                                                  -60/40 train-test split to follow original paper evaluation protocols.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                                                   -Focused strictly on profile-only features (no image or graph                                         processing) to keep the baseline comparison fair given the public data limitations.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ai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B1FCB40-3EF0-43F8-B055-C306A83C7FCF}" type="slidenum">
              <a:t>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055A4359-46F6-482E-BFB4-8068A6EE14A3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136440"/>
            <a:ext cx="8076600" cy="715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MODULE IMPLEMENTATION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85800" y="1143000"/>
            <a:ext cx="8001000" cy="56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Components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Canonical Profile Loader: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Standardizes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varying raw data schemas into a unified,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clean profiles.jsonl data 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Pool Generator: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Uses bigram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Jaccard pruning to aggressively filter down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search space to 20-40 viable candidate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links per anchor profile.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Extractors: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Classical: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Additive and similarity-based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baseline features matching the 2018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methodology.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Lexical Modern: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Enhanced character/word-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level string matching using modern tools.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Semantic Embedding: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High-dimensional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textual similarity metrics with cached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inferences.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UI Frontend: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lightweight,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monochrome REST dashboard displaying a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linkage graph, an evidence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inspector for feature/model scores, and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experiment result tables.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59118DE-FE65-4929-A4EE-5C0248A48CCB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4BE52577-FCAA-47FB-9E23-ED7B8D21B455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81600" y="0"/>
            <a:ext cx="8076600" cy="63900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EXPERIMENTAL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RESULTS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57200" y="717480"/>
            <a:ext cx="8001000" cy="617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Pairwise Linkage Accuracies (Top-1)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Google+ to Instagram: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1)Unsupervised Baseline: 54.00%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2)Classical LINKSOCIAL (Random Forest): 84.49%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3)Semantic Hybrid GBDT (Ours): 88.20%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Google+ to Twitter: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1) Unsupervised Baseline: 54.89%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2)Classical LINKSOCIAL (Random Forest): 80.48%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3)Semantic Hybrid GBDT (Ours): 84.96%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Instagram to Twitter: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1)Unsupervised Baseline: 78.96%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2)Classical LINKSOCIAL (Random Forest): 91.46%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3)Semantic Hybrid GBDT (Ours): 92.51%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4AD9354-ACC8-4805-B6AF-E480D7C148C5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74E0911-CA4B-432E-B23E-14BA94DCEF84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PERFORMANCE EVALUATION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7200" y="914400"/>
            <a:ext cx="800100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Multi-Platform Linkage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Compared aggregated performance anchors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across all three platforms combined: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-Unsupervised Baseline: 61.09% mean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-LINKSOCIAL SGD/LogReg: ~74% mean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-LINKSOCIAL Random Forest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(RF): 83.51% mean accuracy.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-Semantic Hybrid GBDT (Ours): 85.38%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 accuracy.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Analysis: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Adding deep semantic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embeddings to the classical and lexical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set significantly outperforms both the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raw unsupervised baseline and the original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2018 LINKSOCIAL models. Notably, the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original Random Forest approach still holds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 surprisingly well as a strong foundation.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CAFF827-9C9F-44BC-9B38-B60FDDB2B9FA}" type="slidenum">
              <a:t>10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48B98107-E838-465F-B4FC-00634B16AD50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001000" cy="4111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SCREENSHOT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457200" y="685800"/>
            <a:ext cx="7772400" cy="279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457200" y="3481560"/>
            <a:ext cx="7772400" cy="30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7EF1ED8-C2E0-4AE3-8916-F16366A49561}" type="slidenum">
              <a:t>11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F7478A68-7ED0-4C9D-99CF-32F5D330D08E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2"/>
          <a:stretch/>
        </p:blipFill>
        <p:spPr>
          <a:xfrm>
            <a:off x="914400" y="0"/>
            <a:ext cx="7772400" cy="352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/>
          <p:cNvPicPr/>
          <p:nvPr/>
        </p:nvPicPr>
        <p:blipFill>
          <a:blip r:embed="rId3"/>
          <a:stretch/>
        </p:blipFill>
        <p:spPr>
          <a:xfrm>
            <a:off x="948240" y="3429000"/>
            <a:ext cx="7737840" cy="337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086C5D7-9AE2-4C51-A4F8-CEAEB8B93B2B}" type="slidenum">
              <a:t>12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2F86E9FB-A2E2-4818-BBED-4AACB172CDD6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/>
          <p:cNvPicPr/>
          <p:nvPr/>
        </p:nvPicPr>
        <p:blipFill>
          <a:blip r:embed="rId2"/>
          <a:stretch/>
        </p:blipFill>
        <p:spPr>
          <a:xfrm>
            <a:off x="457200" y="0"/>
            <a:ext cx="8228880" cy="32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/>
          <p:cNvPicPr/>
          <p:nvPr/>
        </p:nvPicPr>
        <p:blipFill>
          <a:blip r:embed="rId3"/>
          <a:stretch/>
        </p:blipFill>
        <p:spPr>
          <a:xfrm>
            <a:off x="685800" y="3492720"/>
            <a:ext cx="1371600" cy="258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4"/>
          <a:stretch/>
        </p:blipFill>
        <p:spPr>
          <a:xfrm>
            <a:off x="2286000" y="3374640"/>
            <a:ext cx="2535120" cy="25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5"/>
          <a:stretch/>
        </p:blipFill>
        <p:spPr>
          <a:xfrm>
            <a:off x="4964760" y="3429000"/>
            <a:ext cx="325152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793B5F5-7DA4-41D8-A24D-0A7AE89045D1}" type="slidenum">
              <a:t>13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D6ABFE61-12BA-43D5-81B5-6EBB077E397C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REFERENCES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[1] LINKSOCIAL: Linking User Profiles Across Multiple Social Media Platforms.Vishal Sharma, Curtis E. Dyreson </a:t>
            </a:r>
            <a:br>
              <a:rPr sz="1600"/>
            </a:br>
            <a:r>
              <a:rPr lang="en-US" sz="16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https://ieeexplore.ieee.org/document/8588801/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2] Hartig, O., Pérez, J. (2018). "Semantics and Complexity of GraphQL."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Proceedings of the 2018 World Wide Web Conference, pp. 1155-1164.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DOI: 10.1145/3178876.3186014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[3] Vogel, M., Weber, S., Zirpins, C. (2017). "Experiences on Migrating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RESTful Web Services to GraphQL." International Conference on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Service-Oriented Computing (ICSOC), pp. 283-295.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DOI: 10.1007/978-3-319-69035-3_20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[4] Wittern, E., Cha, A., Davis, J.C., Baudart, G., Mandel, L. (2019).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"An Empirical Study of GraphQL Schemas."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IEEE International Conference on Service-Oriented System Engineering,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pp. 3-13. DOI: 10.1109/SOSE.2019.00011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[5] GitHub GraphQL API v4 Documentation (2024).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Official Documentation. URL: https://docs.github.com/en/graphql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Accessed: February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0487A1F-598B-41F6-9378-3FE778DCCE8D}" type="slidenum">
              <a:t>14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E44A8DC5-6F60-4EF9-A1D0-AD5AAF2C34E3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543440" cy="41076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CONCLUSION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57200" y="914400"/>
            <a:ext cx="8001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Successes: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Successfully reproduced the 2018 user-profile linkage pipeline and robustly improved upon it. The combination of classical features and modern semantic embeddings proved highly effective for cross-platform linking without needing network interaction graphs.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Practical Finding: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The strongest profile-only approach does not replace the traditional LINKSOCIAL algorithm entirely, but rather extends it with modern continuous text representations.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EC5A247-3DA3-4A92-9430-AAB9BDF5A1AA}" type="slidenum">
              <a:t>15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4DA18610-BF68-477C-B4E7-1D5A0618AA6A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r>
              <a:rPr lang="en-US" sz="6600" b="1" u="none" strike="noStrike">
                <a:solidFill>
                  <a:srgbClr val="6c3eec"/>
                </a:solidFill>
                <a:effectLst/>
                <a:uFillTx/>
                <a:latin typeface="Times New Roman"/>
              </a:rPr>
              <a:t>THANK YOU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2AEE8EE-883C-4701-9B41-A0A0313B2AF7}" type="slidenum">
              <a:t>16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51A1E50-EC56-4057-9678-86C2C97B7B59}" type="datetime1">
              <a:rPr lang="en-US"/>
              <a:t>04/09/2026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Application>LibreOffice/25.8.6.2$Linux_X86_64 LibreOffice_project/a46b460d1686bb49c718d2ef5f88b83ff2dc4981</Application>
  <AppVersion>15.0000</AppVersion>
  <Words>243</Words>
  <Paragraphs>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2019-04-01T09:28:24Z</dcterms:created>
  <dc:creator>user</dc:creator>
  <dc:description/>
  <dc:language>en-US</dc:language>
  <cp:lastModifiedBy/>
  <dcterms:modified xsi:type="dcterms:W3CDTF">2026-04-09T18:57:53Z</dcterms:modified>
  <cp:revision>85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14</vt:i4>
  </property>
</Properties>
</file>