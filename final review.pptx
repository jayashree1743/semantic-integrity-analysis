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74" r:id="rId7"/>
    <p:sldId id="275" r:id="rId8"/>
    <p:sldId id="273" r:id="rId9"/>
    <p:sldId id="290" r:id="rId10"/>
    <p:sldId id="296" r:id="rId11"/>
    <p:sldId id="297" r:id="rId12"/>
    <p:sldId id="262" r:id="rId13"/>
    <p:sldId id="263" r:id="rId14"/>
    <p:sldId id="298" r:id="rId15"/>
    <p:sldId id="264" r:id="rId16"/>
    <p:sldId id="265" r:id="rId17"/>
    <p:sldId id="266" r:id="rId18"/>
    <p:sldId id="267" r:id="rId19"/>
    <p:sldId id="268" r:id="rId20"/>
    <p:sldId id="269" r:id="rId21"/>
    <p:sldId id="270" r:id="rId22"/>
    <p:sldId id="271" r:id="rId23"/>
    <p:sldId id="272"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5033" autoAdjust="0"/>
  </p:normalViewPr>
  <p:slideViewPr>
    <p:cSldViewPr snapToGrid="0">
      <p:cViewPr varScale="1">
        <p:scale>
          <a:sx n="78" d="100"/>
          <a:sy n="78" d="100"/>
        </p:scale>
        <p:origin x="137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US" sz="4400" b="0" u="none" strike="noStrike">
                <a:solidFill>
                  <a:srgbClr val="000000"/>
                </a:solidFill>
                <a:effectLst/>
                <a:uFillTx/>
                <a:latin typeface="Arial"/>
              </a:rPr>
              <a:t>Click to move the slide</a:t>
            </a:r>
          </a:p>
        </p:txBody>
      </p:sp>
      <p:sp>
        <p:nvSpPr>
          <p:cNvPr id="6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6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63"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4"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65"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FF1BE675-13A2-4852-B70C-01F555B61F99}"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laceHolder 1"/>
          <p:cNvSpPr>
            <a:spLocks noGrp="1" noRot="1" noChangeAspect="1"/>
          </p:cNvSpPr>
          <p:nvPr>
            <p:ph type="sldImg"/>
          </p:nvPr>
        </p:nvSpPr>
        <p:spPr>
          <a:xfrm>
            <a:off x="1143000" y="685800"/>
            <a:ext cx="4572000" cy="3429000"/>
          </a:xfrm>
          <a:prstGeom prst="rect">
            <a:avLst/>
          </a:prstGeom>
          <a:ln w="0">
            <a:noFill/>
          </a:ln>
        </p:spPr>
      </p:sp>
      <p:sp>
        <p:nvSpPr>
          <p:cNvPr id="109" name="PlaceHolder 2"/>
          <p:cNvSpPr>
            <a:spLocks noGrp="1"/>
          </p:cNvSpPr>
          <p:nvPr>
            <p:ph type="body"/>
          </p:nvPr>
        </p:nvSpPr>
        <p:spPr>
          <a:xfrm>
            <a:off x="685800" y="4343400"/>
            <a:ext cx="5485320" cy="41137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 name="PlaceHolder 3"/>
          <p:cNvSpPr>
            <a:spLocks noGrp="1"/>
          </p:cNvSpPr>
          <p:nvPr>
            <p:ph type="sldNum" idx="37"/>
          </p:nvPr>
        </p:nvSpPr>
        <p:spPr>
          <a:xfrm>
            <a:off x="3884760" y="8685360"/>
            <a:ext cx="297072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5BE3092-FDD2-48F2-A998-BFA272238D8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36"/>
          </p:nvPr>
        </p:nvSpPr>
        <p:spPr/>
        <p:txBody>
          <a:bodyPr/>
          <a:lstStyle/>
          <a:p>
            <a:pPr indent="0" algn="r">
              <a:buNone/>
            </a:pPr>
            <a:fld id="{FF1BE675-13A2-4852-B70C-01F555B61F99}"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1209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518F3-85C9-66FB-F03C-005E0B24E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517EE-97B7-6AFB-48ED-C1D88A92D98F}"/>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7F4E129D-8186-7E22-4ED7-7B710E5A226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BFF67A-5E0E-C009-57DD-A1AF6135D03C}"/>
              </a:ext>
            </a:extLst>
          </p:cNvPr>
          <p:cNvSpPr>
            <a:spLocks noGrp="1"/>
          </p:cNvSpPr>
          <p:nvPr>
            <p:ph type="sldNum" idx="36"/>
          </p:nvPr>
        </p:nvSpPr>
        <p:spPr/>
        <p:txBody>
          <a:bodyPr/>
          <a:lstStyle/>
          <a:p>
            <a:pPr indent="0" algn="r">
              <a:buNone/>
            </a:pPr>
            <a:fld id="{FF1BE675-13A2-4852-B70C-01F555B61F99}"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930292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55D4E-A2CA-4E8A-2684-A92CAC9C6C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59F5C-AD64-199D-301E-79BCF15314F1}"/>
              </a:ext>
            </a:extLst>
          </p:cNvPr>
          <p:cNvSpPr>
            <a:spLocks noGrp="1" noRot="1" noChangeAspect="1"/>
          </p:cNvSpPr>
          <p:nvPr>
            <p:ph type="sldImg"/>
          </p:nvPr>
        </p:nvSpPr>
        <p:spPr>
          <a:xfrm>
            <a:off x="0" y="812800"/>
            <a:ext cx="0" cy="0"/>
          </a:xfrm>
        </p:spPr>
      </p:sp>
      <p:sp>
        <p:nvSpPr>
          <p:cNvPr id="3" name="Notes Placeholder 2">
            <a:extLst>
              <a:ext uri="{FF2B5EF4-FFF2-40B4-BE49-F238E27FC236}">
                <a16:creationId xmlns:a16="http://schemas.microsoft.com/office/drawing/2014/main" id="{B956F93E-4643-EF7D-9464-57D937F3872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34BCFB2-5E9A-C5E3-BC53-3479589D5B1F}"/>
              </a:ext>
            </a:extLst>
          </p:cNvPr>
          <p:cNvSpPr>
            <a:spLocks noGrp="1"/>
          </p:cNvSpPr>
          <p:nvPr>
            <p:ph type="sldNum" idx="36"/>
          </p:nvPr>
        </p:nvSpPr>
        <p:spPr/>
        <p:txBody>
          <a:bodyPr/>
          <a:lstStyle/>
          <a:p>
            <a:pPr indent="0" algn="r">
              <a:buNone/>
            </a:pPr>
            <a:fld id="{FF1BE675-13A2-4852-B70C-01F555B61F99}"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743414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4680"/>
            <a:ext cx="8228520" cy="114192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457200" y="1535040"/>
            <a:ext cx="4039200" cy="638640"/>
          </a:xfrm>
          <a:prstGeom prst="rect">
            <a:avLst/>
          </a:prstGeom>
          <a:noFill/>
          <a:ln w="0">
            <a:noFill/>
          </a:ln>
        </p:spPr>
        <p:txBody>
          <a:bodyPr lIns="91440" tIns="45720" rIns="91440" bIns="45720" anchor="b">
            <a:noAutofit/>
          </a:bodyPr>
          <a:lstStyle/>
          <a:p>
            <a:pPr marL="228600" indent="0"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rgbClr val="000000"/>
              </a:solidFill>
              <a:effectLst/>
              <a:uFillTx/>
              <a:latin typeface="Arial"/>
            </a:endParaRPr>
          </a:p>
        </p:txBody>
      </p:sp>
      <p:sp>
        <p:nvSpPr>
          <p:cNvPr id="4" name="PlaceHolder 3"/>
          <p:cNvSpPr>
            <a:spLocks noGrp="1"/>
          </p:cNvSpPr>
          <p:nvPr>
            <p:ph type="body"/>
          </p:nvPr>
        </p:nvSpPr>
        <p:spPr>
          <a:xfrm>
            <a:off x="457200" y="2174760"/>
            <a:ext cx="4039200" cy="3950280"/>
          </a:xfrm>
          <a:prstGeom prst="rect">
            <a:avLst/>
          </a:prstGeom>
          <a:noFill/>
          <a:ln w="0">
            <a:noFill/>
          </a:ln>
        </p:spPr>
        <p:txBody>
          <a:bodyPr lIns="91440" tIns="45720" rIns="91440" bIns="45720" anchor="t">
            <a:noAutofit/>
          </a:bodyPr>
          <a:lstStyle/>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rgbClr val="000000"/>
              </a:solidFill>
              <a:effectLst/>
              <a:uFillTx/>
              <a:latin typeface="Arial"/>
            </a:endParaRP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US" sz="2000" b="0" u="none" strike="noStrike">
              <a:solidFill>
                <a:srgbClr val="000000"/>
              </a:solidFill>
              <a:effectLst/>
              <a:uFillTx/>
              <a:latin typeface="Arial"/>
            </a:endParaRP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rgbClr val="000000"/>
              </a:solidFill>
              <a:effectLst/>
              <a:uFillTx/>
              <a:latin typeface="Arial"/>
            </a:endParaRP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US" sz="1600" b="0" u="none" strike="noStrike">
              <a:solidFill>
                <a:srgbClr val="000000"/>
              </a:solidFill>
              <a:effectLst/>
              <a:uFillTx/>
              <a:latin typeface="Arial"/>
            </a:endParaRP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US" sz="1600" b="0" u="none" strike="noStrike">
              <a:solidFill>
                <a:srgbClr val="000000"/>
              </a:solidFill>
              <a:effectLst/>
              <a:uFillTx/>
              <a:latin typeface="Arial"/>
            </a:endParaRPr>
          </a:p>
        </p:txBody>
      </p:sp>
      <p:sp>
        <p:nvSpPr>
          <p:cNvPr id="5" name="PlaceHolder 4"/>
          <p:cNvSpPr>
            <a:spLocks noGrp="1"/>
          </p:cNvSpPr>
          <p:nvPr>
            <p:ph type="body"/>
          </p:nvPr>
        </p:nvSpPr>
        <p:spPr>
          <a:xfrm>
            <a:off x="4645080" y="1535040"/>
            <a:ext cx="4040640" cy="638640"/>
          </a:xfrm>
          <a:prstGeom prst="rect">
            <a:avLst/>
          </a:prstGeom>
          <a:noFill/>
          <a:ln w="0">
            <a:noFill/>
          </a:ln>
        </p:spPr>
        <p:txBody>
          <a:bodyPr lIns="91440" tIns="45720" rIns="91440" bIns="45720" anchor="b">
            <a:noAutofit/>
          </a:bodyPr>
          <a:lstStyle/>
          <a:p>
            <a:pPr marL="228600" indent="0"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rgbClr val="000000"/>
              </a:solidFill>
              <a:effectLst/>
              <a:uFillTx/>
              <a:latin typeface="Arial"/>
            </a:endParaRPr>
          </a:p>
        </p:txBody>
      </p:sp>
      <p:sp>
        <p:nvSpPr>
          <p:cNvPr id="6" name="PlaceHolder 5"/>
          <p:cNvSpPr>
            <a:spLocks noGrp="1"/>
          </p:cNvSpPr>
          <p:nvPr>
            <p:ph type="body"/>
          </p:nvPr>
        </p:nvSpPr>
        <p:spPr>
          <a:xfrm>
            <a:off x="4645080" y="2174760"/>
            <a:ext cx="4040640" cy="3950280"/>
          </a:xfrm>
          <a:prstGeom prst="rect">
            <a:avLst/>
          </a:prstGeom>
          <a:noFill/>
          <a:ln w="0">
            <a:noFill/>
          </a:ln>
        </p:spPr>
        <p:txBody>
          <a:bodyPr lIns="91440" tIns="45720" rIns="91440" bIns="45720" anchor="t">
            <a:noAutofit/>
          </a:bodyPr>
          <a:lstStyle/>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endParaRPr lang="en-US" sz="2400" b="0" u="none" strike="noStrike">
              <a:solidFill>
                <a:srgbClr val="000000"/>
              </a:solidFill>
              <a:effectLst/>
              <a:uFillTx/>
              <a:latin typeface="Arial"/>
            </a:endParaRP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endParaRPr lang="en-US" sz="2000" b="0" u="none" strike="noStrike">
              <a:solidFill>
                <a:srgbClr val="000000"/>
              </a:solidFill>
              <a:effectLst/>
              <a:uFillTx/>
              <a:latin typeface="Arial"/>
            </a:endParaRP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endParaRPr lang="en-US" sz="1800" b="0" u="none" strike="noStrike">
              <a:solidFill>
                <a:srgbClr val="000000"/>
              </a:solidFill>
              <a:effectLst/>
              <a:uFillTx/>
              <a:latin typeface="Arial"/>
            </a:endParaRP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endParaRPr lang="en-US" sz="1600" b="0" u="none" strike="noStrike">
              <a:solidFill>
                <a:srgbClr val="000000"/>
              </a:solidFill>
              <a:effectLst/>
              <a:uFillTx/>
              <a:latin typeface="Arial"/>
            </a:endParaRP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endParaRPr lang="en-US" sz="1600" b="0" u="none" strike="noStrike">
              <a:solidFill>
                <a:srgbClr val="000000"/>
              </a:solidFill>
              <a:effectLst/>
              <a:uFillTx/>
              <a:latin typeface="Arial"/>
            </a:endParaRPr>
          </a:p>
        </p:txBody>
      </p:sp>
      <p:sp>
        <p:nvSpPr>
          <p:cNvPr id="7" name="PlaceHolder 6"/>
          <p:cNvSpPr>
            <a:spLocks noGrp="1"/>
          </p:cNvSpPr>
          <p:nvPr>
            <p:ph type="dt" idx="1"/>
          </p:nvPr>
        </p:nvSpPr>
        <p:spPr>
          <a:xfrm>
            <a:off x="457200" y="6356520"/>
            <a:ext cx="213264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8" name="PlaceHolder 7"/>
          <p:cNvSpPr>
            <a:spLocks noGrp="1"/>
          </p:cNvSpPr>
          <p:nvPr>
            <p:ph type="ftr" idx="2"/>
          </p:nvPr>
        </p:nvSpPr>
        <p:spPr>
          <a:xfrm>
            <a:off x="3124080" y="6356520"/>
            <a:ext cx="2894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9" name="PlaceHolder 8"/>
          <p:cNvSpPr>
            <a:spLocks noGrp="1"/>
          </p:cNvSpPr>
          <p:nvPr>
            <p:ph type="sldNum" idx="3"/>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7836C79-F4A2-4CC0-8DDB-FE0123E4E0B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8520" cy="114192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11" name="PlaceHolder 2"/>
          <p:cNvSpPr>
            <a:spLocks noGrp="1"/>
          </p:cNvSpPr>
          <p:nvPr>
            <p:ph type="dt" idx="4"/>
          </p:nvPr>
        </p:nvSpPr>
        <p:spPr>
          <a:xfrm>
            <a:off x="457200" y="6356520"/>
            <a:ext cx="213264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2" name="PlaceHolder 3"/>
          <p:cNvSpPr>
            <a:spLocks noGrp="1"/>
          </p:cNvSpPr>
          <p:nvPr>
            <p:ph type="ftr" idx="5"/>
          </p:nvPr>
        </p:nvSpPr>
        <p:spPr>
          <a:xfrm>
            <a:off x="3124080" y="6356520"/>
            <a:ext cx="2894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3" name="PlaceHolder 4"/>
          <p:cNvSpPr>
            <a:spLocks noGrp="1"/>
          </p:cNvSpPr>
          <p:nvPr>
            <p:ph type="sldNum" idx="6"/>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22B0959-F911-49FB-BA83-BBD94C6323F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14" name="PlaceHolder 1"/>
          <p:cNvSpPr>
            <a:spLocks noGrp="1"/>
          </p:cNvSpPr>
          <p:nvPr>
            <p:ph type="dt" idx="7"/>
          </p:nvPr>
        </p:nvSpPr>
        <p:spPr>
          <a:xfrm>
            <a:off x="457200" y="6356520"/>
            <a:ext cx="213264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5" name="PlaceHolder 2"/>
          <p:cNvSpPr>
            <a:spLocks noGrp="1"/>
          </p:cNvSpPr>
          <p:nvPr>
            <p:ph type="ftr" idx="8"/>
          </p:nvPr>
        </p:nvSpPr>
        <p:spPr>
          <a:xfrm>
            <a:off x="3124080" y="6356520"/>
            <a:ext cx="2894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6" name="PlaceHolder 3"/>
          <p:cNvSpPr>
            <a:spLocks noGrp="1"/>
          </p:cNvSpPr>
          <p:nvPr>
            <p:ph type="sldNum" idx="9"/>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FB4E0250-ECBA-4CBB-8538-F2619F781B4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685800" y="2130480"/>
            <a:ext cx="7771320" cy="146880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18" name="PlaceHolder 2"/>
          <p:cNvSpPr>
            <a:spLocks noGrp="1"/>
          </p:cNvSpPr>
          <p:nvPr>
            <p:ph type="dt" idx="10"/>
          </p:nvPr>
        </p:nvSpPr>
        <p:spPr>
          <a:xfrm>
            <a:off x="457200" y="6356520"/>
            <a:ext cx="213264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9" name="PlaceHolder 3"/>
          <p:cNvSpPr>
            <a:spLocks noGrp="1"/>
          </p:cNvSpPr>
          <p:nvPr>
            <p:ph type="ftr" idx="11"/>
          </p:nvPr>
        </p:nvSpPr>
        <p:spPr>
          <a:xfrm>
            <a:off x="3124080" y="6356520"/>
            <a:ext cx="2894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20" name="PlaceHolder 4"/>
          <p:cNvSpPr>
            <a:spLocks noGrp="1"/>
          </p:cNvSpPr>
          <p:nvPr>
            <p:ph type="sldNum" idx="12"/>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25F2E831-EB92-44B5-ABA9-2153D0B99CBE}"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21" name="PlaceHolder 5"/>
          <p:cNvSpPr>
            <a:spLocks noGrp="1"/>
          </p:cNvSpPr>
          <p:nvPr>
            <p:ph type="body"/>
          </p:nvPr>
        </p:nvSpPr>
        <p:spPr>
          <a:xfrm>
            <a:off x="457200" y="1604520"/>
            <a:ext cx="8228520" cy="3976560"/>
          </a:xfrm>
          <a:prstGeom prst="rect">
            <a:avLst/>
          </a:prstGeom>
          <a:noFill/>
          <a:ln w="0">
            <a:noFill/>
          </a:ln>
        </p:spPr>
        <p:txBody>
          <a:bodyPr lIns="0" tIns="0" rIns="0" bIns="0" anchor="t">
            <a:normAutofit/>
          </a:bodyPr>
          <a:lstStyle/>
          <a:p>
            <a:pPr marL="432000" indent="-324000"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rgbClr val="000000"/>
              </a:solidFill>
              <a:effectLst/>
              <a:uFillTx/>
              <a:latin typeface="Arial"/>
            </a:endParaRPr>
          </a:p>
          <a:p>
            <a:pPr marL="1296000" lvl="2" indent="-288000" defTabSz="914400">
              <a:lnSpc>
                <a:spcPct val="9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rgbClr val="000000"/>
              </a:solidFill>
              <a:effectLst/>
              <a:uFillTx/>
              <a:latin typeface="Arial"/>
            </a:endParaRPr>
          </a:p>
          <a:p>
            <a:pPr marL="1728000" lvl="3" indent="-216000" defTabSz="914400">
              <a:lnSpc>
                <a:spcPct val="9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rgbClr val="000000"/>
              </a:solidFill>
              <a:effectLst/>
              <a:uFillTx/>
              <a:latin typeface="Arial"/>
            </a:endParaRPr>
          </a:p>
          <a:p>
            <a:pPr marL="2160000" lvl="4"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2880"/>
            <a:ext cx="3007080" cy="1161000"/>
          </a:xfrm>
          <a:prstGeom prst="rect">
            <a:avLst/>
          </a:prstGeom>
          <a:noFill/>
          <a:ln w="0">
            <a:noFill/>
          </a:ln>
        </p:spPr>
        <p:txBody>
          <a:bodyPr lIns="91440" tIns="45720" rIns="91440" bIns="45720" anchor="b">
            <a:noAutofit/>
          </a:bodyPr>
          <a:lstStyle/>
          <a:p>
            <a:pPr indent="0" defTabSz="9144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0" u="none" strike="noStrike">
              <a:solidFill>
                <a:srgbClr val="000000"/>
              </a:solidFill>
              <a:effectLst/>
              <a:uFillTx/>
              <a:latin typeface="Arial"/>
            </a:endParaRPr>
          </a:p>
        </p:txBody>
      </p:sp>
      <p:sp>
        <p:nvSpPr>
          <p:cNvPr id="23" name="PlaceHolder 2"/>
          <p:cNvSpPr>
            <a:spLocks noGrp="1"/>
          </p:cNvSpPr>
          <p:nvPr>
            <p:ph type="body"/>
          </p:nvPr>
        </p:nvSpPr>
        <p:spPr>
          <a:xfrm>
            <a:off x="3575160" y="272880"/>
            <a:ext cx="5110560" cy="5852160"/>
          </a:xfrm>
          <a:prstGeom prst="rect">
            <a:avLst/>
          </a:prstGeom>
          <a:noFill/>
          <a:ln w="0">
            <a:noFill/>
          </a:ln>
        </p:spPr>
        <p:txBody>
          <a:bodyPr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rgbClr val="000000"/>
              </a:solidFill>
              <a:effectLst/>
              <a:uFillTx/>
              <a:latin typeface="Arial"/>
            </a:endParaRPr>
          </a:p>
        </p:txBody>
      </p:sp>
      <p:sp>
        <p:nvSpPr>
          <p:cNvPr id="24" name="PlaceHolder 3"/>
          <p:cNvSpPr>
            <a:spLocks noGrp="1"/>
          </p:cNvSpPr>
          <p:nvPr>
            <p:ph type="body"/>
          </p:nvPr>
        </p:nvSpPr>
        <p:spPr>
          <a:xfrm>
            <a:off x="457200" y="1434960"/>
            <a:ext cx="3007080" cy="4690080"/>
          </a:xfrm>
          <a:prstGeom prst="rect">
            <a:avLst/>
          </a:prstGeom>
          <a:noFill/>
          <a:ln w="0">
            <a:noFill/>
          </a:ln>
        </p:spPr>
        <p:txBody>
          <a:bodyPr lIns="91440" tIns="45720" rIns="91440" bIns="45720" anchor="t">
            <a:noAutofit/>
          </a:bodyPr>
          <a:lstStyle/>
          <a:p>
            <a:pPr marL="228600" indent="0"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rgbClr val="000000"/>
              </a:solidFill>
              <a:effectLst/>
              <a:uFillTx/>
              <a:latin typeface="Arial"/>
            </a:endParaRPr>
          </a:p>
        </p:txBody>
      </p:sp>
      <p:sp>
        <p:nvSpPr>
          <p:cNvPr id="25" name="PlaceHolder 4"/>
          <p:cNvSpPr>
            <a:spLocks noGrp="1"/>
          </p:cNvSpPr>
          <p:nvPr>
            <p:ph type="dt" idx="13"/>
          </p:nvPr>
        </p:nvSpPr>
        <p:spPr>
          <a:xfrm>
            <a:off x="457200" y="6356520"/>
            <a:ext cx="213264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6" name="PlaceHolder 5"/>
          <p:cNvSpPr>
            <a:spLocks noGrp="1"/>
          </p:cNvSpPr>
          <p:nvPr>
            <p:ph type="ftr" idx="14"/>
          </p:nvPr>
        </p:nvSpPr>
        <p:spPr>
          <a:xfrm>
            <a:off x="3124080" y="6356520"/>
            <a:ext cx="2894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27" name="PlaceHolder 6"/>
          <p:cNvSpPr>
            <a:spLocks noGrp="1"/>
          </p:cNvSpPr>
          <p:nvPr>
            <p:ph type="sldNum" idx="15"/>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D6716FB-BF29-4607-B882-C0670909FAF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1792440" y="4800600"/>
            <a:ext cx="5485320" cy="565560"/>
          </a:xfrm>
          <a:prstGeom prst="rect">
            <a:avLst/>
          </a:prstGeom>
          <a:noFill/>
          <a:ln w="0">
            <a:noFill/>
          </a:ln>
        </p:spPr>
        <p:txBody>
          <a:bodyPr lIns="91440" tIns="45720" rIns="91440" bIns="45720" anchor="b">
            <a:noAutofit/>
          </a:bodyPr>
          <a:lstStyle/>
          <a:p>
            <a:pPr indent="0" defTabSz="9144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0" u="none" strike="noStrike">
              <a:solidFill>
                <a:srgbClr val="000000"/>
              </a:solidFill>
              <a:effectLst/>
              <a:uFillTx/>
              <a:latin typeface="Arial"/>
            </a:endParaRPr>
          </a:p>
        </p:txBody>
      </p:sp>
      <p:sp>
        <p:nvSpPr>
          <p:cNvPr id="29" name="PlaceHolder 2"/>
          <p:cNvSpPr>
            <a:spLocks noGrp="1"/>
          </p:cNvSpPr>
          <p:nvPr>
            <p:ph type="body"/>
          </p:nvPr>
        </p:nvSpPr>
        <p:spPr>
          <a:xfrm>
            <a:off x="1792440" y="612720"/>
            <a:ext cx="5485320" cy="4113720"/>
          </a:xfrm>
          <a:prstGeom prst="rect">
            <a:avLst/>
          </a:prstGeom>
          <a:noFill/>
          <a:ln w="0">
            <a:noFill/>
          </a:ln>
        </p:spPr>
        <p:txBody>
          <a:bodyPr lIns="90000" tIns="45000" rIns="90000" bIns="45000" anchor="t">
            <a:noAutofit/>
          </a:bodyPr>
          <a:lstStyle/>
          <a:p>
            <a:pPr marL="432000" indent="-324000"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rgbClr val="000000"/>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rgbClr val="000000"/>
              </a:solidFill>
              <a:effectLst/>
              <a:uFillTx/>
              <a:latin typeface="Arial"/>
            </a:endParaRPr>
          </a:p>
          <a:p>
            <a:pPr marL="1296000" lvl="2" indent="-288000" defTabSz="9144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rgbClr val="000000"/>
              </a:solidFill>
              <a:effectLst/>
              <a:uFillTx/>
              <a:latin typeface="Arial"/>
            </a:endParaRPr>
          </a:p>
          <a:p>
            <a:pPr marL="1728000" lvl="3" indent="-216000" defTabSz="9144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rgbClr val="000000"/>
              </a:solidFill>
              <a:effectLst/>
              <a:uFillTx/>
              <a:latin typeface="Arial"/>
            </a:endParaRPr>
          </a:p>
          <a:p>
            <a:pPr marL="2160000" lvl="4"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rgbClr val="000000"/>
              </a:solidFill>
              <a:effectLst/>
              <a:uFillTx/>
              <a:latin typeface="Arial"/>
            </a:endParaRPr>
          </a:p>
          <a:p>
            <a:pPr marL="2592000" lvl="5"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rgbClr val="000000"/>
              </a:solidFill>
              <a:effectLst/>
              <a:uFillTx/>
              <a:latin typeface="Arial"/>
            </a:endParaRPr>
          </a:p>
          <a:p>
            <a:pPr marL="3024000" lvl="6"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rgbClr val="000000"/>
              </a:solidFill>
              <a:effectLst/>
              <a:uFillTx/>
              <a:latin typeface="Arial"/>
            </a:endParaRPr>
          </a:p>
        </p:txBody>
      </p:sp>
      <p:sp>
        <p:nvSpPr>
          <p:cNvPr id="30" name="PlaceHolder 3"/>
          <p:cNvSpPr>
            <a:spLocks noGrp="1"/>
          </p:cNvSpPr>
          <p:nvPr>
            <p:ph type="body"/>
          </p:nvPr>
        </p:nvSpPr>
        <p:spPr>
          <a:xfrm>
            <a:off x="1792440" y="5367240"/>
            <a:ext cx="5485320" cy="803880"/>
          </a:xfrm>
          <a:prstGeom prst="rect">
            <a:avLst/>
          </a:prstGeom>
          <a:noFill/>
          <a:ln w="0">
            <a:noFill/>
          </a:ln>
        </p:spPr>
        <p:txBody>
          <a:bodyPr lIns="91440" tIns="45720" rIns="91440" bIns="45720" anchor="t">
            <a:noAutofit/>
          </a:bodyPr>
          <a:lstStyle/>
          <a:p>
            <a:pPr marL="228600" indent="0"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rgbClr val="000000"/>
              </a:solidFill>
              <a:effectLst/>
              <a:uFillTx/>
              <a:latin typeface="Arial"/>
            </a:endParaRPr>
          </a:p>
        </p:txBody>
      </p:sp>
      <p:sp>
        <p:nvSpPr>
          <p:cNvPr id="31" name="PlaceHolder 4"/>
          <p:cNvSpPr>
            <a:spLocks noGrp="1"/>
          </p:cNvSpPr>
          <p:nvPr>
            <p:ph type="dt" idx="16"/>
          </p:nvPr>
        </p:nvSpPr>
        <p:spPr>
          <a:xfrm>
            <a:off x="457200" y="6356520"/>
            <a:ext cx="213264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2" name="PlaceHolder 5"/>
          <p:cNvSpPr>
            <a:spLocks noGrp="1"/>
          </p:cNvSpPr>
          <p:nvPr>
            <p:ph type="ftr" idx="17"/>
          </p:nvPr>
        </p:nvSpPr>
        <p:spPr>
          <a:xfrm>
            <a:off x="3124080" y="6356520"/>
            <a:ext cx="2894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33" name="PlaceHolder 6"/>
          <p:cNvSpPr>
            <a:spLocks noGrp="1"/>
          </p:cNvSpPr>
          <p:nvPr>
            <p:ph type="sldNum" idx="18"/>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D02F2D5-B017-4430-B4B8-B30087FCD7E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8520" cy="114192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35" name="PlaceHolder 2"/>
          <p:cNvSpPr>
            <a:spLocks noGrp="1"/>
          </p:cNvSpPr>
          <p:nvPr>
            <p:ph type="body"/>
          </p:nvPr>
        </p:nvSpPr>
        <p:spPr>
          <a:xfrm>
            <a:off x="457200" y="1600200"/>
            <a:ext cx="8228520" cy="4524840"/>
          </a:xfrm>
          <a:prstGeom prst="rect">
            <a:avLst/>
          </a:prstGeom>
          <a:noFill/>
          <a:ln w="0">
            <a:noFill/>
          </a:ln>
        </p:spPr>
        <p:txBody>
          <a:bodyPr vert="eaVert"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rgbClr val="000000"/>
              </a:solidFill>
              <a:effectLst/>
              <a:uFillTx/>
              <a:latin typeface="Arial"/>
            </a:endParaRPr>
          </a:p>
        </p:txBody>
      </p:sp>
      <p:sp>
        <p:nvSpPr>
          <p:cNvPr id="36" name="PlaceHolder 3"/>
          <p:cNvSpPr>
            <a:spLocks noGrp="1"/>
          </p:cNvSpPr>
          <p:nvPr>
            <p:ph type="dt" idx="19"/>
          </p:nvPr>
        </p:nvSpPr>
        <p:spPr>
          <a:xfrm>
            <a:off x="457200" y="6356520"/>
            <a:ext cx="213264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7" name="PlaceHolder 4"/>
          <p:cNvSpPr>
            <a:spLocks noGrp="1"/>
          </p:cNvSpPr>
          <p:nvPr>
            <p:ph type="ftr" idx="20"/>
          </p:nvPr>
        </p:nvSpPr>
        <p:spPr>
          <a:xfrm>
            <a:off x="3124080" y="6356520"/>
            <a:ext cx="2894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38" name="PlaceHolder 5"/>
          <p:cNvSpPr>
            <a:spLocks noGrp="1"/>
          </p:cNvSpPr>
          <p:nvPr>
            <p:ph type="sldNum" idx="21"/>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5D358EC-278A-4C38-87E1-1D19BE8A2C2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6629400" y="274680"/>
            <a:ext cx="2056320" cy="5850360"/>
          </a:xfrm>
          <a:prstGeom prst="rect">
            <a:avLst/>
          </a:prstGeom>
          <a:noFill/>
          <a:ln w="0">
            <a:noFill/>
          </a:ln>
        </p:spPr>
        <p:txBody>
          <a:bodyPr vert="eaVert"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40" name="PlaceHolder 2"/>
          <p:cNvSpPr>
            <a:spLocks noGrp="1"/>
          </p:cNvSpPr>
          <p:nvPr>
            <p:ph type="body"/>
          </p:nvPr>
        </p:nvSpPr>
        <p:spPr>
          <a:xfrm>
            <a:off x="457200" y="274680"/>
            <a:ext cx="6018840" cy="5850360"/>
          </a:xfrm>
          <a:prstGeom prst="rect">
            <a:avLst/>
          </a:prstGeom>
          <a:noFill/>
          <a:ln w="0">
            <a:noFill/>
          </a:ln>
        </p:spPr>
        <p:txBody>
          <a:bodyPr vert="eaVert"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rgbClr val="000000"/>
              </a:solidFill>
              <a:effectLst/>
              <a:uFillTx/>
              <a:latin typeface="Arial"/>
            </a:endParaRPr>
          </a:p>
        </p:txBody>
      </p:sp>
      <p:sp>
        <p:nvSpPr>
          <p:cNvPr id="41" name="PlaceHolder 3"/>
          <p:cNvSpPr>
            <a:spLocks noGrp="1"/>
          </p:cNvSpPr>
          <p:nvPr>
            <p:ph type="dt" idx="22"/>
          </p:nvPr>
        </p:nvSpPr>
        <p:spPr>
          <a:xfrm>
            <a:off x="457200" y="6356520"/>
            <a:ext cx="213264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4"/>
          <p:cNvSpPr>
            <a:spLocks noGrp="1"/>
          </p:cNvSpPr>
          <p:nvPr>
            <p:ph type="ftr" idx="23"/>
          </p:nvPr>
        </p:nvSpPr>
        <p:spPr>
          <a:xfrm>
            <a:off x="3124080" y="6356520"/>
            <a:ext cx="2894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43" name="PlaceHolder 5"/>
          <p:cNvSpPr>
            <a:spLocks noGrp="1"/>
          </p:cNvSpPr>
          <p:nvPr>
            <p:ph type="sldNum" idx="24"/>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D30A993-28C5-4690-AB3A-94CE00D2273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4680"/>
            <a:ext cx="8228520" cy="114192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45" name="PlaceHolder 2"/>
          <p:cNvSpPr>
            <a:spLocks noGrp="1"/>
          </p:cNvSpPr>
          <p:nvPr>
            <p:ph type="body"/>
          </p:nvPr>
        </p:nvSpPr>
        <p:spPr>
          <a:xfrm>
            <a:off x="457200" y="1600200"/>
            <a:ext cx="8228520" cy="4524840"/>
          </a:xfrm>
          <a:prstGeom prst="rect">
            <a:avLst/>
          </a:prstGeom>
          <a:noFill/>
          <a:ln w="0">
            <a:noFill/>
          </a:ln>
        </p:spPr>
        <p:txBody>
          <a:bodyPr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rgbClr val="000000"/>
              </a:solidFill>
              <a:effectLst/>
              <a:uFillTx/>
              <a:latin typeface="Arial"/>
            </a:endParaRP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rgbClr val="000000"/>
              </a:solidFill>
              <a:effectLst/>
              <a:uFillTx/>
              <a:latin typeface="Arial"/>
            </a:endParaRP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rgbClr val="000000"/>
              </a:solidFill>
              <a:effectLst/>
              <a:uFillTx/>
              <a:latin typeface="Arial"/>
            </a:endParaRP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rgbClr val="000000"/>
              </a:solidFill>
              <a:effectLst/>
              <a:uFillTx/>
              <a:latin typeface="Arial"/>
            </a:endParaRP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rgbClr val="000000"/>
              </a:solidFill>
              <a:effectLst/>
              <a:uFillTx/>
              <a:latin typeface="Arial"/>
            </a:endParaRPr>
          </a:p>
        </p:txBody>
      </p:sp>
      <p:sp>
        <p:nvSpPr>
          <p:cNvPr id="46" name="PlaceHolder 3"/>
          <p:cNvSpPr>
            <a:spLocks noGrp="1"/>
          </p:cNvSpPr>
          <p:nvPr>
            <p:ph type="dt" idx="25"/>
          </p:nvPr>
        </p:nvSpPr>
        <p:spPr>
          <a:xfrm>
            <a:off x="457200" y="6356520"/>
            <a:ext cx="213264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7" name="PlaceHolder 4"/>
          <p:cNvSpPr>
            <a:spLocks noGrp="1"/>
          </p:cNvSpPr>
          <p:nvPr>
            <p:ph type="ftr" idx="26"/>
          </p:nvPr>
        </p:nvSpPr>
        <p:spPr>
          <a:xfrm>
            <a:off x="3124080" y="6356520"/>
            <a:ext cx="2894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48" name="PlaceHolder 5"/>
          <p:cNvSpPr>
            <a:spLocks noGrp="1"/>
          </p:cNvSpPr>
          <p:nvPr>
            <p:ph type="sldNum" idx="27"/>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D547E84-C581-433C-B29A-41CF10C831A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722160" y="4406760"/>
            <a:ext cx="7771320" cy="1361160"/>
          </a:xfrm>
          <a:prstGeom prst="rect">
            <a:avLst/>
          </a:prstGeom>
          <a:noFill/>
          <a:ln w="0">
            <a:noFill/>
          </a:ln>
        </p:spPr>
        <p:txBody>
          <a:bodyPr lIns="91440" tIns="45720" rIns="91440" bIns="45720" anchor="t">
            <a:noAutofit/>
          </a:bodyPr>
          <a:lstStyle/>
          <a:p>
            <a:pPr indent="0" defTabSz="9144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0" u="none" strike="noStrike">
              <a:solidFill>
                <a:srgbClr val="000000"/>
              </a:solidFill>
              <a:effectLst/>
              <a:uFillTx/>
              <a:latin typeface="Arial"/>
            </a:endParaRPr>
          </a:p>
        </p:txBody>
      </p:sp>
      <p:sp>
        <p:nvSpPr>
          <p:cNvPr id="50" name="PlaceHolder 2"/>
          <p:cNvSpPr>
            <a:spLocks noGrp="1"/>
          </p:cNvSpPr>
          <p:nvPr>
            <p:ph type="body"/>
          </p:nvPr>
        </p:nvSpPr>
        <p:spPr>
          <a:xfrm>
            <a:off x="722160" y="2906640"/>
            <a:ext cx="7771320" cy="1499040"/>
          </a:xfrm>
          <a:prstGeom prst="rect">
            <a:avLst/>
          </a:prstGeom>
          <a:noFill/>
          <a:ln w="0">
            <a:noFill/>
          </a:ln>
        </p:spPr>
        <p:txBody>
          <a:bodyPr lIns="91440" tIns="45720" rIns="91440" bIns="45720" anchor="b">
            <a:noAutofit/>
          </a:bodyPr>
          <a:lstStyle/>
          <a:p>
            <a:pPr marL="228600" indent="0"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rgbClr val="000000"/>
              </a:solidFill>
              <a:effectLst/>
              <a:uFillTx/>
              <a:latin typeface="Arial"/>
            </a:endParaRPr>
          </a:p>
        </p:txBody>
      </p:sp>
      <p:sp>
        <p:nvSpPr>
          <p:cNvPr id="51" name="PlaceHolder 3"/>
          <p:cNvSpPr>
            <a:spLocks noGrp="1"/>
          </p:cNvSpPr>
          <p:nvPr>
            <p:ph type="dt" idx="28"/>
          </p:nvPr>
        </p:nvSpPr>
        <p:spPr>
          <a:xfrm>
            <a:off x="457200" y="6356520"/>
            <a:ext cx="213264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2" name="PlaceHolder 4"/>
          <p:cNvSpPr>
            <a:spLocks noGrp="1"/>
          </p:cNvSpPr>
          <p:nvPr>
            <p:ph type="ftr" idx="29"/>
          </p:nvPr>
        </p:nvSpPr>
        <p:spPr>
          <a:xfrm>
            <a:off x="3124080" y="6356520"/>
            <a:ext cx="2894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53" name="PlaceHolder 5"/>
          <p:cNvSpPr>
            <a:spLocks noGrp="1"/>
          </p:cNvSpPr>
          <p:nvPr>
            <p:ph type="sldNum" idx="30"/>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EB41D6A-1B08-4900-80F9-5CD5DFB5B93B}"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8520" cy="114192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rgbClr val="000000"/>
              </a:solidFill>
              <a:effectLst/>
              <a:uFillTx/>
              <a:latin typeface="Arial"/>
            </a:endParaRPr>
          </a:p>
        </p:txBody>
      </p:sp>
      <p:sp>
        <p:nvSpPr>
          <p:cNvPr id="55" name="PlaceHolder 2"/>
          <p:cNvSpPr>
            <a:spLocks noGrp="1"/>
          </p:cNvSpPr>
          <p:nvPr>
            <p:ph type="body"/>
          </p:nvPr>
        </p:nvSpPr>
        <p:spPr>
          <a:xfrm>
            <a:off x="457200" y="1600200"/>
            <a:ext cx="4037400" cy="4524840"/>
          </a:xfrm>
          <a:prstGeom prst="rect">
            <a:avLst/>
          </a:prstGeom>
          <a:noFill/>
          <a:ln w="0">
            <a:noFill/>
          </a:ln>
        </p:spPr>
        <p:txBody>
          <a:bodyPr lIns="91440" tIns="45720" rIns="91440" bIns="45720" anchor="t">
            <a:noAutofit/>
          </a:bodyPr>
          <a:lstStyle/>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rgbClr val="000000"/>
              </a:solidFill>
              <a:effectLst/>
              <a:uFillTx/>
              <a:latin typeface="Arial"/>
            </a:endParaRP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rgbClr val="000000"/>
              </a:solidFill>
              <a:effectLst/>
              <a:uFillTx/>
              <a:latin typeface="Arial"/>
            </a:endParaRP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rgbClr val="000000"/>
              </a:solidFill>
              <a:effectLst/>
              <a:uFillTx/>
              <a:latin typeface="Arial"/>
            </a:endParaRP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rgbClr val="000000"/>
              </a:solidFill>
              <a:effectLst/>
              <a:uFillTx/>
              <a:latin typeface="Arial"/>
            </a:endParaRP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rgbClr val="000000"/>
              </a:solidFill>
              <a:effectLst/>
              <a:uFillTx/>
              <a:latin typeface="Arial"/>
            </a:endParaRPr>
          </a:p>
        </p:txBody>
      </p:sp>
      <p:sp>
        <p:nvSpPr>
          <p:cNvPr id="56" name="PlaceHolder 3"/>
          <p:cNvSpPr>
            <a:spLocks noGrp="1"/>
          </p:cNvSpPr>
          <p:nvPr>
            <p:ph type="body"/>
          </p:nvPr>
        </p:nvSpPr>
        <p:spPr>
          <a:xfrm>
            <a:off x="4648320" y="1600200"/>
            <a:ext cx="4037400" cy="4524840"/>
          </a:xfrm>
          <a:prstGeom prst="rect">
            <a:avLst/>
          </a:prstGeom>
          <a:noFill/>
          <a:ln w="0">
            <a:noFill/>
          </a:ln>
        </p:spPr>
        <p:txBody>
          <a:bodyPr lIns="91440" tIns="45720" rIns="91440" bIns="45720" anchor="t">
            <a:noAutofit/>
          </a:bodyPr>
          <a:lstStyle/>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rgbClr val="000000"/>
              </a:solidFill>
              <a:effectLst/>
              <a:uFillTx/>
              <a:latin typeface="Arial"/>
            </a:endParaRP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rgbClr val="000000"/>
              </a:solidFill>
              <a:effectLst/>
              <a:uFillTx/>
              <a:latin typeface="Arial"/>
            </a:endParaRP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rgbClr val="000000"/>
              </a:solidFill>
              <a:effectLst/>
              <a:uFillTx/>
              <a:latin typeface="Arial"/>
            </a:endParaRP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rgbClr val="000000"/>
              </a:solidFill>
              <a:effectLst/>
              <a:uFillTx/>
              <a:latin typeface="Arial"/>
            </a:endParaRP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rgbClr val="000000"/>
              </a:solidFill>
              <a:effectLst/>
              <a:uFillTx/>
              <a:latin typeface="Arial"/>
            </a:endParaRPr>
          </a:p>
        </p:txBody>
      </p:sp>
      <p:sp>
        <p:nvSpPr>
          <p:cNvPr id="57" name="PlaceHolder 4"/>
          <p:cNvSpPr>
            <a:spLocks noGrp="1"/>
          </p:cNvSpPr>
          <p:nvPr>
            <p:ph type="dt" idx="31"/>
          </p:nvPr>
        </p:nvSpPr>
        <p:spPr>
          <a:xfrm>
            <a:off x="457200" y="6356520"/>
            <a:ext cx="213264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3124080" y="6356520"/>
            <a:ext cx="2894400" cy="36396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ctr" defTabSz="914400">
              <a:lnSpc>
                <a:spcPct val="100000"/>
              </a:lnSpc>
              <a:buNone/>
              <a:tabLst>
                <a:tab pos="0" algn="l"/>
              </a:tabLst>
            </a:pPr>
            <a:r>
              <a:rPr lang="en-US"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6553080" y="6356520"/>
            <a:ext cx="213264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6ECF71F-5AF2-4063-AD4E-1E0638B1808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E652A3-794C-4BF1-8480-8C7020F8BA56}" type="datetime1">
              <a:rPr lang="en-US" smtClean="0"/>
              <a:t>5/11/2026</a:t>
            </a:fld>
            <a:endParaRPr lang="en-US"/>
          </a:p>
        </p:txBody>
      </p:sp>
      <p:sp>
        <p:nvSpPr>
          <p:cNvPr id="5" name="Footer Placeholder 4"/>
          <p:cNvSpPr>
            <a:spLocks noGrp="1"/>
          </p:cNvSpPr>
          <p:nvPr>
            <p:ph type="ftr" sz="quarter" idx="11"/>
          </p:nvPr>
        </p:nvSpPr>
        <p:spPr/>
        <p:txBody>
          <a:bodyPr/>
          <a:lstStyle/>
          <a:p>
            <a:r>
              <a:rPr lang="en-US"/>
              <a:t>AD3811– PROJECT WORK</a:t>
            </a:r>
          </a:p>
        </p:txBody>
      </p:sp>
      <p:sp>
        <p:nvSpPr>
          <p:cNvPr id="6" name="Slide Number Placeholder 5"/>
          <p:cNvSpPr>
            <a:spLocks noGrp="1"/>
          </p:cNvSpPr>
          <p:nvPr>
            <p:ph type="sldNum" sz="quarter" idx="12"/>
          </p:nvPr>
        </p:nvSpPr>
        <p:spPr/>
        <p:txBody>
          <a:bodyPr/>
          <a:lstStyle/>
          <a:p>
            <a:fld id="{E8B2053A-79C1-4C5C-AA77-91D5E8B79550}" type="slidenum">
              <a:rPr lang="en-US" smtClean="0"/>
              <a:pPr/>
              <a:t>‹#›</a:t>
            </a:fld>
            <a:endParaRPr lang="en-US"/>
          </a:p>
        </p:txBody>
      </p:sp>
    </p:spTree>
    <p:extLst>
      <p:ext uri="{BB962C8B-B14F-4D97-AF65-F5344CB8AC3E}">
        <p14:creationId xmlns:p14="http://schemas.microsoft.com/office/powerpoint/2010/main" val="3751942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hyperlink" Target="https://ieeexplore.ieee.org/document/5486198" TargetMode="External"/><Relationship Id="rId2" Type="http://schemas.openxmlformats.org/officeDocument/2006/relationships/hyperlink" Target="https://aclanthology.org/D19-1410" TargetMode="External"/><Relationship Id="rId1" Type="http://schemas.openxmlformats.org/officeDocument/2006/relationships/slideLayout" Target="../slideLayouts/slideLayout9.xml"/><Relationship Id="rId5" Type="http://schemas.openxmlformats.org/officeDocument/2006/relationships/hyperlink" Target="https://aclanthology.org/2024.naacl-long.362/?utm_source=chatgpt.com" TargetMode="External"/><Relationship Id="rId4" Type="http://schemas.openxmlformats.org/officeDocument/2006/relationships/hyperlink" Target="https://www.researchgate.net/publication/379452866_Semantic_Analysis_of_Legal_Document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686520" y="1143000"/>
            <a:ext cx="7771320" cy="843840"/>
          </a:xfrm>
          <a:prstGeom prst="rect">
            <a:avLst/>
          </a:prstGeom>
          <a:noFill/>
          <a:ln w="0">
            <a:noFill/>
          </a:ln>
        </p:spPr>
        <p:txBody>
          <a:bodyPr lIns="91440" tIns="45720" rIns="91440" bIns="45720" anchor="ctr">
            <a:normAutofit fontScale="90000"/>
          </a:bodyPr>
          <a:lstStyle/>
          <a:p>
            <a:pPr indent="0" algn="ctr" defTabSz="914400">
              <a:lnSpc>
                <a:spcPct val="100000"/>
              </a:lnSpc>
              <a:buNone/>
              <a:tabLst>
                <a:tab pos="0" algn="l"/>
              </a:tabLst>
            </a:pPr>
            <a:br>
              <a:rPr sz="2600"/>
            </a:br>
            <a:r>
              <a:rPr lang="en-US" sz="2600" b="1" u="none" strike="noStrike">
                <a:solidFill>
                  <a:srgbClr val="7030A0"/>
                </a:solidFill>
                <a:effectLst/>
                <a:uFillTx/>
                <a:latin typeface="Arial Black"/>
                <a:ea typeface="Calibri"/>
              </a:rPr>
              <a:t>Department of Computer Science and  Engineering</a:t>
            </a:r>
            <a:br>
              <a:rPr sz="2200"/>
            </a:br>
            <a:br>
              <a:rPr sz="2200"/>
            </a:br>
            <a:br>
              <a:rPr sz="2600"/>
            </a:br>
            <a:endParaRPr lang="en-US" sz="2600" b="0" u="none" strike="noStrike">
              <a:solidFill>
                <a:srgbClr val="000000"/>
              </a:solidFill>
              <a:effectLst/>
              <a:uFillTx/>
              <a:latin typeface="Arial"/>
            </a:endParaRPr>
          </a:p>
        </p:txBody>
      </p:sp>
      <p:sp>
        <p:nvSpPr>
          <p:cNvPr id="67" name="Title 1"/>
          <p:cNvSpPr/>
          <p:nvPr/>
        </p:nvSpPr>
        <p:spPr>
          <a:xfrm>
            <a:off x="457200" y="458280"/>
            <a:ext cx="8380800" cy="91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2800" b="1" u="none" strike="noStrike" dirty="0">
                <a:solidFill>
                  <a:srgbClr val="7030A0"/>
                </a:solidFill>
                <a:effectLst/>
                <a:uFillTx/>
                <a:latin typeface="Arial Rounded MT Bold"/>
                <a:ea typeface="Calibri"/>
              </a:rPr>
              <a:t>ANNA UNIVERSITY REGIONAL CAMPUS COIMBATORE</a:t>
            </a:r>
            <a:br>
              <a:rPr sz="1400" dirty="0"/>
            </a:br>
            <a:br>
              <a:rPr sz="2800" dirty="0"/>
            </a:br>
            <a:endParaRPr lang="en-US" sz="2800" b="0" u="none" strike="noStrike" dirty="0">
              <a:solidFill>
                <a:srgbClr val="000000"/>
              </a:solidFill>
              <a:effectLst/>
              <a:uFillTx/>
              <a:latin typeface="Arial"/>
            </a:endParaRPr>
          </a:p>
        </p:txBody>
      </p:sp>
      <p:sp>
        <p:nvSpPr>
          <p:cNvPr id="68" name="TextBox 2"/>
          <p:cNvSpPr/>
          <p:nvPr/>
        </p:nvSpPr>
        <p:spPr>
          <a:xfrm>
            <a:off x="588240" y="1828800"/>
            <a:ext cx="7847640" cy="233764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dirty="0">
                <a:solidFill>
                  <a:srgbClr val="C00000"/>
                </a:solidFill>
                <a:effectLst/>
                <a:uFillTx/>
                <a:latin typeface="Arial"/>
              </a:rPr>
              <a:t>AD3811 &amp; PROJECT WORK – (Jan –Apr 2026)</a:t>
            </a:r>
            <a:endParaRPr lang="en-US" sz="2000" b="0" u="none" strike="noStrike" dirty="0">
              <a:solidFill>
                <a:srgbClr val="000000"/>
              </a:solidFill>
              <a:effectLst/>
              <a:uFillTx/>
              <a:latin typeface="Arial"/>
            </a:endParaRPr>
          </a:p>
          <a:p>
            <a:pPr algn="ctr" defTabSz="914400">
              <a:lnSpc>
                <a:spcPct val="100000"/>
              </a:lnSpc>
            </a:pPr>
            <a:r>
              <a:rPr lang="en-US" sz="2000" b="1" u="none" strike="noStrike" dirty="0">
                <a:solidFill>
                  <a:srgbClr val="C00000"/>
                </a:solidFill>
                <a:effectLst/>
                <a:uFillTx/>
                <a:latin typeface="Arial"/>
              </a:rPr>
              <a:t>Final </a:t>
            </a:r>
            <a:r>
              <a:rPr lang="en-US" sz="2000" b="1" u="none" strike="noStrike" dirty="0" err="1">
                <a:solidFill>
                  <a:srgbClr val="C00000"/>
                </a:solidFill>
                <a:effectLst/>
                <a:uFillTx/>
                <a:latin typeface="Arial"/>
              </a:rPr>
              <a:t>B.Tech</a:t>
            </a:r>
            <a:r>
              <a:rPr lang="en-US" sz="2000" b="1" u="none" strike="noStrike" dirty="0">
                <a:solidFill>
                  <a:srgbClr val="C00000"/>
                </a:solidFill>
                <a:effectLst/>
                <a:uFillTx/>
                <a:latin typeface="Arial"/>
              </a:rPr>
              <a:t> (Artificial Intelligence and Data Science) </a:t>
            </a:r>
            <a:endParaRPr lang="en-US" sz="2000" b="0" u="none" strike="noStrike" dirty="0">
              <a:solidFill>
                <a:srgbClr val="000000"/>
              </a:solidFill>
              <a:effectLst/>
              <a:uFillTx/>
              <a:latin typeface="Arial"/>
            </a:endParaRPr>
          </a:p>
          <a:p>
            <a:pPr algn="ctr" defTabSz="914400">
              <a:lnSpc>
                <a:spcPct val="100000"/>
              </a:lnSpc>
            </a:pPr>
            <a:br>
              <a:rPr sz="2200" dirty="0"/>
            </a:br>
            <a:r>
              <a:rPr lang="en-US" sz="2200" b="0" u="none" strike="noStrike" dirty="0">
                <a:solidFill>
                  <a:srgbClr val="C00000"/>
                </a:solidFill>
                <a:effectLst/>
                <a:uFillTx/>
                <a:latin typeface="Arial"/>
              </a:rPr>
              <a:t>Title of the project :</a:t>
            </a:r>
            <a:br>
              <a:rPr sz="2200" dirty="0"/>
            </a:br>
            <a:r>
              <a:rPr lang="en-US" sz="2200" b="1" u="none" strike="noStrike" dirty="0">
                <a:solidFill>
                  <a:schemeClr val="dk1"/>
                </a:solidFill>
                <a:effectLst/>
                <a:uFillTx/>
                <a:latin typeface="Calibri"/>
              </a:rPr>
              <a:t>Semantic Integrity Analysis in Long-Context Information Systems</a:t>
            </a:r>
            <a:endParaRPr lang="en-US" sz="2200" b="0" u="none" strike="noStrike" dirty="0">
              <a:solidFill>
                <a:srgbClr val="000000"/>
              </a:solidFill>
              <a:effectLst/>
              <a:uFillTx/>
              <a:latin typeface="Arial"/>
            </a:endParaRPr>
          </a:p>
          <a:p>
            <a:pPr algn="ctr" defTabSz="914400">
              <a:lnSpc>
                <a:spcPct val="100000"/>
              </a:lnSpc>
            </a:pPr>
            <a:r>
              <a:rPr lang="en-US" dirty="0">
                <a:latin typeface="Calibri" panose="020F0502020204030204" pitchFamily="34" charset="0"/>
                <a:ea typeface="Calibri" panose="020F0502020204030204" pitchFamily="34" charset="0"/>
                <a:cs typeface="Calibri" panose="020F0502020204030204" pitchFamily="34" charset="0"/>
              </a:rPr>
              <a:t>PROJECT VIVA</a:t>
            </a:r>
            <a:br>
              <a:rPr sz="2000" dirty="0"/>
            </a:br>
            <a:r>
              <a:rPr lang="en-US" sz="2000" b="1" u="none" strike="noStrike" dirty="0">
                <a:solidFill>
                  <a:srgbClr val="6535EB"/>
                </a:solidFill>
                <a:effectLst/>
                <a:uFillTx/>
                <a:latin typeface="Times New Roman"/>
              </a:rPr>
              <a:t>Date :</a:t>
            </a:r>
            <a:r>
              <a:rPr lang="en-US" sz="2000" b="0" u="none" strike="noStrike" dirty="0">
                <a:solidFill>
                  <a:srgbClr val="6535EB"/>
                </a:solidFill>
                <a:effectLst/>
                <a:uFillTx/>
                <a:latin typeface="Times New Roman"/>
              </a:rPr>
              <a:t> 1</a:t>
            </a:r>
            <a:r>
              <a:rPr lang="en-US" sz="2000" dirty="0">
                <a:solidFill>
                  <a:srgbClr val="6535EB"/>
                </a:solidFill>
                <a:latin typeface="Times New Roman"/>
              </a:rPr>
              <a:t>2</a:t>
            </a:r>
            <a:r>
              <a:rPr lang="en-US" sz="2000" b="0" u="none" strike="noStrike" dirty="0">
                <a:solidFill>
                  <a:srgbClr val="6535EB"/>
                </a:solidFill>
                <a:effectLst/>
                <a:uFillTx/>
                <a:latin typeface="Times New Roman"/>
              </a:rPr>
              <a:t>.05.2026</a:t>
            </a:r>
            <a:endParaRPr lang="en-US" sz="2000" b="0" u="none" strike="noStrike" dirty="0">
              <a:solidFill>
                <a:srgbClr val="000000"/>
              </a:solidFill>
              <a:effectLst/>
              <a:uFillTx/>
              <a:latin typeface="Arial"/>
            </a:endParaRPr>
          </a:p>
        </p:txBody>
      </p:sp>
      <p:graphicFrame>
        <p:nvGraphicFramePr>
          <p:cNvPr id="69" name="Table 8"/>
          <p:cNvGraphicFramePr/>
          <p:nvPr/>
        </p:nvGraphicFramePr>
        <p:xfrm>
          <a:off x="38160" y="4521240"/>
          <a:ext cx="9067680" cy="1996200"/>
        </p:xfrm>
        <a:graphic>
          <a:graphicData uri="http://schemas.openxmlformats.org/drawingml/2006/table">
            <a:tbl>
              <a:tblPr/>
              <a:tblGrid>
                <a:gridCol w="4533840">
                  <a:extLst>
                    <a:ext uri="{9D8B030D-6E8A-4147-A177-3AD203B41FA5}">
                      <a16:colId xmlns:a16="http://schemas.microsoft.com/office/drawing/2014/main" val="20000"/>
                    </a:ext>
                  </a:extLst>
                </a:gridCol>
                <a:gridCol w="4533840">
                  <a:extLst>
                    <a:ext uri="{9D8B030D-6E8A-4147-A177-3AD203B41FA5}">
                      <a16:colId xmlns:a16="http://schemas.microsoft.com/office/drawing/2014/main" val="20001"/>
                    </a:ext>
                  </a:extLst>
                </a:gridCol>
              </a:tblGrid>
              <a:tr h="533160">
                <a:tc>
                  <a:txBody>
                    <a:bodyPr/>
                    <a:lstStyle/>
                    <a:p>
                      <a:pPr defTabSz="914400">
                        <a:lnSpc>
                          <a:spcPct val="100000"/>
                        </a:lnSpc>
                      </a:pPr>
                      <a:r>
                        <a:rPr lang="en-US" sz="1800" b="0" u="none" strike="noStrike">
                          <a:solidFill>
                            <a:schemeClr val="dk1"/>
                          </a:solidFill>
                          <a:effectLst/>
                          <a:uFillTx/>
                          <a:latin typeface="Times New Roman"/>
                        </a:rPr>
                        <a:t>Project Guide Name/Designation:</a:t>
                      </a:r>
                      <a:endParaRPr lang="en-US" sz="1800" b="0" u="none" strike="noStrike">
                        <a:solidFill>
                          <a:srgbClr val="000000"/>
                        </a:solidFill>
                        <a:effectLst/>
                        <a:uFillTx/>
                        <a:latin typeface="Arial"/>
                      </a:endParaRPr>
                    </a:p>
                  </a:txBody>
                  <a:tcP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tabLst>
                          <a:tab pos="0" algn="l"/>
                        </a:tabLst>
                      </a:pPr>
                      <a:r>
                        <a:rPr lang="en-US" sz="1800" b="1" u="none" strike="noStrike" dirty="0" err="1">
                          <a:solidFill>
                            <a:schemeClr val="dk1"/>
                          </a:solidFill>
                          <a:effectLst/>
                          <a:uFillTx/>
                          <a:latin typeface="Times New Roman"/>
                        </a:rPr>
                        <a:t>Dr.P.Marikkannu</a:t>
                      </a:r>
                      <a:r>
                        <a:rPr lang="en-US" sz="1800" b="1" u="none" strike="noStrike" dirty="0">
                          <a:solidFill>
                            <a:schemeClr val="dk1"/>
                          </a:solidFill>
                          <a:effectLst/>
                          <a:uFillTx/>
                          <a:latin typeface="Times New Roman"/>
                        </a:rPr>
                        <a:t> /Assistant Professor / CSE</a:t>
                      </a:r>
                      <a:endParaRPr lang="en-US" sz="1800" b="0" u="none" strike="noStrike" dirty="0">
                        <a:solidFill>
                          <a:srgbClr val="000000"/>
                        </a:solidFill>
                        <a:effectLst/>
                        <a:uFillTx/>
                        <a:latin typeface="Arial"/>
                      </a:endParaRPr>
                    </a:p>
                  </a:txBody>
                  <a:tcP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0"/>
                  </a:ext>
                </a:extLst>
              </a:tr>
              <a:tr h="517680">
                <a:tc>
                  <a:txBody>
                    <a:bodyPr/>
                    <a:lstStyle/>
                    <a:p>
                      <a:pPr defTabSz="914400">
                        <a:lnSpc>
                          <a:spcPct val="100000"/>
                        </a:lnSpc>
                      </a:pPr>
                      <a:r>
                        <a:rPr lang="en-US" sz="1800" b="0" u="none" strike="noStrike" dirty="0">
                          <a:solidFill>
                            <a:schemeClr val="dk1"/>
                          </a:solidFill>
                          <a:effectLst/>
                          <a:uFillTx/>
                          <a:latin typeface="Times New Roman"/>
                        </a:rPr>
                        <a:t>Name and Register Number of Students:</a:t>
                      </a:r>
                      <a:endParaRPr lang="en-US" sz="1800" b="0" u="none" strike="noStrike" dirty="0">
                        <a:solidFill>
                          <a:srgbClr val="000000"/>
                        </a:solidFill>
                        <a:effectLst/>
                        <a:uFillTx/>
                        <a:latin typeface="Arial"/>
                      </a:endParaRPr>
                    </a:p>
                  </a:txBody>
                  <a:tcPr>
                    <a:lnL w="12240">
                      <a:noFill/>
                      <a:prstDash val="solid"/>
                    </a:lnL>
                    <a:lnR w="12240">
                      <a:noFill/>
                      <a:prstDash val="solid"/>
                    </a:lnR>
                    <a:lnT w="12240">
                      <a:noFill/>
                      <a:prstDash val="solid"/>
                    </a:lnT>
                    <a:lnB w="12240">
                      <a:noFill/>
                      <a:prstDash val="solid"/>
                    </a:lnB>
                    <a:noFill/>
                  </a:tcPr>
                </a:tc>
                <a:tc>
                  <a:txBody>
                    <a:bodyPr/>
                    <a:lstStyle/>
                    <a:p>
                      <a:pPr defTabSz="914400">
                        <a:lnSpc>
                          <a:spcPct val="100000"/>
                        </a:lnSpc>
                      </a:pPr>
                      <a:r>
                        <a:rPr lang="en-US" sz="1800" b="1" u="none" strike="noStrike" dirty="0">
                          <a:solidFill>
                            <a:schemeClr val="dk1"/>
                          </a:solidFill>
                          <a:effectLst/>
                          <a:uFillTx/>
                          <a:latin typeface="Times New Roman"/>
                        </a:rPr>
                        <a:t>Mythili M (710022243026)</a:t>
                      </a:r>
                      <a:endParaRPr lang="en-US" sz="1800" b="0" u="none" strike="noStrike" dirty="0">
                        <a:solidFill>
                          <a:srgbClr val="000000"/>
                        </a:solidFill>
                        <a:effectLst/>
                        <a:uFillTx/>
                        <a:latin typeface="Arial"/>
                      </a:endParaRPr>
                    </a:p>
                    <a:p>
                      <a:pPr defTabSz="914400">
                        <a:lnSpc>
                          <a:spcPct val="100000"/>
                        </a:lnSpc>
                        <a:tabLst>
                          <a:tab pos="0" algn="l"/>
                        </a:tabLst>
                      </a:pPr>
                      <a:r>
                        <a:rPr lang="en-US" sz="1800" b="1" u="none" strike="noStrike" dirty="0">
                          <a:solidFill>
                            <a:schemeClr val="dk1"/>
                          </a:solidFill>
                          <a:effectLst/>
                          <a:uFillTx/>
                          <a:latin typeface="Times New Roman"/>
                        </a:rPr>
                        <a:t>Jayasree S (710022243017)</a:t>
                      </a:r>
                      <a:endParaRPr lang="en-US" sz="1800" b="0" u="none" strike="noStrike" dirty="0">
                        <a:solidFill>
                          <a:srgbClr val="000000"/>
                        </a:solidFill>
                        <a:effectLst/>
                        <a:uFillTx/>
                        <a:latin typeface="Arial"/>
                      </a:endParaRPr>
                    </a:p>
                    <a:p>
                      <a:pPr defTabSz="914400">
                        <a:lnSpc>
                          <a:spcPct val="100000"/>
                        </a:lnSpc>
                        <a:tabLst>
                          <a:tab pos="0" algn="l"/>
                        </a:tabLst>
                      </a:pPr>
                      <a:r>
                        <a:rPr lang="en-US" sz="1800" b="1" u="none" strike="noStrike" dirty="0">
                          <a:solidFill>
                            <a:schemeClr val="dk1"/>
                          </a:solidFill>
                          <a:effectLst/>
                          <a:uFillTx/>
                          <a:latin typeface="Times New Roman"/>
                        </a:rPr>
                        <a:t>Rekha G (710022243013)</a:t>
                      </a:r>
                      <a:endParaRPr lang="en-US" sz="1800" b="0" u="none" strike="noStrike" dirty="0">
                        <a:solidFill>
                          <a:srgbClr val="000000"/>
                        </a:solidFill>
                        <a:effectLst/>
                        <a:uFillTx/>
                        <a:latin typeface="Arial"/>
                      </a:endParaRPr>
                    </a:p>
                    <a:p>
                      <a:pPr defTabSz="914400">
                        <a:lnSpc>
                          <a:spcPct val="100000"/>
                        </a:lnSpc>
                        <a:tabLst>
                          <a:tab pos="0" algn="l"/>
                        </a:tabLst>
                      </a:pPr>
                      <a:r>
                        <a:rPr lang="en-US" sz="1800" b="1" u="none" strike="noStrike" dirty="0">
                          <a:solidFill>
                            <a:schemeClr val="dk1"/>
                          </a:solidFill>
                          <a:effectLst/>
                          <a:uFillTx/>
                          <a:latin typeface="Times New Roman"/>
                        </a:rPr>
                        <a:t>Sowndarya A (710022243028)</a:t>
                      </a:r>
                      <a:endParaRPr lang="en-US" sz="1800" b="0" u="none" strike="noStrike" dirty="0">
                        <a:solidFill>
                          <a:srgbClr val="000000"/>
                        </a:solidFill>
                        <a:effectLst/>
                        <a:uFillTx/>
                        <a:latin typeface="Arial"/>
                      </a:endParaRPr>
                    </a:p>
                    <a:p>
                      <a:pPr defTabSz="914400">
                        <a:lnSpc>
                          <a:spcPct val="100000"/>
                        </a:lnSpc>
                        <a:tabLst>
                          <a:tab pos="0" algn="l"/>
                        </a:tabLst>
                      </a:pPr>
                      <a:endParaRPr lang="en-US" sz="1800" b="0" u="none" strike="noStrike" dirty="0">
                        <a:solidFill>
                          <a:srgbClr val="000000"/>
                        </a:solidFill>
                        <a:effectLst/>
                        <a:uFillTx/>
                        <a:latin typeface="Arial"/>
                      </a:endParaRPr>
                    </a:p>
                  </a:txBody>
                  <a:tcPr>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28600"/>
            <a:ext cx="8228520" cy="562320"/>
          </a:xfrm>
          <a:prstGeom prst="rect">
            <a:avLst/>
          </a:prstGeom>
          <a:solidFill>
            <a:srgbClr val="6535EB"/>
          </a:solidFill>
          <a:ln w="0">
            <a:noFill/>
          </a:ln>
        </p:spPr>
        <p:txBody>
          <a:bodyPr lIns="91440" tIns="45720" rIns="91440" bIns="45720" anchor="ctr">
            <a:noAutofit/>
          </a:bodyPr>
          <a:lstStyle/>
          <a:p>
            <a:pPr indent="0" algn="ctr" defTabSz="914400">
              <a:lnSpc>
                <a:spcPct val="100000"/>
              </a:lnSpc>
              <a:buNone/>
              <a:tabLst>
                <a:tab pos="0" algn="l"/>
              </a:tabLst>
            </a:pPr>
            <a:r>
              <a:rPr lang="en-US" sz="3600" b="1" u="none" strike="noStrike" dirty="0">
                <a:solidFill>
                  <a:schemeClr val="lt1"/>
                </a:solidFill>
                <a:effectLst/>
                <a:uFillTx/>
                <a:latin typeface="Arial Black"/>
              </a:rPr>
              <a:t>AGENDA</a:t>
            </a:r>
            <a:endParaRPr lang="en-US" sz="2800" b="0" u="none" strike="noStrike" dirty="0">
              <a:solidFill>
                <a:srgbClr val="FFFFFF"/>
              </a:solidFill>
              <a:effectLst/>
              <a:uFillTx/>
              <a:latin typeface="Arial"/>
            </a:endParaRPr>
          </a:p>
        </p:txBody>
      </p:sp>
      <p:sp>
        <p:nvSpPr>
          <p:cNvPr id="72" name="Rectangle 71"/>
          <p:cNvSpPr/>
          <p:nvPr/>
        </p:nvSpPr>
        <p:spPr>
          <a:xfrm>
            <a:off x="685080" y="993058"/>
            <a:ext cx="8000640" cy="670807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15000"/>
              </a:lnSpc>
              <a:buClr>
                <a:srgbClr val="000000"/>
              </a:buClr>
              <a:buSzPct val="45000"/>
              <a:buFont typeface="Wingdings" charset="2"/>
              <a:buChar char=""/>
            </a:pPr>
            <a:r>
              <a:rPr lang="en-IN" sz="2000" b="1" u="none" strike="noStrike" dirty="0">
                <a:solidFill>
                  <a:schemeClr val="dk1"/>
                </a:solidFill>
                <a:effectLst/>
                <a:uFillTx/>
                <a:latin typeface="Arial"/>
              </a:rPr>
              <a:t>INTRODUCTION</a:t>
            </a:r>
            <a:endParaRPr lang="en-US" sz="2000" b="0" u="none" strike="noStrike" dirty="0">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IN" sz="2000" b="1" u="none" strike="noStrike" dirty="0">
                <a:solidFill>
                  <a:schemeClr val="dk1"/>
                </a:solidFill>
                <a:effectLst/>
                <a:uFillTx/>
                <a:latin typeface="Arial"/>
              </a:rPr>
              <a:t>PROBLEM STATEMENT</a:t>
            </a:r>
            <a:endParaRPr lang="en-US" sz="2000" b="0" u="none" strike="noStrike" dirty="0">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US" sz="2000" b="1" u="none" strike="noStrike" dirty="0">
                <a:solidFill>
                  <a:schemeClr val="dk1"/>
                </a:solidFill>
                <a:effectLst/>
                <a:uFillTx/>
                <a:latin typeface="Arial"/>
              </a:rPr>
              <a:t>ABSTRACT</a:t>
            </a:r>
          </a:p>
          <a:p>
            <a:pPr marL="216000" indent="-216000">
              <a:lnSpc>
                <a:spcPct val="115000"/>
              </a:lnSpc>
              <a:buClr>
                <a:srgbClr val="000000"/>
              </a:buClr>
              <a:buSzPct val="45000"/>
              <a:buFont typeface="Wingdings" charset="2"/>
              <a:buChar char=""/>
            </a:pPr>
            <a:r>
              <a:rPr lang="en-US" sz="2000" b="1" dirty="0">
                <a:solidFill>
                  <a:schemeClr val="dk1"/>
                </a:solidFill>
                <a:latin typeface="Arial"/>
              </a:rPr>
              <a:t>OBJECTIVE</a:t>
            </a:r>
          </a:p>
          <a:p>
            <a:pPr marL="216000" indent="-216000">
              <a:lnSpc>
                <a:spcPct val="115000"/>
              </a:lnSpc>
              <a:buClr>
                <a:srgbClr val="000000"/>
              </a:buClr>
              <a:buSzPct val="45000"/>
              <a:buFont typeface="Wingdings" charset="2"/>
              <a:buChar char=""/>
            </a:pPr>
            <a:r>
              <a:rPr lang="en-US" sz="2000" b="1" u="none" strike="noStrike" dirty="0">
                <a:solidFill>
                  <a:schemeClr val="dk1"/>
                </a:solidFill>
                <a:effectLst/>
                <a:uFillTx/>
                <a:latin typeface="Arial"/>
              </a:rPr>
              <a:t>LITERATURE SURVEY</a:t>
            </a:r>
          </a:p>
          <a:p>
            <a:pPr marL="216000" indent="-216000">
              <a:lnSpc>
                <a:spcPct val="115000"/>
              </a:lnSpc>
              <a:buClr>
                <a:srgbClr val="000000"/>
              </a:buClr>
              <a:buSzPct val="45000"/>
              <a:buFont typeface="Wingdings" charset="2"/>
              <a:buChar char=""/>
            </a:pPr>
            <a:r>
              <a:rPr lang="en-US" sz="2000" b="1" dirty="0">
                <a:solidFill>
                  <a:schemeClr val="dk1"/>
                </a:solidFill>
                <a:latin typeface="Arial"/>
              </a:rPr>
              <a:t>ARCHITECTURE DIAGRAM</a:t>
            </a:r>
          </a:p>
          <a:p>
            <a:pPr marL="216000" indent="-216000">
              <a:lnSpc>
                <a:spcPct val="115000"/>
              </a:lnSpc>
              <a:buClr>
                <a:srgbClr val="000000"/>
              </a:buClr>
              <a:buSzPct val="45000"/>
              <a:buFont typeface="Wingdings" charset="2"/>
              <a:buChar char=""/>
            </a:pPr>
            <a:r>
              <a:rPr lang="en-US" sz="2000" b="1" dirty="0">
                <a:solidFill>
                  <a:srgbClr val="000000"/>
                </a:solidFill>
                <a:latin typeface="Arial"/>
              </a:rPr>
              <a:t>PROPOSED WORK</a:t>
            </a:r>
          </a:p>
          <a:p>
            <a:pPr marL="216000" indent="-216000">
              <a:lnSpc>
                <a:spcPct val="115000"/>
              </a:lnSpc>
              <a:buClr>
                <a:srgbClr val="000000"/>
              </a:buClr>
              <a:buSzPct val="45000"/>
              <a:buFont typeface="Wingdings" charset="2"/>
              <a:buChar char=""/>
            </a:pPr>
            <a:r>
              <a:rPr lang="en-US" sz="2000" b="1" dirty="0">
                <a:latin typeface="Arial" panose="020B0604020202020204" pitchFamily="34" charset="0"/>
                <a:cs typeface="Arial" panose="020B0604020202020204" pitchFamily="34" charset="0"/>
              </a:rPr>
              <a:t>ALGORITHMS/TECHNIQUES</a:t>
            </a:r>
            <a:endParaRPr lang="en-US" sz="2000" b="1" u="none" strike="noStrike" dirty="0">
              <a:effectLst/>
              <a:uFillTx/>
              <a:latin typeface="Arial" panose="020B0604020202020204" pitchFamily="34" charset="0"/>
              <a:cs typeface="Arial" panose="020B0604020202020204" pitchFamily="34" charset="0"/>
            </a:endParaRPr>
          </a:p>
          <a:p>
            <a:pPr marL="216000" indent="-216000">
              <a:lnSpc>
                <a:spcPct val="115000"/>
              </a:lnSpc>
              <a:buClr>
                <a:srgbClr val="000000"/>
              </a:buClr>
              <a:buSzPct val="45000"/>
              <a:buFont typeface="Wingdings" charset="2"/>
              <a:buChar char=""/>
            </a:pPr>
            <a:r>
              <a:rPr lang="en-US" sz="2000" b="1" u="none" strike="noStrike" dirty="0">
                <a:solidFill>
                  <a:schemeClr val="dk1"/>
                </a:solidFill>
                <a:effectLst/>
                <a:uFillTx/>
                <a:latin typeface="Arial"/>
              </a:rPr>
              <a:t>MATERIALS &amp; METHODS</a:t>
            </a:r>
          </a:p>
          <a:p>
            <a:pPr marL="216000" indent="-216000">
              <a:lnSpc>
                <a:spcPct val="115000"/>
              </a:lnSpc>
              <a:buClr>
                <a:srgbClr val="000000"/>
              </a:buClr>
              <a:buSzPct val="45000"/>
              <a:buFont typeface="Wingdings" charset="2"/>
              <a:buChar char=""/>
            </a:pPr>
            <a:r>
              <a:rPr lang="en-US" sz="2000" b="1" dirty="0">
                <a:solidFill>
                  <a:schemeClr val="dk1"/>
                </a:solidFill>
                <a:latin typeface="Arial"/>
              </a:rPr>
              <a:t>OVERALL SYSTEM DESIGN</a:t>
            </a:r>
            <a:endParaRPr lang="en-US" sz="2000" b="0" u="none" strike="noStrike" dirty="0">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US" sz="2000" b="1" u="none" strike="noStrike" dirty="0">
                <a:solidFill>
                  <a:schemeClr val="dk1"/>
                </a:solidFill>
                <a:effectLst/>
                <a:uFillTx/>
                <a:latin typeface="Arial"/>
              </a:rPr>
              <a:t>MODULE IMPLEMENTATION</a:t>
            </a:r>
            <a:endParaRPr lang="en-US" sz="2000" b="0" u="none" strike="noStrike" dirty="0">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US" sz="2000" b="1" u="none" strike="noStrike" dirty="0">
                <a:solidFill>
                  <a:schemeClr val="dk1"/>
                </a:solidFill>
                <a:effectLst/>
                <a:uFillTx/>
                <a:latin typeface="Arial"/>
              </a:rPr>
              <a:t>EXPERIMENTAL RESULTS</a:t>
            </a:r>
            <a:endParaRPr lang="en-US" sz="2000" b="0" u="none" strike="noStrike" dirty="0">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US" sz="2000" b="1" u="none" strike="noStrike" dirty="0">
                <a:solidFill>
                  <a:schemeClr val="dk1"/>
                </a:solidFill>
                <a:effectLst/>
                <a:uFillTx/>
                <a:latin typeface="Arial"/>
              </a:rPr>
              <a:t>PERFORMANCE EVALUATION</a:t>
            </a:r>
            <a:endParaRPr lang="en-US" sz="2000" b="0" u="none" strike="noStrike" dirty="0">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US" sz="2000" b="1" u="none" strike="noStrike" dirty="0">
                <a:solidFill>
                  <a:schemeClr val="dk1"/>
                </a:solidFill>
                <a:effectLst/>
                <a:uFillTx/>
                <a:latin typeface="Arial"/>
              </a:rPr>
              <a:t>SCREENSHOTS</a:t>
            </a:r>
            <a:endParaRPr lang="en-US" sz="2000" b="0" u="none" strike="noStrike" dirty="0">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US" sz="2000" b="1" u="none" strike="noStrike" dirty="0">
                <a:solidFill>
                  <a:schemeClr val="dk1"/>
                </a:solidFill>
                <a:effectLst/>
                <a:uFillTx/>
                <a:latin typeface="Arial"/>
              </a:rPr>
              <a:t>REFERENCES</a:t>
            </a:r>
            <a:endParaRPr lang="en-US" sz="2000" b="0" u="none" strike="noStrike" dirty="0">
              <a:solidFill>
                <a:srgbClr val="000000"/>
              </a:solidFill>
              <a:effectLst/>
              <a:uFillTx/>
              <a:latin typeface="Arial"/>
            </a:endParaRPr>
          </a:p>
          <a:p>
            <a:pPr marL="216000" indent="-216000">
              <a:lnSpc>
                <a:spcPct val="115000"/>
              </a:lnSpc>
              <a:buClr>
                <a:srgbClr val="000000"/>
              </a:buClr>
              <a:buSzPct val="45000"/>
              <a:buFont typeface="Wingdings" charset="2"/>
              <a:buChar char=""/>
            </a:pPr>
            <a:r>
              <a:rPr lang="en-US" sz="2000" b="1" u="none" strike="noStrike" dirty="0">
                <a:solidFill>
                  <a:schemeClr val="dk1"/>
                </a:solidFill>
                <a:effectLst/>
                <a:uFillTx/>
                <a:latin typeface="Arial"/>
              </a:rPr>
              <a:t>CONCLUSION</a:t>
            </a:r>
            <a:endParaRPr lang="en-US" sz="2000" b="0" u="none" strike="noStrike" dirty="0">
              <a:solidFill>
                <a:srgbClr val="000000"/>
              </a:solidFill>
              <a:effectLst/>
              <a:uFillTx/>
              <a:latin typeface="Arial"/>
            </a:endParaRPr>
          </a:p>
          <a:p>
            <a:pPr>
              <a:lnSpc>
                <a:spcPct val="100000"/>
              </a:lnSpc>
            </a:pPr>
            <a:endParaRPr lang="en-US" sz="3100" b="0" u="none" strike="noStrike" dirty="0">
              <a:solidFill>
                <a:srgbClr val="000000"/>
              </a:solidFill>
              <a:effectLst/>
              <a:uFillTx/>
              <a:latin typeface="Arial"/>
            </a:endParaRPr>
          </a:p>
          <a:p>
            <a:pPr>
              <a:lnSpc>
                <a:spcPct val="100000"/>
              </a:lnSpc>
            </a:pPr>
            <a:endParaRPr lang="en-US" sz="3100" b="0" u="none" strike="noStrike" dirty="0">
              <a:solidFill>
                <a:srgbClr val="000000"/>
              </a:solidFill>
              <a:effectLst/>
              <a:uFillTx/>
              <a:latin typeface="Arial"/>
            </a:endParaRPr>
          </a:p>
        </p:txBody>
      </p:sp>
      <p:sp>
        <p:nvSpPr>
          <p:cNvPr id="4" name="PlaceHolder 3"/>
          <p:cNvSpPr>
            <a:spLocks noGrp="1"/>
          </p:cNvSpPr>
          <p:nvPr>
            <p:ph type="sldNum" idx="27"/>
          </p:nvPr>
        </p:nvSpPr>
        <p:spPr/>
        <p:txBody>
          <a:bodyPr/>
          <a:lstStyle/>
          <a:p>
            <a:fld id="{80B5DE47-9DCB-45DE-9044-AF68E6A15EAB}"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28600"/>
            <a:ext cx="8228520" cy="562320"/>
          </a:xfrm>
          <a:prstGeom prst="rect">
            <a:avLst/>
          </a:prstGeom>
          <a:solidFill>
            <a:srgbClr val="6535EB"/>
          </a:solidFill>
          <a:ln w="0">
            <a:noFill/>
          </a:ln>
        </p:spPr>
        <p:txBody>
          <a:bodyPr lIns="91440" tIns="45720" rIns="91440" bIns="45720" anchor="ctr">
            <a:noAutofit/>
          </a:bodyPr>
          <a:lstStyle/>
          <a:p>
            <a:pPr indent="0" algn="ctr" defTabSz="914400">
              <a:lnSpc>
                <a:spcPct val="100000"/>
              </a:lnSpc>
              <a:buNone/>
              <a:tabLst>
                <a:tab pos="0" algn="l"/>
              </a:tabLst>
            </a:pPr>
            <a:r>
              <a:rPr lang="en-IN" sz="3600" b="1" u="none" strike="noStrike">
                <a:solidFill>
                  <a:schemeClr val="lt1"/>
                </a:solidFill>
                <a:effectLst/>
                <a:uFillTx/>
                <a:latin typeface="Arial Black"/>
              </a:rPr>
              <a:t>INTRODUCTION</a:t>
            </a:r>
            <a:endParaRPr lang="en-US" sz="3600" b="0" u="none" strike="noStrike">
              <a:solidFill>
                <a:srgbClr val="FFFFFF"/>
              </a:solidFill>
              <a:effectLst/>
              <a:uFillTx/>
              <a:latin typeface="Arial"/>
            </a:endParaRPr>
          </a:p>
        </p:txBody>
      </p:sp>
      <p:sp>
        <p:nvSpPr>
          <p:cNvPr id="74" name="PlaceHolder 2"/>
          <p:cNvSpPr>
            <a:spLocks noGrp="1"/>
          </p:cNvSpPr>
          <p:nvPr>
            <p:ph/>
          </p:nvPr>
        </p:nvSpPr>
        <p:spPr>
          <a:xfrm>
            <a:off x="457200" y="1549440"/>
            <a:ext cx="8228520" cy="4677120"/>
          </a:xfrm>
          <a:prstGeom prst="rect">
            <a:avLst/>
          </a:prstGeom>
          <a:noFill/>
          <a:ln w="0">
            <a:noFill/>
          </a:ln>
        </p:spPr>
        <p:txBody>
          <a:bodyPr lIns="91440" tIns="45720" rIns="91440" bIns="45720" anchor="t">
            <a:noAutofit/>
          </a:bodyPr>
          <a:lstStyle/>
          <a:p>
            <a:pPr marL="343080" indent="-343080" algn="just" defTabSz="914400">
              <a:lnSpc>
                <a:spcPct val="100000"/>
              </a:lnSpc>
              <a:spcBef>
                <a:spcPts val="479"/>
              </a:spcBef>
              <a:buClr>
                <a:srgbClr val="000000"/>
              </a:buClr>
              <a:buFont typeface="Arial"/>
              <a:buChar char="•"/>
            </a:pPr>
            <a:r>
              <a:rPr lang="en-US" sz="1900" b="0" u="none" strike="noStrike" dirty="0">
                <a:solidFill>
                  <a:schemeClr val="dk1"/>
                </a:solidFill>
                <a:effectLst/>
                <a:uFillTx/>
                <a:latin typeface="Cambria"/>
                <a:ea typeface="Cambria"/>
              </a:rPr>
              <a:t>Legal documents such as contracts, agreements, and policies often span multiple sections and pages. During drafting or revision, repeated clauses, conflicting terms, or partially updated information may be introduced, leading to duplication, contradictions, and logical inconsistencies.</a:t>
            </a:r>
            <a:endParaRPr lang="en-US" sz="1900" b="0" u="none" strike="noStrike" dirty="0">
              <a:solidFill>
                <a:srgbClr val="000000"/>
              </a:solidFill>
              <a:effectLst/>
              <a:uFillTx/>
              <a:latin typeface="Arial"/>
            </a:endParaRPr>
          </a:p>
          <a:p>
            <a:pPr indent="0" algn="just" defTabSz="914400">
              <a:lnSpc>
                <a:spcPct val="100000"/>
              </a:lnSpc>
              <a:spcBef>
                <a:spcPts val="479"/>
              </a:spcBef>
              <a:buNone/>
              <a:tabLst>
                <a:tab pos="0" algn="l"/>
              </a:tabLst>
            </a:pPr>
            <a:endParaRPr lang="en-US" sz="1900" b="0" u="none" strike="noStrike" dirty="0">
              <a:solidFill>
                <a:srgbClr val="000000"/>
              </a:solidFill>
              <a:effectLst/>
              <a:uFillTx/>
              <a:latin typeface="Arial"/>
            </a:endParaRPr>
          </a:p>
          <a:p>
            <a:pPr marL="343080" indent="-343080" algn="just" defTabSz="914400">
              <a:lnSpc>
                <a:spcPct val="100000"/>
              </a:lnSpc>
              <a:spcBef>
                <a:spcPts val="479"/>
              </a:spcBef>
              <a:buClr>
                <a:srgbClr val="000000"/>
              </a:buClr>
              <a:buFont typeface="Arial"/>
              <a:buChar char="•"/>
              <a:tabLst>
                <a:tab pos="0" algn="l"/>
              </a:tabLst>
            </a:pPr>
            <a:r>
              <a:rPr lang="en-US" sz="1900" b="0" u="none" strike="noStrike" dirty="0">
                <a:solidFill>
                  <a:schemeClr val="dk1"/>
                </a:solidFill>
                <a:effectLst/>
                <a:uFillTx/>
                <a:latin typeface="Cambria"/>
                <a:ea typeface="Cambria"/>
              </a:rPr>
              <a:t>Manual document verification is time-consuming and error-prone, especially for large or frequently updated documents. Existing automated tools rely on keyword-based or local text analysis and fail to capture semantic meaning and global document coherence, leaving many inconsistencies undetected.</a:t>
            </a:r>
            <a:endParaRPr lang="en-US" sz="1900" b="0" u="none" strike="noStrike" dirty="0">
              <a:solidFill>
                <a:srgbClr val="000000"/>
              </a:solidFill>
              <a:effectLst/>
              <a:uFillTx/>
              <a:latin typeface="Arial"/>
            </a:endParaRPr>
          </a:p>
          <a:p>
            <a:pPr indent="0" algn="just" defTabSz="914400">
              <a:lnSpc>
                <a:spcPct val="100000"/>
              </a:lnSpc>
              <a:spcBef>
                <a:spcPts val="479"/>
              </a:spcBef>
              <a:buNone/>
              <a:tabLst>
                <a:tab pos="0" algn="l"/>
              </a:tabLst>
            </a:pPr>
            <a:endParaRPr lang="en-US" sz="1900" b="0" u="none" strike="noStrike" dirty="0">
              <a:solidFill>
                <a:srgbClr val="000000"/>
              </a:solidFill>
              <a:effectLst/>
              <a:uFillTx/>
              <a:latin typeface="Arial"/>
            </a:endParaRPr>
          </a:p>
          <a:p>
            <a:pPr marL="343080" indent="-343080" algn="just" defTabSz="914400">
              <a:lnSpc>
                <a:spcPct val="100000"/>
              </a:lnSpc>
              <a:spcBef>
                <a:spcPts val="479"/>
              </a:spcBef>
              <a:buClr>
                <a:srgbClr val="000000"/>
              </a:buClr>
              <a:buFont typeface="Arial"/>
              <a:buChar char="•"/>
              <a:tabLst>
                <a:tab pos="0" algn="l"/>
              </a:tabLst>
            </a:pPr>
            <a:r>
              <a:rPr lang="en-US" sz="1900" b="0" u="none" strike="noStrike" dirty="0">
                <a:solidFill>
                  <a:schemeClr val="dk1"/>
                </a:solidFill>
                <a:effectLst/>
                <a:uFillTx/>
                <a:latin typeface="Cambria"/>
                <a:ea typeface="Cambria"/>
              </a:rPr>
              <a:t>This project proposes an AI-based system that uses long-context semantic analysis to detect duplication, contradictions, and inconsistencies in documents, improving reliability and reducing manual effort.</a:t>
            </a:r>
            <a:endParaRPr lang="en-US" sz="1900" b="0" u="none" strike="noStrike" dirty="0">
              <a:solidFill>
                <a:srgbClr val="000000"/>
              </a:solidFill>
              <a:effectLst/>
              <a:uFillTx/>
              <a:latin typeface="Arial"/>
            </a:endParaRPr>
          </a:p>
          <a:p>
            <a:pPr indent="0" defTabSz="914400">
              <a:lnSpc>
                <a:spcPct val="100000"/>
              </a:lnSpc>
              <a:spcBef>
                <a:spcPts val="400"/>
              </a:spcBef>
              <a:buNone/>
              <a:tabLst>
                <a:tab pos="0" algn="l"/>
              </a:tabLst>
            </a:pPr>
            <a:endParaRPr lang="en-US" sz="1900" b="0" u="none" strike="noStrike" dirty="0">
              <a:solidFill>
                <a:srgbClr val="000000"/>
              </a:solidFill>
              <a:effectLst/>
              <a:uFillTx/>
              <a:latin typeface="Arial"/>
            </a:endParaRPr>
          </a:p>
        </p:txBody>
      </p:sp>
      <p:sp>
        <p:nvSpPr>
          <p:cNvPr id="4" name="PlaceHolder 3"/>
          <p:cNvSpPr>
            <a:spLocks noGrp="1"/>
          </p:cNvSpPr>
          <p:nvPr>
            <p:ph type="sldNum" idx="27"/>
          </p:nvPr>
        </p:nvSpPr>
        <p:spPr/>
        <p:txBody>
          <a:bodyPr/>
          <a:lstStyle/>
          <a:p>
            <a:fld id="{C97B3B4F-E392-4A04-8706-FA46DBB0CF79}"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28600"/>
            <a:ext cx="8228520" cy="562320"/>
          </a:xfrm>
          <a:prstGeom prst="rect">
            <a:avLst/>
          </a:prstGeom>
          <a:solidFill>
            <a:srgbClr val="6535EB"/>
          </a:solidFill>
          <a:ln w="0">
            <a:noFill/>
          </a:ln>
        </p:spPr>
        <p:txBody>
          <a:bodyPr lIns="91440" tIns="45720" rIns="91440" bIns="45720" anchor="ctr">
            <a:noAutofit/>
          </a:bodyPr>
          <a:lstStyle/>
          <a:p>
            <a:pPr indent="0" algn="ctr" defTabSz="914400">
              <a:lnSpc>
                <a:spcPct val="100000"/>
              </a:lnSpc>
              <a:buNone/>
              <a:tabLst>
                <a:tab pos="0" algn="l"/>
              </a:tabLst>
            </a:pPr>
            <a:r>
              <a:rPr lang="en-IN" sz="3600" b="1" u="none" strike="noStrike">
                <a:solidFill>
                  <a:schemeClr val="lt1"/>
                </a:solidFill>
                <a:effectLst/>
                <a:uFillTx/>
                <a:latin typeface="Arial Black"/>
              </a:rPr>
              <a:t>PROBLEM STATEMENT</a:t>
            </a:r>
            <a:endParaRPr lang="en-US" sz="3600" b="0" u="none" strike="noStrike">
              <a:solidFill>
                <a:srgbClr val="FFFFFF"/>
              </a:solidFill>
              <a:effectLst/>
              <a:uFillTx/>
              <a:latin typeface="Arial"/>
            </a:endParaRPr>
          </a:p>
        </p:txBody>
      </p:sp>
      <p:sp>
        <p:nvSpPr>
          <p:cNvPr id="76" name="PlaceHolder 2"/>
          <p:cNvSpPr>
            <a:spLocks noGrp="1"/>
          </p:cNvSpPr>
          <p:nvPr>
            <p:ph/>
          </p:nvPr>
        </p:nvSpPr>
        <p:spPr>
          <a:xfrm>
            <a:off x="457200" y="2241720"/>
            <a:ext cx="8228520" cy="2224800"/>
          </a:xfrm>
          <a:prstGeom prst="rect">
            <a:avLst/>
          </a:prstGeom>
          <a:noFill/>
          <a:ln w="0">
            <a:noFill/>
          </a:ln>
        </p:spPr>
        <p:txBody>
          <a:bodyPr lIns="91440" tIns="45720" rIns="91440" bIns="45720" anchor="t">
            <a:normAutofit fontScale="92500" lnSpcReduction="9999"/>
          </a:bodyPr>
          <a:lstStyle/>
          <a:p>
            <a:pPr marL="343080" indent="0" algn="just" defTabSz="914400">
              <a:lnSpc>
                <a:spcPct val="100000"/>
              </a:lnSpc>
              <a:spcBef>
                <a:spcPts val="479"/>
              </a:spcBef>
              <a:buNone/>
              <a:tabLst>
                <a:tab pos="0" algn="l"/>
              </a:tabLst>
            </a:pPr>
            <a:r>
              <a:rPr lang="en-US" sz="2000" b="0" u="none" strike="noStrike" dirty="0">
                <a:solidFill>
                  <a:schemeClr val="dk1"/>
                </a:solidFill>
                <a:effectLst/>
                <a:uFillTx/>
                <a:latin typeface="Cambria"/>
                <a:ea typeface="Cambria"/>
              </a:rPr>
              <a:t>Long documents often contain </a:t>
            </a:r>
            <a:r>
              <a:rPr lang="en-US" sz="2000" b="1" u="none" strike="noStrike" dirty="0">
                <a:solidFill>
                  <a:schemeClr val="dk1"/>
                </a:solidFill>
                <a:effectLst/>
                <a:uFillTx/>
                <a:latin typeface="Cambria"/>
                <a:ea typeface="Cambria"/>
              </a:rPr>
              <a:t>duplicate, contradictory, or inconsistent information</a:t>
            </a:r>
            <a:r>
              <a:rPr lang="en-US" sz="2000" b="0" u="none" strike="noStrike" dirty="0">
                <a:solidFill>
                  <a:schemeClr val="dk1"/>
                </a:solidFill>
                <a:effectLst/>
                <a:uFillTx/>
                <a:latin typeface="Cambria"/>
                <a:ea typeface="Cambria"/>
              </a:rPr>
              <a:t> across sections due to revisions. </a:t>
            </a:r>
            <a:r>
              <a:rPr lang="en-US" sz="2000" b="1" u="none" strike="noStrike" dirty="0">
                <a:solidFill>
                  <a:schemeClr val="dk1"/>
                </a:solidFill>
                <a:effectLst/>
                <a:uFillTx/>
                <a:latin typeface="Cambria"/>
                <a:ea typeface="Cambria"/>
              </a:rPr>
              <a:t>Manual verification is time-consuming and error-prone</a:t>
            </a:r>
            <a:r>
              <a:rPr lang="en-US" sz="2000" b="0" u="none" strike="noStrike" dirty="0">
                <a:solidFill>
                  <a:schemeClr val="dk1"/>
                </a:solidFill>
                <a:effectLst/>
                <a:uFillTx/>
                <a:latin typeface="Cambria"/>
                <a:ea typeface="Cambria"/>
              </a:rPr>
              <a:t>, and existing tools rely on </a:t>
            </a:r>
            <a:r>
              <a:rPr lang="en-US" sz="2000" b="1" u="none" strike="noStrike" dirty="0">
                <a:solidFill>
                  <a:schemeClr val="dk1"/>
                </a:solidFill>
                <a:effectLst/>
                <a:uFillTx/>
                <a:latin typeface="Cambria"/>
                <a:ea typeface="Cambria"/>
              </a:rPr>
              <a:t>keyword or local text analysis</a:t>
            </a:r>
            <a:r>
              <a:rPr lang="en-US" sz="2000" b="0" u="none" strike="noStrike" dirty="0">
                <a:solidFill>
                  <a:schemeClr val="dk1"/>
                </a:solidFill>
                <a:effectLst/>
                <a:uFillTx/>
                <a:latin typeface="Cambria"/>
                <a:ea typeface="Cambria"/>
              </a:rPr>
              <a:t>, failing to capture global semantic coherence. Therefore, an </a:t>
            </a:r>
            <a:r>
              <a:rPr lang="en-US" sz="2000" b="1" u="none" strike="noStrike" dirty="0">
                <a:solidFill>
                  <a:schemeClr val="dk1"/>
                </a:solidFill>
                <a:effectLst/>
                <a:uFillTx/>
                <a:latin typeface="Cambria"/>
                <a:ea typeface="Cambria"/>
              </a:rPr>
              <a:t>intelligent system is needed</a:t>
            </a:r>
            <a:r>
              <a:rPr lang="en-US" sz="2000" b="0" u="none" strike="noStrike" dirty="0">
                <a:solidFill>
                  <a:schemeClr val="dk1"/>
                </a:solidFill>
                <a:effectLst/>
                <a:uFillTx/>
                <a:latin typeface="Cambria"/>
                <a:ea typeface="Cambria"/>
              </a:rPr>
              <a:t> to automatically analyze documents and detect duplication, contradictions, and inconsistencies.</a:t>
            </a:r>
            <a:endParaRPr lang="en-US" sz="2000" b="0" u="none" strike="noStrike" dirty="0">
              <a:solidFill>
                <a:srgbClr val="000000"/>
              </a:solidFill>
              <a:effectLst/>
              <a:uFillTx/>
              <a:latin typeface="Arial"/>
            </a:endParaRPr>
          </a:p>
        </p:txBody>
      </p:sp>
      <p:sp>
        <p:nvSpPr>
          <p:cNvPr id="4" name="PlaceHolder 3"/>
          <p:cNvSpPr>
            <a:spLocks noGrp="1"/>
          </p:cNvSpPr>
          <p:nvPr>
            <p:ph type="sldNum" idx="27"/>
          </p:nvPr>
        </p:nvSpPr>
        <p:spPr/>
        <p:txBody>
          <a:bodyPr/>
          <a:lstStyle/>
          <a:p>
            <a:fld id="{389DF914-689E-4092-9170-D3F51D83B64D}" type="slidenum">
              <a:r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28600"/>
            <a:ext cx="8228520" cy="562320"/>
          </a:xfrm>
          <a:prstGeom prst="rect">
            <a:avLst/>
          </a:prstGeom>
          <a:solidFill>
            <a:srgbClr val="6535EB"/>
          </a:solidFill>
          <a:ln w="0">
            <a:noFill/>
          </a:ln>
        </p:spPr>
        <p:txBody>
          <a:bodyPr lIns="91440" tIns="45720" rIns="91440" bIns="45720" anchor="ctr">
            <a:noAutofit/>
          </a:bodyPr>
          <a:lstStyle/>
          <a:p>
            <a:pPr indent="0" algn="ctr" defTabSz="914400">
              <a:lnSpc>
                <a:spcPct val="100000"/>
              </a:lnSpc>
              <a:buNone/>
              <a:tabLst>
                <a:tab pos="0" algn="l"/>
              </a:tabLst>
            </a:pPr>
            <a:r>
              <a:rPr lang="en-US" sz="3600" b="1" u="none" strike="noStrike">
                <a:solidFill>
                  <a:schemeClr val="lt1"/>
                </a:solidFill>
                <a:effectLst/>
                <a:uFillTx/>
                <a:latin typeface="Arial Black"/>
              </a:rPr>
              <a:t>ABSTRACT</a:t>
            </a:r>
            <a:endParaRPr lang="en-US" sz="3600" b="0" u="none" strike="noStrike">
              <a:solidFill>
                <a:srgbClr val="FFFFFF"/>
              </a:solidFill>
              <a:effectLst/>
              <a:uFillTx/>
              <a:latin typeface="Arial"/>
            </a:endParaRPr>
          </a:p>
        </p:txBody>
      </p:sp>
      <p:sp>
        <p:nvSpPr>
          <p:cNvPr id="78" name="PlaceHolder 2"/>
          <p:cNvSpPr>
            <a:spLocks noGrp="1"/>
          </p:cNvSpPr>
          <p:nvPr>
            <p:ph/>
          </p:nvPr>
        </p:nvSpPr>
        <p:spPr>
          <a:xfrm>
            <a:off x="457200" y="1043280"/>
            <a:ext cx="8228520" cy="5691960"/>
          </a:xfrm>
          <a:prstGeom prst="rect">
            <a:avLst/>
          </a:prstGeom>
          <a:noFill/>
          <a:ln w="0">
            <a:noFill/>
          </a:ln>
        </p:spPr>
        <p:txBody>
          <a:bodyPr lIns="91440" tIns="45720" rIns="91440" bIns="45720" anchor="t">
            <a:normAutofit lnSpcReduction="9999"/>
          </a:bodyPr>
          <a:lstStyle/>
          <a:p>
            <a:pPr marL="285840" indent="-285840" algn="just" defTabSz="914400">
              <a:lnSpc>
                <a:spcPct val="109000"/>
              </a:lnSpc>
              <a:buClr>
                <a:srgbClr val="000000"/>
              </a:buClr>
              <a:buFont typeface="Arial"/>
              <a:buChar char="•"/>
            </a:pPr>
            <a:r>
              <a:rPr lang="en-US" sz="1800" b="0" u="none" strike="noStrike">
                <a:solidFill>
                  <a:schemeClr val="dk1"/>
                </a:solidFill>
                <a:effectLst/>
                <a:uFillTx/>
                <a:latin typeface="Cambria"/>
                <a:ea typeface="Cambria"/>
              </a:rPr>
              <a:t>This project presents </a:t>
            </a:r>
            <a:r>
              <a:rPr lang="en-US" sz="1800" b="1" u="none" strike="noStrike">
                <a:solidFill>
                  <a:schemeClr val="dk1"/>
                </a:solidFill>
                <a:effectLst/>
                <a:uFillTx/>
                <a:latin typeface="Cambria"/>
                <a:ea typeface="Cambria"/>
              </a:rPr>
              <a:t>Semantic Integrity Analysis</a:t>
            </a:r>
            <a:r>
              <a:rPr lang="en-US" sz="1800" b="0" u="none" strike="noStrike">
                <a:solidFill>
                  <a:schemeClr val="dk1"/>
                </a:solidFill>
                <a:effectLst/>
                <a:uFillTx/>
                <a:latin typeface="Cambria"/>
                <a:ea typeface="Cambria"/>
              </a:rPr>
              <a:t>, an AI-powered system designed to automate the verification of complex legal contracts and lengthy legal documents, which are often time-consuming and prone to human error during manual review. </a:t>
            </a:r>
            <a:endParaRPr lang="en-US" sz="1800" b="0" u="none" strike="noStrike">
              <a:solidFill>
                <a:srgbClr val="000000"/>
              </a:solidFill>
              <a:effectLst/>
              <a:uFillTx/>
              <a:latin typeface="Arial"/>
            </a:endParaRPr>
          </a:p>
          <a:p>
            <a:pPr indent="0" algn="just" defTabSz="914400">
              <a:lnSpc>
                <a:spcPct val="109000"/>
              </a:lnSpc>
              <a:buNone/>
              <a:tabLst>
                <a:tab pos="0" algn="l"/>
              </a:tabLst>
            </a:pPr>
            <a:endParaRPr lang="en-US" sz="1800" b="0" u="none" strike="noStrike">
              <a:solidFill>
                <a:srgbClr val="000000"/>
              </a:solidFill>
              <a:effectLst/>
              <a:uFillTx/>
              <a:latin typeface="Arial"/>
            </a:endParaRPr>
          </a:p>
          <a:p>
            <a:pPr marL="285840" indent="-285840" algn="just" defTabSz="914400">
              <a:lnSpc>
                <a:spcPct val="109000"/>
              </a:lnSpc>
              <a:buClr>
                <a:srgbClr val="000000"/>
              </a:buClr>
              <a:buFont typeface="Arial"/>
              <a:buChar char="•"/>
              <a:tabLst>
                <a:tab pos="0" algn="l"/>
              </a:tabLst>
            </a:pPr>
            <a:r>
              <a:rPr lang="en-US" sz="1800" b="0" u="none" strike="noStrike">
                <a:solidFill>
                  <a:schemeClr val="dk1"/>
                </a:solidFill>
                <a:effectLst/>
                <a:uFillTx/>
                <a:latin typeface="Cambria"/>
                <a:ea typeface="Cambria"/>
              </a:rPr>
              <a:t>The platform detects </a:t>
            </a:r>
            <a:r>
              <a:rPr lang="en-US" sz="1800" b="1" u="none" strike="noStrike">
                <a:solidFill>
                  <a:schemeClr val="dk1"/>
                </a:solidFill>
                <a:effectLst/>
                <a:uFillTx/>
                <a:latin typeface="Cambria"/>
                <a:ea typeface="Cambria"/>
              </a:rPr>
              <a:t>duplication, inconsistencies, and contradictions</a:t>
            </a:r>
            <a:r>
              <a:rPr lang="en-US" sz="1800" b="0" u="none" strike="noStrike">
                <a:solidFill>
                  <a:schemeClr val="dk1"/>
                </a:solidFill>
                <a:effectLst/>
                <a:uFillTx/>
                <a:latin typeface="Cambria"/>
                <a:ea typeface="Cambria"/>
              </a:rPr>
              <a:t> using </a:t>
            </a:r>
            <a:r>
              <a:rPr lang="en-US" sz="1800" b="1" u="none" strike="noStrike">
                <a:solidFill>
                  <a:schemeClr val="dk1"/>
                </a:solidFill>
                <a:effectLst/>
                <a:uFillTx/>
                <a:latin typeface="Cambria"/>
                <a:ea typeface="Cambria"/>
              </a:rPr>
              <a:t>NLP and rule-based heuristics</a:t>
            </a:r>
            <a:r>
              <a:rPr lang="en-US" sz="1800" b="0" u="none" strike="noStrike">
                <a:solidFill>
                  <a:schemeClr val="dk1"/>
                </a:solidFill>
                <a:effectLst/>
                <a:uFillTx/>
                <a:latin typeface="Cambria"/>
                <a:ea typeface="Cambria"/>
              </a:rPr>
              <a:t>, with a </a:t>
            </a:r>
            <a:r>
              <a:rPr lang="en-US" sz="1800" b="1" u="none" strike="noStrike">
                <a:solidFill>
                  <a:schemeClr val="dk1"/>
                </a:solidFill>
                <a:effectLst/>
                <a:uFillTx/>
                <a:latin typeface="Cambria"/>
                <a:ea typeface="Cambria"/>
              </a:rPr>
              <a:t>Flask backend, SQLite authentication, </a:t>
            </a:r>
            <a:r>
              <a:rPr lang="en-US" sz="1800" b="0" u="none" strike="noStrike">
                <a:solidFill>
                  <a:schemeClr val="dk1"/>
                </a:solidFill>
                <a:effectLst/>
                <a:uFillTx/>
                <a:latin typeface="Cambria"/>
                <a:ea typeface="Cambria"/>
              </a:rPr>
              <a:t>and a frontend for </a:t>
            </a:r>
            <a:r>
              <a:rPr lang="en-US" sz="1800" b="1" u="none" strike="noStrike">
                <a:solidFill>
                  <a:schemeClr val="dk1"/>
                </a:solidFill>
                <a:effectLst/>
                <a:uFillTx/>
                <a:latin typeface="Cambria"/>
                <a:ea typeface="Cambria"/>
              </a:rPr>
              <a:t>upload, analysis, summary, and dashboard</a:t>
            </a:r>
            <a:r>
              <a:rPr lang="en-US" sz="1800" b="0" u="none" strike="noStrike">
                <a:solidFill>
                  <a:schemeClr val="dk1"/>
                </a:solidFill>
                <a:effectLst/>
                <a:uFillTx/>
                <a:latin typeface="Cambria"/>
                <a:ea typeface="Cambria"/>
              </a:rPr>
              <a:t>.</a:t>
            </a:r>
            <a:endParaRPr lang="en-US" sz="1800" b="0" u="none" strike="noStrike">
              <a:solidFill>
                <a:srgbClr val="000000"/>
              </a:solidFill>
              <a:effectLst/>
              <a:uFillTx/>
              <a:latin typeface="Arial"/>
            </a:endParaRPr>
          </a:p>
          <a:p>
            <a:pPr indent="0" algn="just" defTabSz="914400">
              <a:lnSpc>
                <a:spcPct val="109000"/>
              </a:lnSpc>
              <a:buNone/>
              <a:tabLst>
                <a:tab pos="0" algn="l"/>
              </a:tabLst>
            </a:pPr>
            <a:endParaRPr lang="en-US" sz="1800" b="0" u="none" strike="noStrike">
              <a:solidFill>
                <a:srgbClr val="000000"/>
              </a:solidFill>
              <a:effectLst/>
              <a:uFillTx/>
              <a:latin typeface="Arial"/>
            </a:endParaRPr>
          </a:p>
          <a:p>
            <a:pPr marL="285840" indent="-285840" algn="just" defTabSz="914400">
              <a:lnSpc>
                <a:spcPct val="109000"/>
              </a:lnSpc>
              <a:buClr>
                <a:srgbClr val="000000"/>
              </a:buClr>
              <a:buFont typeface="Arial"/>
              <a:buChar char="•"/>
              <a:tabLst>
                <a:tab pos="0" algn="l"/>
              </a:tabLst>
            </a:pPr>
            <a:r>
              <a:rPr lang="en-IN" sz="1800" b="0" u="none" strike="noStrike">
                <a:solidFill>
                  <a:schemeClr val="dk1"/>
                </a:solidFill>
                <a:effectLst/>
                <a:uFillTx/>
                <a:latin typeface="Cambria"/>
                <a:ea typeface="Cambria"/>
              </a:rPr>
              <a:t>Users upload a </a:t>
            </a:r>
            <a:r>
              <a:rPr lang="en-IN" sz="1800" b="1" u="none" strike="noStrike">
                <a:solidFill>
                  <a:schemeClr val="dk1"/>
                </a:solidFill>
                <a:effectLst/>
                <a:uFillTx/>
                <a:latin typeface="Cambria"/>
                <a:ea typeface="Cambria"/>
              </a:rPr>
              <a:t>final document and reference documents</a:t>
            </a:r>
            <a:r>
              <a:rPr lang="en-IN" sz="1800" b="0" u="none" strike="noStrike">
                <a:solidFill>
                  <a:schemeClr val="dk1"/>
                </a:solidFill>
                <a:effectLst/>
                <a:uFillTx/>
                <a:latin typeface="Cambria"/>
                <a:ea typeface="Cambria"/>
              </a:rPr>
              <a:t>. The system extracts text from </a:t>
            </a:r>
            <a:r>
              <a:rPr lang="en-IN" sz="1800" b="1" u="none" strike="noStrike">
                <a:solidFill>
                  <a:schemeClr val="dk1"/>
                </a:solidFill>
                <a:effectLst/>
                <a:uFillTx/>
                <a:latin typeface="Cambria"/>
                <a:ea typeface="Cambria"/>
              </a:rPr>
              <a:t>PDF, DOCX, and TXT</a:t>
            </a:r>
            <a:r>
              <a:rPr lang="en-IN" sz="1800" b="0" u="none" strike="noStrike">
                <a:solidFill>
                  <a:schemeClr val="dk1"/>
                </a:solidFill>
                <a:effectLst/>
                <a:uFillTx/>
                <a:latin typeface="Cambria"/>
                <a:ea typeface="Cambria"/>
              </a:rPr>
              <a:t>, segments clauses, and uses SBERT with FAISS for semantic similarity search. For deeper validation, </a:t>
            </a:r>
            <a:r>
              <a:rPr lang="en-IN" sz="1800" b="1" u="none" strike="noStrike">
                <a:solidFill>
                  <a:schemeClr val="dk1"/>
                </a:solidFill>
                <a:effectLst/>
                <a:uFillTx/>
                <a:latin typeface="Cambria"/>
                <a:ea typeface="Cambria"/>
              </a:rPr>
              <a:t>LLM and NLI models, including TinyLlama</a:t>
            </a:r>
            <a:r>
              <a:rPr lang="en-IN" sz="1800" b="0" u="none" strike="noStrike">
                <a:solidFill>
                  <a:schemeClr val="dk1"/>
                </a:solidFill>
                <a:effectLst/>
                <a:uFillTx/>
                <a:latin typeface="Cambria"/>
                <a:ea typeface="Cambria"/>
              </a:rPr>
              <a:t>, classify clauses as contradictions, duplications, or neutral.</a:t>
            </a:r>
            <a:endParaRPr lang="en-US" sz="1800" b="0" u="none" strike="noStrike">
              <a:solidFill>
                <a:srgbClr val="000000"/>
              </a:solidFill>
              <a:effectLst/>
              <a:uFillTx/>
              <a:latin typeface="Arial"/>
            </a:endParaRPr>
          </a:p>
          <a:p>
            <a:pPr indent="0" algn="just" defTabSz="914400">
              <a:lnSpc>
                <a:spcPct val="109000"/>
              </a:lnSpc>
              <a:buNone/>
              <a:tabLst>
                <a:tab pos="0" algn="l"/>
              </a:tabLst>
            </a:pPr>
            <a:endParaRPr lang="en-US" sz="1800" b="0" u="none" strike="noStrike">
              <a:solidFill>
                <a:srgbClr val="000000"/>
              </a:solidFill>
              <a:effectLst/>
              <a:uFillTx/>
              <a:latin typeface="Arial"/>
            </a:endParaRPr>
          </a:p>
          <a:p>
            <a:pPr marL="285840" indent="-285840" algn="just" defTabSz="914400">
              <a:lnSpc>
                <a:spcPct val="109000"/>
              </a:lnSpc>
              <a:buClr>
                <a:srgbClr val="000000"/>
              </a:buClr>
              <a:buFont typeface="Arial"/>
              <a:buChar char="•"/>
              <a:tabLst>
                <a:tab pos="0" algn="l"/>
              </a:tabLst>
            </a:pPr>
            <a:r>
              <a:rPr lang="en-US" sz="1800" b="0" u="none" strike="noStrike">
                <a:solidFill>
                  <a:schemeClr val="dk1"/>
                </a:solidFill>
                <a:effectLst/>
                <a:uFillTx/>
                <a:latin typeface="Cambria"/>
                <a:ea typeface="Cambria"/>
              </a:rPr>
              <a:t>Results are shown on an </a:t>
            </a:r>
            <a:r>
              <a:rPr lang="en-US" sz="1800" b="1" u="none" strike="noStrike">
                <a:solidFill>
                  <a:schemeClr val="dk1"/>
                </a:solidFill>
                <a:effectLst/>
                <a:uFillTx/>
                <a:latin typeface="Cambria"/>
                <a:ea typeface="Cambria"/>
              </a:rPr>
              <a:t>interactive dashboard with line-level issue tracing, summaries, and comparison insights</a:t>
            </a:r>
            <a:r>
              <a:rPr lang="en-US" sz="1800" b="0" u="none" strike="noStrike">
                <a:solidFill>
                  <a:schemeClr val="dk1"/>
                </a:solidFill>
                <a:effectLst/>
                <a:uFillTx/>
                <a:latin typeface="Cambria"/>
                <a:ea typeface="Cambria"/>
              </a:rPr>
              <a:t>, helping users quickly identify legal mismatches and improve review accuracy and efficiency.</a:t>
            </a:r>
            <a:endParaRPr lang="en-US" sz="1800" b="0" u="none" strike="noStrike">
              <a:solidFill>
                <a:srgbClr val="000000"/>
              </a:solidFill>
              <a:effectLst/>
              <a:uFillTx/>
              <a:latin typeface="Arial"/>
            </a:endParaRPr>
          </a:p>
        </p:txBody>
      </p:sp>
      <p:sp>
        <p:nvSpPr>
          <p:cNvPr id="4" name="PlaceHolder 3"/>
          <p:cNvSpPr>
            <a:spLocks noGrp="1"/>
          </p:cNvSpPr>
          <p:nvPr>
            <p:ph type="sldNum" idx="27"/>
          </p:nvPr>
        </p:nvSpPr>
        <p:spPr/>
        <p:txBody>
          <a:bodyPr/>
          <a:lstStyle/>
          <a:p>
            <a:fld id="{15A47742-49B8-4B42-ACAA-2C0D84F95120}" type="slidenum">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FD1EE-8A72-8130-881A-AB57AA0A5F2F}"/>
            </a:ext>
          </a:extLst>
        </p:cNvPr>
        <p:cNvGrpSpPr/>
        <p:nvPr/>
      </p:nvGrpSpPr>
      <p:grpSpPr>
        <a:xfrm>
          <a:off x="0" y="0"/>
          <a:ext cx="0" cy="0"/>
          <a:chOff x="0" y="0"/>
          <a:chExt cx="0" cy="0"/>
        </a:xfrm>
      </p:grpSpPr>
      <p:sp>
        <p:nvSpPr>
          <p:cNvPr id="75" name="PlaceHolder 1">
            <a:extLst>
              <a:ext uri="{FF2B5EF4-FFF2-40B4-BE49-F238E27FC236}">
                <a16:creationId xmlns:a16="http://schemas.microsoft.com/office/drawing/2014/main" id="{AE90A0EC-C03F-80F0-8D9E-918FA034DD37}"/>
              </a:ext>
            </a:extLst>
          </p:cNvPr>
          <p:cNvSpPr>
            <a:spLocks noGrp="1"/>
          </p:cNvSpPr>
          <p:nvPr>
            <p:ph type="title"/>
          </p:nvPr>
        </p:nvSpPr>
        <p:spPr>
          <a:xfrm>
            <a:off x="457200" y="228600"/>
            <a:ext cx="8228520" cy="562320"/>
          </a:xfrm>
          <a:prstGeom prst="rect">
            <a:avLst/>
          </a:prstGeom>
          <a:solidFill>
            <a:srgbClr val="6535EB"/>
          </a:solidFill>
          <a:ln w="0">
            <a:noFill/>
          </a:ln>
        </p:spPr>
        <p:txBody>
          <a:bodyPr lIns="91440" tIns="45720" rIns="91440" bIns="45720" anchor="ctr">
            <a:noAutofit/>
          </a:bodyPr>
          <a:lstStyle/>
          <a:p>
            <a:pPr indent="0" algn="ctr" defTabSz="914400">
              <a:lnSpc>
                <a:spcPct val="100000"/>
              </a:lnSpc>
              <a:buNone/>
              <a:tabLst>
                <a:tab pos="0" algn="l"/>
              </a:tabLst>
            </a:pPr>
            <a:r>
              <a:rPr lang="en-IN" sz="3600" b="1" u="none" strike="noStrike" dirty="0">
                <a:solidFill>
                  <a:schemeClr val="lt1"/>
                </a:solidFill>
                <a:effectLst/>
                <a:uFillTx/>
                <a:latin typeface="Arial Black"/>
              </a:rPr>
              <a:t>OBJECTIVE</a:t>
            </a:r>
            <a:endParaRPr lang="en-US" sz="3600" b="0" u="none" strike="noStrike" dirty="0">
              <a:solidFill>
                <a:srgbClr val="FFFFFF"/>
              </a:solidFill>
              <a:effectLst/>
              <a:uFillTx/>
              <a:latin typeface="Arial"/>
            </a:endParaRPr>
          </a:p>
        </p:txBody>
      </p:sp>
      <p:sp>
        <p:nvSpPr>
          <p:cNvPr id="76" name="PlaceHolder 2">
            <a:extLst>
              <a:ext uri="{FF2B5EF4-FFF2-40B4-BE49-F238E27FC236}">
                <a16:creationId xmlns:a16="http://schemas.microsoft.com/office/drawing/2014/main" id="{B444B9C4-E9FC-3D7F-BC74-7DA91D4B0CE5}"/>
              </a:ext>
            </a:extLst>
          </p:cNvPr>
          <p:cNvSpPr>
            <a:spLocks noGrp="1"/>
          </p:cNvSpPr>
          <p:nvPr>
            <p:ph/>
          </p:nvPr>
        </p:nvSpPr>
        <p:spPr>
          <a:xfrm>
            <a:off x="457740" y="1052015"/>
            <a:ext cx="8228520" cy="4572036"/>
          </a:xfrm>
          <a:prstGeom prst="rect">
            <a:avLst/>
          </a:prstGeom>
          <a:noFill/>
          <a:ln w="0">
            <a:noFill/>
          </a:ln>
        </p:spPr>
        <p:txBody>
          <a:bodyPr lIns="91440" tIns="45720" rIns="91440" bIns="45720" anchor="t">
            <a:noAutofit/>
          </a:bodyPr>
          <a:lstStyle/>
          <a:p>
            <a:pPr>
              <a:lnSpc>
                <a:spcPct val="100000"/>
              </a:lnSpc>
            </a:pPr>
            <a:endParaRPr lang="en-US" sz="2000" dirty="0">
              <a:latin typeface="Cambria" panose="02040503050406030204" pitchFamily="18" charset="0"/>
              <a:ea typeface="Cambria" panose="02040503050406030204" pitchFamily="18" charset="0"/>
            </a:endParaRPr>
          </a:p>
          <a:p>
            <a:pPr marL="342900" indent="-342900" algn="just">
              <a:lnSpc>
                <a:spcPct val="10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Developed an AI-powered semantic analysis system to detect anomalies in long legal documents and reduce manual review time.</a:t>
            </a:r>
          </a:p>
          <a:p>
            <a:pPr algn="just">
              <a:lnSpc>
                <a:spcPct val="100000"/>
              </a:lnSpc>
            </a:pPr>
            <a:endParaRPr lang="en-US" sz="2000" dirty="0">
              <a:latin typeface="Cambria" panose="02040503050406030204" pitchFamily="18" charset="0"/>
              <a:ea typeface="Cambria" panose="02040503050406030204" pitchFamily="18" charset="0"/>
            </a:endParaRPr>
          </a:p>
          <a:p>
            <a:pPr marL="342900" indent="-342900" algn="just">
              <a:lnSpc>
                <a:spcPct val="10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 Implemented Natural Language Inference (NLI) models for contradiction, inconsistency, and duplicate text detection. </a:t>
            </a:r>
          </a:p>
          <a:p>
            <a:pPr algn="just">
              <a:lnSpc>
                <a:spcPct val="100000"/>
              </a:lnSpc>
            </a:pPr>
            <a:endParaRPr lang="en-US" sz="2000" dirty="0">
              <a:latin typeface="Cambria" panose="02040503050406030204" pitchFamily="18" charset="0"/>
              <a:ea typeface="Cambria" panose="02040503050406030204" pitchFamily="18" charset="0"/>
            </a:endParaRPr>
          </a:p>
          <a:p>
            <a:pPr marL="342900" indent="-342900" algn="just">
              <a:lnSpc>
                <a:spcPct val="10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Designed NLP-based contextual filters to remove boilerplate text and reduce false positives. </a:t>
            </a:r>
          </a:p>
          <a:p>
            <a:pPr algn="just">
              <a:lnSpc>
                <a:spcPct val="100000"/>
              </a:lnSpc>
            </a:pPr>
            <a:endParaRPr lang="en-US" sz="2000" dirty="0">
              <a:latin typeface="Cambria" panose="02040503050406030204" pitchFamily="18" charset="0"/>
              <a:ea typeface="Cambria" panose="02040503050406030204" pitchFamily="18" charset="0"/>
            </a:endParaRPr>
          </a:p>
          <a:p>
            <a:pPr marL="342900" indent="-342900" algn="just">
              <a:lnSpc>
                <a:spcPct val="10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Built document parsing support for PDF, DOCX, and TXT formats. Developed a full-stack web application with secure authentication and document upload features. </a:t>
            </a:r>
          </a:p>
          <a:p>
            <a:pPr algn="just">
              <a:lnSpc>
                <a:spcPct val="100000"/>
              </a:lnSpc>
            </a:pPr>
            <a:endParaRPr lang="en-US" sz="2000" dirty="0">
              <a:latin typeface="Cambria" panose="02040503050406030204" pitchFamily="18" charset="0"/>
              <a:ea typeface="Cambria" panose="02040503050406030204" pitchFamily="18" charset="0"/>
            </a:endParaRPr>
          </a:p>
          <a:p>
            <a:pPr marL="342900" indent="-342900" algn="just">
              <a:lnSpc>
                <a:spcPct val="100000"/>
              </a:lnSpc>
              <a:buFont typeface="Arial" panose="020B0604020202020204" pitchFamily="34" charset="0"/>
              <a:buChar char="•"/>
            </a:pPr>
            <a:r>
              <a:rPr lang="en-US" sz="2000" dirty="0">
                <a:latin typeface="Cambria" panose="02040503050406030204" pitchFamily="18" charset="0"/>
                <a:ea typeface="Cambria" panose="02040503050406030204" pitchFamily="18" charset="0"/>
              </a:rPr>
              <a:t>Created an interactive dashboard with summaries and line-level issue reporting for efficient document review.</a:t>
            </a:r>
            <a:endParaRPr lang="en-US" sz="2000" dirty="0">
              <a:latin typeface="Cambria" panose="02040503050406030204" pitchFamily="18" charset="0"/>
              <a:ea typeface="Cambria" panose="02040503050406030204" pitchFamily="18" charset="0"/>
              <a:cs typeface="Times New Roman" pitchFamily="18" charset="0"/>
            </a:endParaRPr>
          </a:p>
        </p:txBody>
      </p:sp>
      <p:sp>
        <p:nvSpPr>
          <p:cNvPr id="4" name="PlaceHolder 3">
            <a:extLst>
              <a:ext uri="{FF2B5EF4-FFF2-40B4-BE49-F238E27FC236}">
                <a16:creationId xmlns:a16="http://schemas.microsoft.com/office/drawing/2014/main" id="{5203B0FC-3C78-991D-A80F-2AB352864ACE}"/>
              </a:ext>
            </a:extLst>
          </p:cNvPr>
          <p:cNvSpPr>
            <a:spLocks noGrp="1"/>
          </p:cNvSpPr>
          <p:nvPr>
            <p:ph type="sldNum" idx="27"/>
          </p:nvPr>
        </p:nvSpPr>
        <p:spPr/>
        <p:txBody>
          <a:bodyPr/>
          <a:lstStyle/>
          <a:p>
            <a:fld id="{389DF914-689E-4092-9170-D3F51D83B64D}" type="slidenum">
              <a:rPr/>
              <a:t>6</a:t>
            </a:fld>
            <a:endParaRPr/>
          </a:p>
        </p:txBody>
      </p:sp>
    </p:spTree>
    <p:extLst>
      <p:ext uri="{BB962C8B-B14F-4D97-AF65-F5344CB8AC3E}">
        <p14:creationId xmlns:p14="http://schemas.microsoft.com/office/powerpoint/2010/main" val="1900021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228600"/>
            <a:ext cx="8229240" cy="563040"/>
          </a:xfrm>
          <a:prstGeom prst="rect">
            <a:avLst/>
          </a:prstGeom>
          <a:solidFill>
            <a:srgbClr val="6535EB"/>
          </a:solidFill>
          <a:ln w="0">
            <a:noFill/>
          </a:ln>
        </p:spPr>
        <p:txBody>
          <a:bodyPr lIns="91440" tIns="45720" rIns="91440" bIns="45720" anchor="ctr">
            <a:noAutofit/>
          </a:bodyPr>
          <a:lstStyle/>
          <a:p>
            <a:pPr indent="0" algn="ctr" defTabSz="914400">
              <a:lnSpc>
                <a:spcPct val="100000"/>
              </a:lnSpc>
              <a:buNone/>
            </a:pPr>
            <a:r>
              <a:rPr lang="en-IN" sz="3600" b="1" u="none" strike="noStrike" dirty="0">
                <a:solidFill>
                  <a:schemeClr val="lt1"/>
                </a:solidFill>
                <a:effectLst/>
                <a:uFillTx/>
                <a:latin typeface="Arial Black"/>
              </a:rPr>
              <a:t>LITERATURE SURVEY</a:t>
            </a:r>
            <a:endParaRPr lang="en-US" sz="3600" b="0" u="none" strike="noStrike" dirty="0">
              <a:solidFill>
                <a:schemeClr val="dk1"/>
              </a:solidFill>
              <a:effectLst/>
              <a:uFillTx/>
              <a:latin typeface="Calibri"/>
            </a:endParaRPr>
          </a:p>
        </p:txBody>
      </p:sp>
      <p:graphicFrame>
        <p:nvGraphicFramePr>
          <p:cNvPr id="80" name="Table 6"/>
          <p:cNvGraphicFramePr/>
          <p:nvPr/>
        </p:nvGraphicFramePr>
        <p:xfrm>
          <a:off x="152280" y="1041480"/>
          <a:ext cx="8838360" cy="5424840"/>
        </p:xfrm>
        <a:graphic>
          <a:graphicData uri="http://schemas.openxmlformats.org/drawingml/2006/table">
            <a:tbl>
              <a:tblPr/>
              <a:tblGrid>
                <a:gridCol w="768600">
                  <a:extLst>
                    <a:ext uri="{9D8B030D-6E8A-4147-A177-3AD203B41FA5}">
                      <a16:colId xmlns:a16="http://schemas.microsoft.com/office/drawing/2014/main" val="20000"/>
                    </a:ext>
                  </a:extLst>
                </a:gridCol>
                <a:gridCol w="2536200">
                  <a:extLst>
                    <a:ext uri="{9D8B030D-6E8A-4147-A177-3AD203B41FA5}">
                      <a16:colId xmlns:a16="http://schemas.microsoft.com/office/drawing/2014/main" val="20001"/>
                    </a:ext>
                  </a:extLst>
                </a:gridCol>
                <a:gridCol w="1613880">
                  <a:extLst>
                    <a:ext uri="{9D8B030D-6E8A-4147-A177-3AD203B41FA5}">
                      <a16:colId xmlns:a16="http://schemas.microsoft.com/office/drawing/2014/main" val="20002"/>
                    </a:ext>
                  </a:extLst>
                </a:gridCol>
                <a:gridCol w="845280">
                  <a:extLst>
                    <a:ext uri="{9D8B030D-6E8A-4147-A177-3AD203B41FA5}">
                      <a16:colId xmlns:a16="http://schemas.microsoft.com/office/drawing/2014/main" val="20003"/>
                    </a:ext>
                  </a:extLst>
                </a:gridCol>
                <a:gridCol w="3074400">
                  <a:extLst>
                    <a:ext uri="{9D8B030D-6E8A-4147-A177-3AD203B41FA5}">
                      <a16:colId xmlns:a16="http://schemas.microsoft.com/office/drawing/2014/main" val="20004"/>
                    </a:ext>
                  </a:extLst>
                </a:gridCol>
              </a:tblGrid>
              <a:tr h="888120">
                <a:tc>
                  <a:txBody>
                    <a:bodyPr/>
                    <a:lstStyle/>
                    <a:p>
                      <a:pPr algn="ctr" defTabSz="914400">
                        <a:lnSpc>
                          <a:spcPct val="100000"/>
                        </a:lnSpc>
                      </a:pPr>
                      <a:r>
                        <a:rPr lang="en-IN" sz="1800" b="1" u="none" strike="noStrike">
                          <a:solidFill>
                            <a:schemeClr val="lt1"/>
                          </a:solidFill>
                          <a:effectLst/>
                          <a:uFillTx/>
                          <a:latin typeface="Times New Roman"/>
                        </a:rPr>
                        <a:t>Sl. No.</a:t>
                      </a:r>
                      <a:endParaRPr lang="en-IN" sz="1800" b="0" u="none" strike="noStrike">
                        <a:solidFill>
                          <a:srgbClr val="FFFFFF"/>
                        </a:solidFill>
                        <a:effectLst/>
                        <a:uFillTx/>
                        <a:latin typeface="Times New Roman"/>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algn="ctr" defTabSz="914400">
                        <a:lnSpc>
                          <a:spcPct val="100000"/>
                        </a:lnSpc>
                      </a:pPr>
                      <a:r>
                        <a:rPr lang="en-IN" sz="1800" b="1" u="none" strike="noStrike">
                          <a:solidFill>
                            <a:schemeClr val="lt1"/>
                          </a:solidFill>
                          <a:effectLst/>
                          <a:uFillTx/>
                          <a:latin typeface="Times New Roman"/>
                        </a:rPr>
                        <a:t>Title of the Paper</a:t>
                      </a:r>
                      <a:endParaRPr lang="en-IN" sz="1800" b="0" u="none" strike="noStrike">
                        <a:solidFill>
                          <a:srgbClr val="FFFFFF"/>
                        </a:solidFill>
                        <a:effectLst/>
                        <a:uFillTx/>
                        <a:latin typeface="Times New Roman"/>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algn="ctr" defTabSz="914400">
                        <a:lnSpc>
                          <a:spcPct val="100000"/>
                        </a:lnSpc>
                      </a:pPr>
                      <a:r>
                        <a:rPr lang="en-IN" sz="1800" b="1" u="none" strike="noStrike">
                          <a:solidFill>
                            <a:schemeClr val="lt1"/>
                          </a:solidFill>
                          <a:effectLst/>
                          <a:uFillTx/>
                          <a:latin typeface="Times New Roman"/>
                        </a:rPr>
                        <a:t>Authors</a:t>
                      </a:r>
                      <a:endParaRPr lang="en-IN" sz="1800" b="0" u="none" strike="noStrike">
                        <a:solidFill>
                          <a:srgbClr val="FFFFFF"/>
                        </a:solidFill>
                        <a:effectLst/>
                        <a:uFillTx/>
                        <a:latin typeface="Times New Roman"/>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algn="ctr" defTabSz="914400">
                        <a:lnSpc>
                          <a:spcPct val="100000"/>
                        </a:lnSpc>
                        <a:tabLst>
                          <a:tab pos="0" algn="l"/>
                        </a:tabLst>
                      </a:pPr>
                      <a:r>
                        <a:rPr lang="en-IN" sz="1800" b="1" u="none" strike="noStrike">
                          <a:solidFill>
                            <a:schemeClr val="lt1"/>
                          </a:solidFill>
                          <a:effectLst/>
                          <a:uFillTx/>
                          <a:latin typeface="Times New Roman"/>
                        </a:rPr>
                        <a:t>Year</a:t>
                      </a:r>
                      <a:endParaRPr lang="en-IN" sz="1800" b="0" u="none" strike="noStrike">
                        <a:solidFill>
                          <a:srgbClr val="FFFFFF"/>
                        </a:solidFill>
                        <a:effectLst/>
                        <a:uFillTx/>
                        <a:latin typeface="Times New Roman"/>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lstStyle/>
                    <a:p>
                      <a:pPr algn="ctr" defTabSz="914400">
                        <a:lnSpc>
                          <a:spcPct val="100000"/>
                        </a:lnSpc>
                      </a:pPr>
                      <a:r>
                        <a:rPr lang="en-IN" sz="1800" b="1" u="none" strike="noStrike">
                          <a:solidFill>
                            <a:schemeClr val="lt1"/>
                          </a:solidFill>
                          <a:effectLst/>
                          <a:uFillTx/>
                          <a:latin typeface="Times New Roman"/>
                        </a:rPr>
                        <a:t>Important Findings</a:t>
                      </a:r>
                      <a:endParaRPr lang="en-IN" sz="1800" b="0" u="none" strike="noStrike">
                        <a:solidFill>
                          <a:srgbClr val="FFFFFF"/>
                        </a:solidFill>
                        <a:effectLst/>
                        <a:uFillTx/>
                        <a:latin typeface="Times New Roman"/>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extLst>
                  <a:ext uri="{0D108BD9-81ED-4DB2-BD59-A6C34878D82A}">
                    <a16:rowId xmlns:a16="http://schemas.microsoft.com/office/drawing/2014/main" val="10000"/>
                  </a:ext>
                </a:extLst>
              </a:tr>
              <a:tr h="1626120">
                <a:tc>
                  <a:txBody>
                    <a:bodyPr/>
                    <a:lstStyle/>
                    <a:p>
                      <a:pPr algn="ctr" defTabSz="914400">
                        <a:lnSpc>
                          <a:spcPct val="100000"/>
                        </a:lnSpc>
                      </a:pPr>
                      <a:r>
                        <a:rPr lang="en-US" sz="1800" b="0" u="none" strike="noStrike">
                          <a:solidFill>
                            <a:schemeClr val="dk1"/>
                          </a:solidFill>
                          <a:effectLst/>
                          <a:uFillTx/>
                          <a:latin typeface="Times New Roman"/>
                        </a:rPr>
                        <a:t>1.</a:t>
                      </a:r>
                      <a:endParaRPr lang="en-IN" sz="1800" b="0" u="none" strike="noStrike">
                        <a:solidFill>
                          <a:srgbClr val="000000"/>
                        </a:solidFill>
                        <a:effectLst/>
                        <a:uFillTx/>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40000"/>
                      </a:schemeClr>
                    </a:solidFill>
                  </a:tcPr>
                </a:tc>
                <a:tc>
                  <a:txBody>
                    <a:bodyPr/>
                    <a:lstStyle/>
                    <a:p>
                      <a:r>
                        <a:rPr lang="en-IN" sz="1800" b="0" u="none" strike="noStrike">
                          <a:solidFill>
                            <a:srgbClr val="000000"/>
                          </a:solidFill>
                          <a:effectLst/>
                          <a:uFillTx/>
                          <a:latin typeface="Arial"/>
                        </a:rPr>
                        <a:t>Semantic Consistency Checking For Model Transformations </a:t>
                      </a: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40000"/>
                      </a:schemeClr>
                    </a:solidFill>
                  </a:tcPr>
                </a:tc>
                <a:tc>
                  <a:txBody>
                    <a:bodyPr/>
                    <a:lstStyle/>
                    <a:p>
                      <a:pPr algn="ctr" defTabSz="914400"/>
                      <a:r>
                        <a:rPr lang="en-US" sz="1800" b="0" u="none" strike="noStrike">
                          <a:solidFill>
                            <a:schemeClr val="dk1"/>
                          </a:solidFill>
                          <a:effectLst/>
                          <a:uFillTx/>
                          <a:latin typeface="Times New Roman"/>
                        </a:rPr>
                        <a:t>Zhengzheng Liu, Fan Jiang, Siyou Qian </a:t>
                      </a:r>
                      <a:endParaRPr lang="en-IN" sz="18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40000"/>
                      </a:schemeClr>
                    </a:solidFill>
                  </a:tcPr>
                </a:tc>
                <a:tc>
                  <a:txBody>
                    <a:bodyPr/>
                    <a:lstStyle/>
                    <a:p>
                      <a:pPr algn="ctr" defTabSz="914400">
                        <a:lnSpc>
                          <a:spcPct val="100000"/>
                        </a:lnSpc>
                      </a:pPr>
                      <a:r>
                        <a:rPr lang="en-US" sz="1800" b="0" u="none" strike="noStrike">
                          <a:solidFill>
                            <a:schemeClr val="dk1"/>
                          </a:solidFill>
                          <a:effectLst/>
                          <a:uFillTx/>
                          <a:latin typeface="Times New Roman"/>
                        </a:rPr>
                        <a:t>2015</a:t>
                      </a:r>
                      <a:endParaRPr lang="en-IN" sz="1800" b="0" u="none" strike="noStrike">
                        <a:solidFill>
                          <a:srgbClr val="000000"/>
                        </a:solidFill>
                        <a:effectLst/>
                        <a:uFillTx/>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40000"/>
                      </a:schemeClr>
                    </a:solidFill>
                  </a:tcPr>
                </a:tc>
                <a:tc>
                  <a:txBody>
                    <a:bodyPr/>
                    <a:lstStyle/>
                    <a:p>
                      <a:r>
                        <a:rPr lang="en-IN" sz="1500" b="0" u="none" strike="noStrike">
                          <a:solidFill>
                            <a:srgbClr val="000000"/>
                          </a:solidFill>
                          <a:effectLst/>
                          <a:uFillTx/>
                          <a:latin typeface="Times New Roman"/>
                        </a:rPr>
                        <a:t>Model checking often suffers from "state space explosion" where the number of possible states becomes too large to compute. Additionally, formal descriptions can be overly complex for standard use. </a:t>
                      </a: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40000"/>
                      </a:schemeClr>
                    </a:solidFill>
                  </a:tcPr>
                </a:tc>
                <a:extLst>
                  <a:ext uri="{0D108BD9-81ED-4DB2-BD59-A6C34878D82A}">
                    <a16:rowId xmlns:a16="http://schemas.microsoft.com/office/drawing/2014/main" val="10001"/>
                  </a:ext>
                </a:extLst>
              </a:tr>
              <a:tr h="1447560">
                <a:tc>
                  <a:txBody>
                    <a:bodyPr/>
                    <a:lstStyle/>
                    <a:p>
                      <a:pPr algn="ctr" defTabSz="914400">
                        <a:lnSpc>
                          <a:spcPct val="100000"/>
                        </a:lnSpc>
                      </a:pPr>
                      <a:r>
                        <a:rPr lang="en-US" sz="1800" b="0" u="none" strike="noStrike">
                          <a:solidFill>
                            <a:schemeClr val="dk1"/>
                          </a:solidFill>
                          <a:effectLst/>
                          <a:uFillTx/>
                          <a:latin typeface="Times New Roman"/>
                        </a:rPr>
                        <a:t>2.</a:t>
                      </a:r>
                      <a:endParaRPr lang="en-IN" sz="1800" b="0" u="none" strike="noStrike">
                        <a:solidFill>
                          <a:srgbClr val="000000"/>
                        </a:solidFill>
                        <a:effectLst/>
                        <a:uFillTx/>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c>
                  <a:txBody>
                    <a:bodyPr/>
                    <a:lstStyle/>
                    <a:p>
                      <a:pPr algn="just" defTabSz="914400"/>
                      <a:r>
                        <a:rPr lang="en-US" sz="1800" b="0" u="none" strike="noStrike">
                          <a:solidFill>
                            <a:schemeClr val="dk1"/>
                          </a:solidFill>
                          <a:effectLst/>
                          <a:uFillTx/>
                          <a:latin typeface="Times New Roman"/>
                        </a:rPr>
                        <a:t>Semantic Analysis of Legal Document </a:t>
                      </a:r>
                      <a:endParaRPr lang="en-IN" sz="18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c>
                  <a:txBody>
                    <a:bodyPr/>
                    <a:lstStyle/>
                    <a:p>
                      <a:pPr algn="ctr" defTabSz="914400"/>
                      <a:r>
                        <a:rPr lang="en-US" sz="1800" b="0" u="none" strike="noStrike">
                          <a:solidFill>
                            <a:schemeClr val="dk1"/>
                          </a:solidFill>
                          <a:effectLst/>
                          <a:uFillTx/>
                          <a:latin typeface="Times New Roman"/>
                        </a:rPr>
                        <a:t>Achref Aloui </a:t>
                      </a:r>
                      <a:endParaRPr lang="en-IN" sz="18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c>
                  <a:txBody>
                    <a:bodyPr/>
                    <a:lstStyle/>
                    <a:p>
                      <a:pPr algn="ctr" defTabSz="914400">
                        <a:lnSpc>
                          <a:spcPct val="100000"/>
                        </a:lnSpc>
                      </a:pPr>
                      <a:r>
                        <a:rPr lang="en-US" sz="1800" b="0" u="none" strike="noStrike">
                          <a:solidFill>
                            <a:schemeClr val="dk1"/>
                          </a:solidFill>
                          <a:effectLst/>
                          <a:uFillTx/>
                          <a:latin typeface="Times New Roman"/>
                        </a:rPr>
                        <a:t>2023</a:t>
                      </a:r>
                      <a:endParaRPr lang="en-IN" sz="1800" b="0" u="none" strike="noStrike">
                        <a:solidFill>
                          <a:srgbClr val="000000"/>
                        </a:solidFill>
                        <a:effectLst/>
                        <a:uFillTx/>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20000"/>
                      </a:schemeClr>
                    </a:solidFill>
                  </a:tcPr>
                </a:tc>
                <a:tc>
                  <a:txBody>
                    <a:bodyPr/>
                    <a:lstStyle/>
                    <a:p>
                      <a:pPr algn="just" defTabSz="914400"/>
                      <a:r>
                        <a:rPr lang="en-US" sz="1500" b="0" u="none" strike="noStrike">
                          <a:solidFill>
                            <a:schemeClr val="dk1"/>
                          </a:solidFill>
                          <a:effectLst/>
                          <a:uFillTx/>
                          <a:latin typeface="Times New Roman"/>
                        </a:rPr>
                        <a:t>Rule-based methods are explainable but fail to capture complex meanings. Embedding-based methods capture complexity</a:t>
                      </a:r>
                      <a:endParaRPr lang="en-IN" sz="1500" b="0" u="none" strike="noStrike">
                        <a:solidFill>
                          <a:srgbClr val="000000"/>
                        </a:solidFill>
                        <a:effectLst/>
                        <a:uFillTx/>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40000"/>
                      </a:schemeClr>
                    </a:solidFill>
                  </a:tcPr>
                </a:tc>
                <a:extLst>
                  <a:ext uri="{0D108BD9-81ED-4DB2-BD59-A6C34878D82A}">
                    <a16:rowId xmlns:a16="http://schemas.microsoft.com/office/drawing/2014/main" val="10002"/>
                  </a:ext>
                </a:extLst>
              </a:tr>
              <a:tr h="1447560">
                <a:tc>
                  <a:txBody>
                    <a:bodyPr/>
                    <a:lstStyle/>
                    <a:p>
                      <a:pPr algn="ctr" defTabSz="914400">
                        <a:lnSpc>
                          <a:spcPct val="100000"/>
                        </a:lnSpc>
                      </a:pPr>
                      <a:r>
                        <a:rPr lang="en-US" sz="1800" b="0" u="none" strike="noStrike">
                          <a:solidFill>
                            <a:schemeClr val="dk1"/>
                          </a:solidFill>
                          <a:effectLst/>
                          <a:uFillTx/>
                          <a:latin typeface="Times New Roman"/>
                        </a:rPr>
                        <a:t>3.</a:t>
                      </a:r>
                      <a:endParaRPr lang="en-IN" sz="1800" b="0" u="none" strike="noStrike">
                        <a:solidFill>
                          <a:srgbClr val="000000"/>
                        </a:solidFill>
                        <a:effectLst/>
                        <a:uFillTx/>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40000"/>
                      </a:schemeClr>
                    </a:solidFill>
                  </a:tcPr>
                </a:tc>
                <a:tc>
                  <a:txBody>
                    <a:bodyPr/>
                    <a:lstStyle/>
                    <a:p>
                      <a:pPr algn="just" defTabSz="914400"/>
                      <a:r>
                        <a:rPr lang="en-US" sz="1800" b="0" u="none" strike="noStrike" dirty="0">
                          <a:solidFill>
                            <a:schemeClr val="dk1"/>
                          </a:solidFill>
                          <a:effectLst/>
                          <a:uFillTx/>
                          <a:latin typeface="Times New Roman"/>
                        </a:rPr>
                        <a:t>Towards Multimodal Semantic Consistency Analysis of Long Form Articles</a:t>
                      </a:r>
                      <a:endParaRPr lang="en-IN" sz="1800" b="0" u="none" strike="noStrike" dirty="0">
                        <a:solidFill>
                          <a:srgbClr val="000000"/>
                        </a:solidFill>
                        <a:effectLst/>
                        <a:uFillTx/>
                        <a:latin typeface="Arial"/>
                      </a:endParaRPr>
                    </a:p>
                    <a:p>
                      <a:pPr algn="just" defTabSz="914400"/>
                      <a:endParaRPr lang="en-IN" sz="1800" b="0" u="none" strike="noStrike" dirty="0">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40000"/>
                      </a:schemeClr>
                    </a:solidFill>
                  </a:tcPr>
                </a:tc>
                <a:tc>
                  <a:txBody>
                    <a:bodyPr/>
                    <a:lstStyle/>
                    <a:p>
                      <a:pPr algn="ctr" defTabSz="914400"/>
                      <a:r>
                        <a:rPr lang="en-US" sz="1800" b="0" u="none" strike="noStrike">
                          <a:solidFill>
                            <a:schemeClr val="dk1"/>
                          </a:solidFill>
                          <a:effectLst/>
                          <a:uFillTx/>
                          <a:latin typeface="Times New Roman"/>
                        </a:rPr>
                        <a:t>Yuwei Chen ,</a:t>
                      </a:r>
                      <a:endParaRPr lang="en-IN" sz="1800" b="0" u="none" strike="noStrike">
                        <a:solidFill>
                          <a:srgbClr val="000000"/>
                        </a:solidFill>
                        <a:effectLst/>
                        <a:uFillTx/>
                        <a:latin typeface="Arial"/>
                      </a:endParaRPr>
                    </a:p>
                    <a:p>
                      <a:pPr algn="ctr" defTabSz="914400"/>
                      <a:r>
                        <a:rPr lang="en-US" sz="1800" b="0" u="none" strike="noStrike">
                          <a:solidFill>
                            <a:schemeClr val="dk1"/>
                          </a:solidFill>
                          <a:effectLst/>
                          <a:uFillTx/>
                          <a:latin typeface="Times New Roman"/>
                        </a:rPr>
                        <a:t>Ming-Ching Chang </a:t>
                      </a:r>
                      <a:endParaRPr lang="en-IN" sz="18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40000"/>
                      </a:schemeClr>
                    </a:solidFill>
                  </a:tcPr>
                </a:tc>
                <a:tc>
                  <a:txBody>
                    <a:bodyPr/>
                    <a:lstStyle/>
                    <a:p>
                      <a:pPr algn="ctr" defTabSz="914400">
                        <a:lnSpc>
                          <a:spcPct val="100000"/>
                        </a:lnSpc>
                      </a:pPr>
                      <a:r>
                        <a:rPr lang="en-US" sz="1800" b="0" u="none" strike="noStrike">
                          <a:solidFill>
                            <a:schemeClr val="dk1"/>
                          </a:solidFill>
                          <a:effectLst/>
                          <a:uFillTx/>
                          <a:latin typeface="Times New Roman"/>
                        </a:rPr>
                        <a:t>2022</a:t>
                      </a:r>
                      <a:endParaRPr lang="en-IN" sz="1800" b="0" u="none" strike="noStrike">
                        <a:solidFill>
                          <a:srgbClr val="000000"/>
                        </a:solidFill>
                        <a:effectLst/>
                        <a:uFillTx/>
                        <a:latin typeface="Times New Roman"/>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40000"/>
                      </a:schemeClr>
                    </a:solidFill>
                  </a:tcPr>
                </a:tc>
                <a:tc>
                  <a:txBody>
                    <a:bodyPr/>
                    <a:lstStyle/>
                    <a:p>
                      <a:r>
                        <a:rPr lang="en-IN" sz="1500" b="0" u="none" strike="noStrike" dirty="0">
                          <a:solidFill>
                            <a:srgbClr val="000000"/>
                          </a:solidFill>
                          <a:effectLst/>
                          <a:uFillTx/>
                          <a:latin typeface="Arial"/>
                        </a:rPr>
                        <a:t>Large end-to-end models struggle with variable text lengths and often require external knowledge bases, which this paper tries to avoid. </a:t>
                      </a: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tint val="40000"/>
                      </a:schemeClr>
                    </a:solidFill>
                  </a:tcPr>
                </a:tc>
                <a:extLst>
                  <a:ext uri="{0D108BD9-81ED-4DB2-BD59-A6C34878D82A}">
                    <a16:rowId xmlns:a16="http://schemas.microsoft.com/office/drawing/2014/main" val="10003"/>
                  </a:ext>
                </a:extLst>
              </a:tr>
            </a:tbl>
          </a:graphicData>
        </a:graphic>
      </p:graphicFrame>
      <p:sp>
        <p:nvSpPr>
          <p:cNvPr id="4" name="PlaceHolder 3"/>
          <p:cNvSpPr>
            <a:spLocks noGrp="1"/>
          </p:cNvSpPr>
          <p:nvPr>
            <p:ph type="sldNum" idx="3"/>
          </p:nvPr>
        </p:nvSpPr>
        <p:spPr/>
        <p:txBody>
          <a:bodyPr/>
          <a:lstStyle/>
          <a:p>
            <a:fld id="{6FF1B51E-48EC-44BA-A65C-66C10EF952E5}" type="slidenum">
              <a:r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862C4-A375-3C37-C1DF-AC995AEC40F1}"/>
            </a:ext>
          </a:extLst>
        </p:cNvPr>
        <p:cNvGrpSpPr/>
        <p:nvPr/>
      </p:nvGrpSpPr>
      <p:grpSpPr>
        <a:xfrm>
          <a:off x="0" y="0"/>
          <a:ext cx="0" cy="0"/>
          <a:chOff x="0" y="0"/>
          <a:chExt cx="0" cy="0"/>
        </a:xfrm>
      </p:grpSpPr>
      <p:sp>
        <p:nvSpPr>
          <p:cNvPr id="75" name="PlaceHolder 1">
            <a:extLst>
              <a:ext uri="{FF2B5EF4-FFF2-40B4-BE49-F238E27FC236}">
                <a16:creationId xmlns:a16="http://schemas.microsoft.com/office/drawing/2014/main" id="{EEBBA697-318B-9E32-EDFA-0928605F0623}"/>
              </a:ext>
            </a:extLst>
          </p:cNvPr>
          <p:cNvSpPr>
            <a:spLocks noGrp="1"/>
          </p:cNvSpPr>
          <p:nvPr>
            <p:ph type="title"/>
          </p:nvPr>
        </p:nvSpPr>
        <p:spPr>
          <a:xfrm>
            <a:off x="457200" y="228600"/>
            <a:ext cx="8228520" cy="562320"/>
          </a:xfrm>
          <a:prstGeom prst="rect">
            <a:avLst/>
          </a:prstGeom>
          <a:solidFill>
            <a:srgbClr val="6535EB"/>
          </a:solidFill>
          <a:ln w="0">
            <a:noFill/>
          </a:ln>
        </p:spPr>
        <p:txBody>
          <a:bodyPr lIns="91440" tIns="45720" rIns="91440" bIns="45720" anchor="ctr">
            <a:noAutofit/>
          </a:bodyPr>
          <a:lstStyle/>
          <a:p>
            <a:pPr indent="0" algn="ctr" defTabSz="914400">
              <a:lnSpc>
                <a:spcPct val="100000"/>
              </a:lnSpc>
              <a:buNone/>
              <a:tabLst>
                <a:tab pos="0" algn="l"/>
              </a:tabLst>
            </a:pPr>
            <a:r>
              <a:rPr lang="en-IN" sz="3600" b="1" u="none" strike="noStrike" dirty="0">
                <a:solidFill>
                  <a:schemeClr val="lt1"/>
                </a:solidFill>
                <a:effectLst/>
                <a:uFillTx/>
                <a:latin typeface="Arial Black"/>
              </a:rPr>
              <a:t>ARCHITECTURE DIAGRAM</a:t>
            </a:r>
            <a:endParaRPr lang="en-US" sz="3600" b="0" u="none" strike="noStrike" dirty="0">
              <a:solidFill>
                <a:srgbClr val="FFFFFF"/>
              </a:solidFill>
              <a:effectLst/>
              <a:uFillTx/>
              <a:latin typeface="Arial"/>
            </a:endParaRPr>
          </a:p>
        </p:txBody>
      </p:sp>
      <p:sp>
        <p:nvSpPr>
          <p:cNvPr id="4" name="PlaceHolder 3">
            <a:extLst>
              <a:ext uri="{FF2B5EF4-FFF2-40B4-BE49-F238E27FC236}">
                <a16:creationId xmlns:a16="http://schemas.microsoft.com/office/drawing/2014/main" id="{A56291C9-52F6-92C0-95CA-32646F78C76A}"/>
              </a:ext>
            </a:extLst>
          </p:cNvPr>
          <p:cNvSpPr>
            <a:spLocks noGrp="1"/>
          </p:cNvSpPr>
          <p:nvPr>
            <p:ph type="sldNum" idx="27"/>
          </p:nvPr>
        </p:nvSpPr>
        <p:spPr/>
        <p:txBody>
          <a:bodyPr/>
          <a:lstStyle/>
          <a:p>
            <a:fld id="{389DF914-689E-4092-9170-D3F51D83B64D}" type="slidenum">
              <a:rPr/>
              <a:t>8</a:t>
            </a:fld>
            <a:endParaRPr/>
          </a:p>
        </p:txBody>
      </p:sp>
      <p:pic>
        <p:nvPicPr>
          <p:cNvPr id="2" name="Picture 1">
            <a:extLst>
              <a:ext uri="{FF2B5EF4-FFF2-40B4-BE49-F238E27FC236}">
                <a16:creationId xmlns:a16="http://schemas.microsoft.com/office/drawing/2014/main" id="{4AF14AD4-49D1-997E-3C93-C067378CD40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52047" y="904568"/>
            <a:ext cx="5838825" cy="5815911"/>
          </a:xfrm>
          <a:prstGeom prst="rect">
            <a:avLst/>
          </a:prstGeom>
          <a:noFill/>
        </p:spPr>
      </p:pic>
    </p:spTree>
    <p:extLst>
      <p:ext uri="{BB962C8B-B14F-4D97-AF65-F5344CB8AC3E}">
        <p14:creationId xmlns:p14="http://schemas.microsoft.com/office/powerpoint/2010/main" val="1302220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29032"/>
            <a:ext cx="8001000" cy="5029200"/>
          </a:xfrm>
        </p:spPr>
        <p:txBody>
          <a:bodyPr>
            <a:noAutofit/>
          </a:bodyPr>
          <a:lstStyle/>
          <a:p>
            <a:pPr>
              <a:buAutoNum type="arabicPeriod"/>
            </a:pPr>
            <a:r>
              <a:rPr lang="en-IN" sz="1800" b="1" dirty="0">
                <a:latin typeface="Cambria" panose="02040503050406030204" pitchFamily="18" charset="0"/>
                <a:ea typeface="Cambria" panose="02040503050406030204" pitchFamily="18" charset="0"/>
              </a:rPr>
              <a:t>Multi-Document Ingestion and Preprocessing</a:t>
            </a:r>
            <a:br>
              <a:rPr lang="en-IN" sz="1800" dirty="0">
                <a:latin typeface="Cambria" panose="02040503050406030204" pitchFamily="18" charset="0"/>
                <a:ea typeface="Cambria" panose="02040503050406030204" pitchFamily="18" charset="0"/>
              </a:rPr>
            </a:br>
            <a:r>
              <a:rPr lang="en-IN" sz="1800" dirty="0">
                <a:latin typeface="Cambria" panose="02040503050406030204" pitchFamily="18" charset="0"/>
                <a:ea typeface="Cambria" panose="02040503050406030204" pitchFamily="18" charset="0"/>
              </a:rPr>
              <a:t>The system enables users to upload a target document along with reference documents in PDF, DOCX, or TXT formats. Extracted text is organized line-by-line and divided into smaller chunks for efficient processing and analysis.</a:t>
            </a:r>
          </a:p>
          <a:p>
            <a:pPr>
              <a:buAutoNum type="arabicPeriod"/>
            </a:pPr>
            <a:r>
              <a:rPr lang="en-IN" sz="1800" b="1" dirty="0">
                <a:latin typeface="Cambria" panose="02040503050406030204" pitchFamily="18" charset="0"/>
                <a:ea typeface="Cambria" panose="02040503050406030204" pitchFamily="18" charset="0"/>
              </a:rPr>
              <a:t>Dual-Layer AI Analysis</a:t>
            </a:r>
            <a:br>
              <a:rPr lang="en-IN" sz="1800" dirty="0">
                <a:latin typeface="Cambria" panose="02040503050406030204" pitchFamily="18" charset="0"/>
                <a:ea typeface="Cambria" panose="02040503050406030204" pitchFamily="18" charset="0"/>
              </a:rPr>
            </a:br>
            <a:r>
              <a:rPr lang="en-IN" sz="1800" dirty="0">
                <a:latin typeface="Cambria" panose="02040503050406030204" pitchFamily="18" charset="0"/>
                <a:ea typeface="Cambria" panose="02040503050406030204" pitchFamily="18" charset="0"/>
              </a:rPr>
              <a:t>The system uses a hybrid AI-based architecture for accurate semantic verification.</a:t>
            </a:r>
            <a:br>
              <a:rPr lang="en-IN" sz="1800" dirty="0">
                <a:latin typeface="Cambria" panose="02040503050406030204" pitchFamily="18" charset="0"/>
                <a:ea typeface="Cambria" panose="02040503050406030204" pitchFamily="18" charset="0"/>
              </a:rPr>
            </a:br>
            <a:r>
              <a:rPr lang="en-IN" sz="1800" dirty="0">
                <a:latin typeface="Cambria" panose="02040503050406030204" pitchFamily="18" charset="0"/>
                <a:ea typeface="Cambria" panose="02040503050406030204" pitchFamily="18" charset="0"/>
              </a:rPr>
              <a:t>    - </a:t>
            </a:r>
            <a:r>
              <a:rPr lang="en-IN" sz="1800" b="1" dirty="0">
                <a:latin typeface="Cambria" panose="02040503050406030204" pitchFamily="18" charset="0"/>
                <a:ea typeface="Cambria" panose="02040503050406030204" pitchFamily="18" charset="0"/>
              </a:rPr>
              <a:t>Layer 1 – Semantic Similarity Search (SBERT):</a:t>
            </a:r>
            <a:r>
              <a:rPr lang="en-IN" sz="1800" dirty="0">
                <a:latin typeface="Cambria" panose="02040503050406030204" pitchFamily="18" charset="0"/>
                <a:ea typeface="Cambria" panose="02040503050406030204" pitchFamily="18" charset="0"/>
              </a:rPr>
              <a:t> SBERT generates semantic           embeddings to identify similar clauses between documents.</a:t>
            </a:r>
            <a:br>
              <a:rPr lang="en-IN" sz="1800" dirty="0">
                <a:latin typeface="Cambria" panose="02040503050406030204" pitchFamily="18" charset="0"/>
                <a:ea typeface="Cambria" panose="02040503050406030204" pitchFamily="18" charset="0"/>
              </a:rPr>
            </a:br>
            <a:r>
              <a:rPr lang="en-IN" sz="1800" dirty="0">
                <a:latin typeface="Cambria" panose="02040503050406030204" pitchFamily="18" charset="0"/>
                <a:ea typeface="Cambria" panose="02040503050406030204" pitchFamily="18" charset="0"/>
              </a:rPr>
              <a:t>    - </a:t>
            </a:r>
            <a:r>
              <a:rPr lang="en-IN" sz="1800" b="1" dirty="0">
                <a:latin typeface="Cambria" panose="02040503050406030204" pitchFamily="18" charset="0"/>
                <a:ea typeface="Cambria" panose="02040503050406030204" pitchFamily="18" charset="0"/>
              </a:rPr>
              <a:t>Layer 2 – NLI-Based Verification (LLM):</a:t>
            </a:r>
            <a:r>
              <a:rPr lang="en-IN" sz="1800" dirty="0">
                <a:latin typeface="Cambria" panose="02040503050406030204" pitchFamily="18" charset="0"/>
                <a:ea typeface="Cambria" panose="02040503050406030204" pitchFamily="18" charset="0"/>
              </a:rPr>
              <a:t> A Large Language Model performs Natural Language Inference (NLI) to detect contradictions, inconsistencies, and duplicate content. </a:t>
            </a:r>
          </a:p>
          <a:p>
            <a:pPr>
              <a:buAutoNum type="arabicPeriod"/>
            </a:pPr>
            <a:r>
              <a:rPr lang="en-IN" sz="1800" b="1" dirty="0">
                <a:latin typeface="Cambria" panose="02040503050406030204" pitchFamily="18" charset="0"/>
                <a:ea typeface="Cambria" panose="02040503050406030204" pitchFamily="18" charset="0"/>
              </a:rPr>
              <a:t>Context-Aware Filtering Mechanism</a:t>
            </a:r>
            <a:br>
              <a:rPr lang="en-IN" sz="1800" dirty="0">
                <a:latin typeface="Cambria" panose="02040503050406030204" pitchFamily="18" charset="0"/>
                <a:ea typeface="Cambria" panose="02040503050406030204" pitchFamily="18" charset="0"/>
              </a:rPr>
            </a:br>
            <a:r>
              <a:rPr lang="en-IN" sz="1800" dirty="0">
                <a:latin typeface="Cambria" panose="02040503050406030204" pitchFamily="18" charset="0"/>
                <a:ea typeface="Cambria" panose="02040503050406030204" pitchFamily="18" charset="0"/>
              </a:rPr>
              <a:t>The system applies NLP-based filters to remove boilerplate legal text and avoid irrelevant cross-topic comparisons, reducing false positives and improving accuracy. </a:t>
            </a:r>
          </a:p>
          <a:p>
            <a:pPr>
              <a:buAutoNum type="arabicPeriod"/>
            </a:pPr>
            <a:r>
              <a:rPr lang="en-IN" sz="1800" b="1" dirty="0">
                <a:latin typeface="Cambria" panose="02040503050406030204" pitchFamily="18" charset="0"/>
                <a:ea typeface="Cambria" panose="02040503050406030204" pitchFamily="18" charset="0"/>
              </a:rPr>
              <a:t>Interactive Reporting Dashboard</a:t>
            </a:r>
            <a:br>
              <a:rPr lang="en-IN" sz="1800" dirty="0">
                <a:latin typeface="Cambria" panose="02040503050406030204" pitchFamily="18" charset="0"/>
                <a:ea typeface="Cambria" panose="02040503050406030204" pitchFamily="18" charset="0"/>
              </a:rPr>
            </a:br>
            <a:r>
              <a:rPr lang="en-IN" sz="1800" dirty="0">
                <a:latin typeface="Cambria" panose="02040503050406030204" pitchFamily="18" charset="0"/>
                <a:ea typeface="Cambria" panose="02040503050406030204" pitchFamily="18" charset="0"/>
              </a:rPr>
              <a:t>The platform provides detailed summaries, page-wise analysis, and line-level issue reporting to help users quickly identify and review document errors.</a:t>
            </a:r>
            <a:endParaRPr lang="en-US" sz="1800" dirty="0">
              <a:latin typeface="Cambria" panose="02040503050406030204" pitchFamily="18" charset="0"/>
              <a:ea typeface="Cambria" panose="02040503050406030204" pitchFamily="18" charset="0"/>
            </a:endParaRPr>
          </a:p>
        </p:txBody>
      </p:sp>
      <p:sp>
        <p:nvSpPr>
          <p:cNvPr id="6" name="Slide Number Placeholder 5"/>
          <p:cNvSpPr>
            <a:spLocks noGrp="1"/>
          </p:cNvSpPr>
          <p:nvPr>
            <p:ph type="sldNum" sz="quarter" idx="12"/>
          </p:nvPr>
        </p:nvSpPr>
        <p:spPr/>
        <p:txBody>
          <a:bodyPr/>
          <a:lstStyle/>
          <a:p>
            <a:fld id="{E8B2053A-79C1-4C5C-AA77-91D5E8B79550}" type="slidenum">
              <a:rPr lang="en-US" smtClean="0"/>
              <a:pPr/>
              <a:t>9</a:t>
            </a:fld>
            <a:endParaRPr lang="en-US"/>
          </a:p>
        </p:txBody>
      </p:sp>
      <p:sp>
        <p:nvSpPr>
          <p:cNvPr id="7" name="Title 1"/>
          <p:cNvSpPr txBox="1">
            <a:spLocks/>
          </p:cNvSpPr>
          <p:nvPr/>
        </p:nvSpPr>
        <p:spPr>
          <a:xfrm>
            <a:off x="457200" y="228600"/>
            <a:ext cx="8229600" cy="563562"/>
          </a:xfrm>
          <a:prstGeom prst="rect">
            <a:avLst/>
          </a:prstGeom>
          <a:solidFill>
            <a:srgbClr val="6C3EEC"/>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a:solidFill>
                  <a:schemeClr val="lt1"/>
                </a:solidFill>
                <a:latin typeface="Arial Black"/>
              </a:rPr>
              <a:t>PROPOSED WORK</a:t>
            </a:r>
            <a:endParaRPr lang="en-IN" sz="2800" dirty="0">
              <a:solidFill>
                <a:srgbClr val="FFFFFF"/>
              </a:solidFill>
              <a:latin typeface="Arial"/>
            </a:endParaRPr>
          </a:p>
        </p:txBody>
      </p:sp>
    </p:spTree>
    <p:extLst>
      <p:ext uri="{BB962C8B-B14F-4D97-AF65-F5344CB8AC3E}">
        <p14:creationId xmlns:p14="http://schemas.microsoft.com/office/powerpoint/2010/main" val="3496424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6A321-54C8-D303-6EF2-8E09A21C8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9966D-5768-6DDC-7A0A-8EBCBF472EB0}"/>
              </a:ext>
            </a:extLst>
          </p:cNvPr>
          <p:cNvSpPr>
            <a:spLocks noGrp="1"/>
          </p:cNvSpPr>
          <p:nvPr>
            <p:ph type="title"/>
          </p:nvPr>
        </p:nvSpPr>
        <p:spPr>
          <a:xfrm>
            <a:off x="457200" y="228600"/>
            <a:ext cx="8229600" cy="563562"/>
          </a:xfrm>
          <a:solidFill>
            <a:srgbClr val="6535EB"/>
          </a:solidFill>
        </p:spPr>
        <p:txBody>
          <a:bodyPr>
            <a:noAutofit/>
          </a:bodyPr>
          <a:lstStyle/>
          <a:p>
            <a:r>
              <a:rPr lang="en-US" sz="3600" b="1" dirty="0">
                <a:solidFill>
                  <a:schemeClr val="bg1"/>
                </a:solidFill>
                <a:latin typeface="Arial Black" pitchFamily="34" charset="0"/>
                <a:cs typeface="Times New Roman" pitchFamily="18" charset="0"/>
              </a:rPr>
              <a:t>ALGORITHMS/TECHNIQUES</a:t>
            </a:r>
          </a:p>
        </p:txBody>
      </p:sp>
      <p:sp>
        <p:nvSpPr>
          <p:cNvPr id="6" name="Slide Number Placeholder 5">
            <a:extLst>
              <a:ext uri="{FF2B5EF4-FFF2-40B4-BE49-F238E27FC236}">
                <a16:creationId xmlns:a16="http://schemas.microsoft.com/office/drawing/2014/main" id="{D1726A59-0165-43E6-67C7-BFF00D9A9499}"/>
              </a:ext>
            </a:extLst>
          </p:cNvPr>
          <p:cNvSpPr>
            <a:spLocks noGrp="1"/>
          </p:cNvSpPr>
          <p:nvPr>
            <p:ph type="sldNum" sz="quarter" idx="12"/>
          </p:nvPr>
        </p:nvSpPr>
        <p:spPr/>
        <p:txBody>
          <a:bodyPr/>
          <a:lstStyle/>
          <a:p>
            <a:fld id="{E8B2053A-79C1-4C5C-AA77-91D5E8B79550}" type="slidenum">
              <a:rPr lang="en-US" smtClean="0"/>
              <a:pPr/>
              <a:t>10</a:t>
            </a:fld>
            <a:endParaRPr lang="en-US" dirty="0"/>
          </a:p>
        </p:txBody>
      </p:sp>
      <p:sp>
        <p:nvSpPr>
          <p:cNvPr id="3" name="Rectangle 1">
            <a:extLst>
              <a:ext uri="{FF2B5EF4-FFF2-40B4-BE49-F238E27FC236}">
                <a16:creationId xmlns:a16="http://schemas.microsoft.com/office/drawing/2014/main" id="{47B5E76D-61BE-757E-9584-47B2B14A6BBD}"/>
              </a:ext>
            </a:extLst>
          </p:cNvPr>
          <p:cNvSpPr>
            <a:spLocks noGrp="1" noChangeArrowheads="1"/>
          </p:cNvSpPr>
          <p:nvPr>
            <p:ph idx="1"/>
          </p:nvPr>
        </p:nvSpPr>
        <p:spPr bwMode="auto">
          <a:xfrm>
            <a:off x="589936" y="1504521"/>
            <a:ext cx="7772400" cy="4398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2000" b="1" dirty="0">
                <a:latin typeface="Cambria" panose="02040503050406030204" pitchFamily="18" charset="0"/>
                <a:ea typeface="Cambria" panose="02040503050406030204" pitchFamily="18" charset="0"/>
              </a:rPr>
              <a:t>1. Data Ingestion &amp; Preprocessing</a:t>
            </a:r>
            <a:endParaRPr lang="en-IN" sz="2000" dirty="0">
              <a:latin typeface="Cambria" panose="02040503050406030204" pitchFamily="18" charset="0"/>
              <a:ea typeface="Cambria" panose="02040503050406030204" pitchFamily="18" charset="0"/>
            </a:endParaRPr>
          </a:p>
          <a:p>
            <a:pPr lvl="1"/>
            <a:r>
              <a:rPr lang="en-IN" sz="2000" dirty="0">
                <a:latin typeface="Cambria" panose="02040503050406030204" pitchFamily="18" charset="0"/>
                <a:ea typeface="Cambria" panose="02040503050406030204" pitchFamily="18" charset="0"/>
              </a:rPr>
              <a:t>Extracted text from PDF, DOCX, and TXT documents.</a:t>
            </a:r>
          </a:p>
          <a:p>
            <a:pPr lvl="1"/>
            <a:r>
              <a:rPr lang="en-IN" sz="2000" dirty="0">
                <a:latin typeface="Cambria" panose="02040503050406030204" pitchFamily="18" charset="0"/>
                <a:ea typeface="Cambria" panose="02040503050406030204" pitchFamily="18" charset="0"/>
              </a:rPr>
              <a:t>Applied chunking and contextual filtering to remove boilerplate and irrelevant content.</a:t>
            </a:r>
          </a:p>
          <a:p>
            <a:pPr marL="0" indent="0">
              <a:buNone/>
            </a:pPr>
            <a:r>
              <a:rPr lang="en-IN" sz="2000" b="1" dirty="0">
                <a:latin typeface="Cambria" panose="02040503050406030204" pitchFamily="18" charset="0"/>
                <a:ea typeface="Cambria" panose="02040503050406030204" pitchFamily="18" charset="0"/>
              </a:rPr>
              <a:t>2. Semantic Embedding Generation</a:t>
            </a:r>
            <a:endParaRPr lang="en-IN" sz="2000" dirty="0">
              <a:latin typeface="Cambria" panose="02040503050406030204" pitchFamily="18" charset="0"/>
              <a:ea typeface="Cambria" panose="02040503050406030204" pitchFamily="18" charset="0"/>
            </a:endParaRPr>
          </a:p>
          <a:p>
            <a:pPr lvl="1"/>
            <a:r>
              <a:rPr lang="en-IN" sz="2000" b="1" dirty="0">
                <a:latin typeface="Cambria" panose="02040503050406030204" pitchFamily="18" charset="0"/>
                <a:ea typeface="Cambria" panose="02040503050406030204" pitchFamily="18" charset="0"/>
              </a:rPr>
              <a:t>Algorithm:</a:t>
            </a:r>
            <a:r>
              <a:rPr lang="en-IN" sz="2000" dirty="0">
                <a:latin typeface="Cambria" panose="02040503050406030204" pitchFamily="18" charset="0"/>
                <a:ea typeface="Cambria" panose="02040503050406030204" pitchFamily="18" charset="0"/>
              </a:rPr>
              <a:t> Dense Vector Embedding</a:t>
            </a:r>
          </a:p>
          <a:p>
            <a:pPr lvl="1"/>
            <a:r>
              <a:rPr lang="en-IN" sz="2000" b="1" dirty="0">
                <a:latin typeface="Cambria" panose="02040503050406030204" pitchFamily="18" charset="0"/>
                <a:ea typeface="Cambria" panose="02040503050406030204" pitchFamily="18" charset="0"/>
              </a:rPr>
              <a:t>Model Used:</a:t>
            </a:r>
            <a:r>
              <a:rPr lang="en-IN" sz="2000" dirty="0">
                <a:latin typeface="Cambria" panose="02040503050406030204" pitchFamily="18" charset="0"/>
                <a:ea typeface="Cambria" panose="02040503050406030204" pitchFamily="18" charset="0"/>
              </a:rPr>
              <a:t> all-MiniLM-L6-v2 (Sentence Transformers)</a:t>
            </a:r>
          </a:p>
          <a:p>
            <a:pPr lvl="1"/>
            <a:r>
              <a:rPr lang="en-IN" sz="2000" dirty="0">
                <a:latin typeface="Cambria" panose="02040503050406030204" pitchFamily="18" charset="0"/>
                <a:ea typeface="Cambria" panose="02040503050406030204" pitchFamily="18" charset="0"/>
              </a:rPr>
              <a:t>Generated semantic embeddings for document clauses and sentences.</a:t>
            </a:r>
          </a:p>
          <a:p>
            <a:pPr marL="0" indent="0">
              <a:buNone/>
            </a:pPr>
            <a:r>
              <a:rPr lang="en-IN" sz="2000" b="1" dirty="0">
                <a:latin typeface="Cambria" panose="02040503050406030204" pitchFamily="18" charset="0"/>
                <a:ea typeface="Cambria" panose="02040503050406030204" pitchFamily="18" charset="0"/>
              </a:rPr>
              <a:t>3. Similarity Search &amp; Topic Alignment</a:t>
            </a:r>
            <a:endParaRPr lang="en-IN" sz="2000" dirty="0">
              <a:latin typeface="Cambria" panose="02040503050406030204" pitchFamily="18" charset="0"/>
              <a:ea typeface="Cambria" panose="02040503050406030204" pitchFamily="18" charset="0"/>
            </a:endParaRPr>
          </a:p>
          <a:p>
            <a:pPr lvl="1"/>
            <a:r>
              <a:rPr lang="en-IN" sz="2000" b="1" dirty="0">
                <a:latin typeface="Cambria" panose="02040503050406030204" pitchFamily="18" charset="0"/>
                <a:ea typeface="Cambria" panose="02040503050406030204" pitchFamily="18" charset="0"/>
              </a:rPr>
              <a:t>Algorithm:</a:t>
            </a:r>
            <a:r>
              <a:rPr lang="en-IN" sz="2000" dirty="0">
                <a:latin typeface="Cambria" panose="02040503050406030204" pitchFamily="18" charset="0"/>
                <a:ea typeface="Cambria" panose="02040503050406030204" pitchFamily="18" charset="0"/>
              </a:rPr>
              <a:t> Cosine Similarity / Vector Matching</a:t>
            </a:r>
          </a:p>
          <a:p>
            <a:pPr lvl="1"/>
            <a:r>
              <a:rPr lang="en-IN" sz="2000" dirty="0">
                <a:latin typeface="Cambria" panose="02040503050406030204" pitchFamily="18" charset="0"/>
                <a:ea typeface="Cambria" panose="02040503050406030204" pitchFamily="18" charset="0"/>
              </a:rPr>
              <a:t>Matched semantically related clauses between reference and target documents.</a:t>
            </a:r>
          </a:p>
        </p:txBody>
      </p:sp>
      <p:sp>
        <p:nvSpPr>
          <p:cNvPr id="4" name="Google Shape;108;p1">
            <a:extLst>
              <a:ext uri="{FF2B5EF4-FFF2-40B4-BE49-F238E27FC236}">
                <a16:creationId xmlns:a16="http://schemas.microsoft.com/office/drawing/2014/main" id="{9BC540DE-0685-D1C5-D04D-540004EB9996}"/>
              </a:ext>
            </a:extLst>
          </p:cNvPr>
          <p:cNvSpPr/>
          <p:nvPr/>
        </p:nvSpPr>
        <p:spPr>
          <a:xfrm>
            <a:off x="434880" y="244800"/>
            <a:ext cx="8228520" cy="562320"/>
          </a:xfrm>
          <a:prstGeom prst="rect">
            <a:avLst/>
          </a:prstGeom>
          <a:solidFill>
            <a:srgbClr val="6C3EEC"/>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tabLst>
                <a:tab pos="0" algn="l"/>
              </a:tabLst>
            </a:pPr>
            <a:r>
              <a:rPr lang="en-US" sz="2800" b="1" dirty="0">
                <a:solidFill>
                  <a:schemeClr val="bg1"/>
                </a:solidFill>
                <a:latin typeface="Arial Black" pitchFamily="34" charset="0"/>
                <a:cs typeface="Times New Roman" pitchFamily="18" charset="0"/>
              </a:rPr>
              <a:t>ALGORITHMS/TECHNIQUES</a:t>
            </a:r>
            <a:endParaRPr lang="en-US" sz="2800" b="0" u="none" strike="noStrike" dirty="0">
              <a:solidFill>
                <a:srgbClr val="FFFFFF"/>
              </a:solidFill>
              <a:effectLst/>
              <a:uFillTx/>
              <a:latin typeface="Arial"/>
            </a:endParaRPr>
          </a:p>
        </p:txBody>
      </p:sp>
    </p:spTree>
    <p:extLst>
      <p:ext uri="{BB962C8B-B14F-4D97-AF65-F5344CB8AC3E}">
        <p14:creationId xmlns:p14="http://schemas.microsoft.com/office/powerpoint/2010/main" val="3766712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FFF85-DAA6-09DF-49D0-9048E490A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AC887-20A2-773D-5CAA-24838ECEBD84}"/>
              </a:ext>
            </a:extLst>
          </p:cNvPr>
          <p:cNvSpPr>
            <a:spLocks noGrp="1"/>
          </p:cNvSpPr>
          <p:nvPr>
            <p:ph type="title"/>
          </p:nvPr>
        </p:nvSpPr>
        <p:spPr>
          <a:xfrm>
            <a:off x="457200" y="228600"/>
            <a:ext cx="8229600" cy="563562"/>
          </a:xfrm>
          <a:solidFill>
            <a:srgbClr val="6535EB"/>
          </a:solidFill>
        </p:spPr>
        <p:txBody>
          <a:bodyPr>
            <a:noAutofit/>
          </a:bodyPr>
          <a:lstStyle/>
          <a:p>
            <a:r>
              <a:rPr lang="en-US" sz="3600" b="1" dirty="0">
                <a:solidFill>
                  <a:schemeClr val="bg1"/>
                </a:solidFill>
                <a:latin typeface="Arial Black" pitchFamily="34" charset="0"/>
                <a:cs typeface="Times New Roman" pitchFamily="18" charset="0"/>
              </a:rPr>
              <a:t>ALGORITHMS/TECHNIQUES</a:t>
            </a:r>
          </a:p>
        </p:txBody>
      </p:sp>
      <p:sp>
        <p:nvSpPr>
          <p:cNvPr id="6" name="Slide Number Placeholder 5">
            <a:extLst>
              <a:ext uri="{FF2B5EF4-FFF2-40B4-BE49-F238E27FC236}">
                <a16:creationId xmlns:a16="http://schemas.microsoft.com/office/drawing/2014/main" id="{DE06E402-0104-5EC1-12B3-4967010CE91F}"/>
              </a:ext>
            </a:extLst>
          </p:cNvPr>
          <p:cNvSpPr>
            <a:spLocks noGrp="1"/>
          </p:cNvSpPr>
          <p:nvPr>
            <p:ph type="sldNum" sz="quarter" idx="12"/>
          </p:nvPr>
        </p:nvSpPr>
        <p:spPr/>
        <p:txBody>
          <a:bodyPr/>
          <a:lstStyle/>
          <a:p>
            <a:fld id="{E8B2053A-79C1-4C5C-AA77-91D5E8B79550}" type="slidenum">
              <a:rPr lang="en-US" smtClean="0"/>
              <a:pPr/>
              <a:t>11</a:t>
            </a:fld>
            <a:endParaRPr lang="en-US" dirty="0"/>
          </a:p>
        </p:txBody>
      </p:sp>
      <p:sp>
        <p:nvSpPr>
          <p:cNvPr id="3" name="Rectangle 1">
            <a:extLst>
              <a:ext uri="{FF2B5EF4-FFF2-40B4-BE49-F238E27FC236}">
                <a16:creationId xmlns:a16="http://schemas.microsoft.com/office/drawing/2014/main" id="{9E3B8669-0E0D-F10E-F265-9F19C01575EA}"/>
              </a:ext>
            </a:extLst>
          </p:cNvPr>
          <p:cNvSpPr>
            <a:spLocks noGrp="1" noChangeArrowheads="1"/>
          </p:cNvSpPr>
          <p:nvPr>
            <p:ph idx="1"/>
          </p:nvPr>
        </p:nvSpPr>
        <p:spPr bwMode="auto">
          <a:xfrm>
            <a:off x="662940" y="1223081"/>
            <a:ext cx="77724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2000" b="1" dirty="0">
                <a:latin typeface="Cambria" panose="02040503050406030204" pitchFamily="18" charset="0"/>
                <a:ea typeface="Cambria" panose="02040503050406030204" pitchFamily="18" charset="0"/>
              </a:rPr>
              <a:t>4. Natural Language Inference (NLI) Verification</a:t>
            </a:r>
            <a:endParaRPr lang="en-IN" sz="2000" dirty="0">
              <a:latin typeface="Cambria" panose="02040503050406030204" pitchFamily="18" charset="0"/>
              <a:ea typeface="Cambria" panose="02040503050406030204" pitchFamily="18" charset="0"/>
            </a:endParaRPr>
          </a:p>
          <a:p>
            <a:pPr lvl="1"/>
            <a:r>
              <a:rPr lang="en-IN" sz="2000" b="1" dirty="0">
                <a:latin typeface="Cambria" panose="02040503050406030204" pitchFamily="18" charset="0"/>
                <a:ea typeface="Cambria" panose="02040503050406030204" pitchFamily="18" charset="0"/>
              </a:rPr>
              <a:t>Algorithm:</a:t>
            </a:r>
            <a:r>
              <a:rPr lang="en-IN" sz="2000" dirty="0">
                <a:latin typeface="Cambria" panose="02040503050406030204" pitchFamily="18" charset="0"/>
                <a:ea typeface="Cambria" panose="02040503050406030204" pitchFamily="18" charset="0"/>
              </a:rPr>
              <a:t> Cross-Encoder Classification</a:t>
            </a:r>
          </a:p>
          <a:p>
            <a:pPr lvl="1"/>
            <a:r>
              <a:rPr lang="en-IN" sz="2000" b="1" dirty="0">
                <a:latin typeface="Cambria" panose="02040503050406030204" pitchFamily="18" charset="0"/>
                <a:ea typeface="Cambria" panose="02040503050406030204" pitchFamily="18" charset="0"/>
              </a:rPr>
              <a:t>Model Used:</a:t>
            </a:r>
            <a:r>
              <a:rPr lang="en-IN" sz="2000" dirty="0">
                <a:latin typeface="Cambria" panose="02040503050406030204" pitchFamily="18" charset="0"/>
                <a:ea typeface="Cambria" panose="02040503050406030204" pitchFamily="18" charset="0"/>
              </a:rPr>
              <a:t> cross-encoder/</a:t>
            </a:r>
            <a:r>
              <a:rPr lang="en-IN" sz="2000" dirty="0" err="1">
                <a:latin typeface="Cambria" panose="02040503050406030204" pitchFamily="18" charset="0"/>
                <a:ea typeface="Cambria" panose="02040503050406030204" pitchFamily="18" charset="0"/>
              </a:rPr>
              <a:t>nli</a:t>
            </a:r>
            <a:r>
              <a:rPr lang="en-IN" sz="2000" dirty="0">
                <a:latin typeface="Cambria" panose="02040503050406030204" pitchFamily="18" charset="0"/>
                <a:ea typeface="Cambria" panose="02040503050406030204" pitchFamily="18" charset="0"/>
              </a:rPr>
              <a:t>-</a:t>
            </a:r>
            <a:r>
              <a:rPr lang="en-IN" sz="2000" dirty="0" err="1">
                <a:latin typeface="Cambria" panose="02040503050406030204" pitchFamily="18" charset="0"/>
                <a:ea typeface="Cambria" panose="02040503050406030204" pitchFamily="18" charset="0"/>
              </a:rPr>
              <a:t>distilroberta</a:t>
            </a:r>
            <a:r>
              <a:rPr lang="en-IN" sz="2000" dirty="0">
                <a:latin typeface="Cambria" panose="02040503050406030204" pitchFamily="18" charset="0"/>
                <a:ea typeface="Cambria" panose="02040503050406030204" pitchFamily="18" charset="0"/>
              </a:rPr>
              <a:t>-base</a:t>
            </a:r>
          </a:p>
          <a:p>
            <a:pPr lvl="1"/>
            <a:r>
              <a:rPr lang="en-IN" sz="2000" dirty="0">
                <a:latin typeface="Cambria" panose="02040503050406030204" pitchFamily="18" charset="0"/>
                <a:ea typeface="Cambria" panose="02040503050406030204" pitchFamily="18" charset="0"/>
              </a:rPr>
              <a:t>Classified relationships into Entailment, Neutral, and Contradiction for anomaly detection.</a:t>
            </a:r>
            <a:endParaRPr lang="en-IN" sz="2000" b="1" dirty="0">
              <a:latin typeface="Cambria" panose="02040503050406030204" pitchFamily="18" charset="0"/>
              <a:ea typeface="Cambria" panose="02040503050406030204" pitchFamily="18" charset="0"/>
            </a:endParaRPr>
          </a:p>
          <a:p>
            <a:pPr marL="0" indent="0">
              <a:buNone/>
            </a:pPr>
            <a:r>
              <a:rPr lang="en-IN" sz="2000" b="1" dirty="0">
                <a:latin typeface="Cambria" panose="02040503050406030204" pitchFamily="18" charset="0"/>
                <a:ea typeface="Cambria" panose="02040503050406030204" pitchFamily="18" charset="0"/>
              </a:rPr>
              <a:t>5. Fine-Tuning with </a:t>
            </a:r>
            <a:r>
              <a:rPr lang="en-IN" sz="2000" b="1" dirty="0" err="1">
                <a:latin typeface="Cambria" panose="02040503050406030204" pitchFamily="18" charset="0"/>
                <a:ea typeface="Cambria" panose="02040503050406030204" pitchFamily="18" charset="0"/>
              </a:rPr>
              <a:t>QLoRA</a:t>
            </a:r>
            <a:endParaRPr lang="en-IN" sz="2000" dirty="0">
              <a:latin typeface="Cambria" panose="02040503050406030204" pitchFamily="18" charset="0"/>
              <a:ea typeface="Cambria" panose="02040503050406030204" pitchFamily="18" charset="0"/>
            </a:endParaRPr>
          </a:p>
          <a:p>
            <a:pPr lvl="1"/>
            <a:r>
              <a:rPr lang="en-IN" sz="2000" b="1" dirty="0">
                <a:latin typeface="Cambria" panose="02040503050406030204" pitchFamily="18" charset="0"/>
                <a:ea typeface="Cambria" panose="02040503050406030204" pitchFamily="18" charset="0"/>
              </a:rPr>
              <a:t>Technique:</a:t>
            </a:r>
            <a:r>
              <a:rPr lang="en-IN" sz="2000" dirty="0">
                <a:latin typeface="Cambria" panose="02040503050406030204" pitchFamily="18" charset="0"/>
                <a:ea typeface="Cambria" panose="02040503050406030204" pitchFamily="18" charset="0"/>
              </a:rPr>
              <a:t> Quantized Low-Rank Adaptation (</a:t>
            </a:r>
            <a:r>
              <a:rPr lang="en-IN" sz="2000" dirty="0" err="1">
                <a:latin typeface="Cambria" panose="02040503050406030204" pitchFamily="18" charset="0"/>
                <a:ea typeface="Cambria" panose="02040503050406030204" pitchFamily="18" charset="0"/>
              </a:rPr>
              <a:t>QLoRA</a:t>
            </a:r>
            <a:r>
              <a:rPr lang="en-IN" sz="2000" dirty="0">
                <a:latin typeface="Cambria" panose="02040503050406030204" pitchFamily="18" charset="0"/>
                <a:ea typeface="Cambria" panose="02040503050406030204" pitchFamily="18" charset="0"/>
              </a:rPr>
              <a:t>)</a:t>
            </a:r>
          </a:p>
          <a:p>
            <a:pPr lvl="1"/>
            <a:r>
              <a:rPr lang="en-IN" sz="2000" dirty="0">
                <a:latin typeface="Cambria" panose="02040503050406030204" pitchFamily="18" charset="0"/>
                <a:ea typeface="Cambria" panose="02040503050406030204" pitchFamily="18" charset="0"/>
              </a:rPr>
              <a:t>Fine-tuned the language model efficiently with low GPU memory usage while preserving high performance.</a:t>
            </a:r>
          </a:p>
          <a:p>
            <a:pPr lvl="1"/>
            <a:r>
              <a:rPr lang="en-IN" sz="2000" dirty="0">
                <a:latin typeface="Cambria" panose="02040503050406030204" pitchFamily="18" charset="0"/>
                <a:ea typeface="Cambria" panose="02040503050406030204" pitchFamily="18" charset="0"/>
              </a:rPr>
              <a:t>Improved domain-specific understanding for legal document analysis and semantic verification tasks.</a:t>
            </a:r>
          </a:p>
          <a:p>
            <a:pPr marL="0" indent="0">
              <a:buNone/>
            </a:pPr>
            <a:r>
              <a:rPr lang="en-IN" sz="2000" b="1" dirty="0">
                <a:latin typeface="Cambria" panose="02040503050406030204" pitchFamily="18" charset="0"/>
                <a:ea typeface="Cambria" panose="02040503050406030204" pitchFamily="18" charset="0"/>
              </a:rPr>
              <a:t>6. Narrative Summarization (LLM Integration)</a:t>
            </a:r>
            <a:endParaRPr lang="en-IN" sz="2000" dirty="0">
              <a:latin typeface="Cambria" panose="02040503050406030204" pitchFamily="18" charset="0"/>
              <a:ea typeface="Cambria" panose="02040503050406030204" pitchFamily="18" charset="0"/>
            </a:endParaRPr>
          </a:p>
          <a:p>
            <a:pPr lvl="1"/>
            <a:r>
              <a:rPr lang="en-IN" sz="2000" b="1" dirty="0">
                <a:latin typeface="Cambria" panose="02040503050406030204" pitchFamily="18" charset="0"/>
                <a:ea typeface="Cambria" panose="02040503050406030204" pitchFamily="18" charset="0"/>
              </a:rPr>
              <a:t>Model Used:</a:t>
            </a:r>
            <a:r>
              <a:rPr lang="en-IN" sz="2000" dirty="0">
                <a:latin typeface="Cambria" panose="02040503050406030204" pitchFamily="18" charset="0"/>
                <a:ea typeface="Cambria" panose="02040503050406030204" pitchFamily="18" charset="0"/>
              </a:rPr>
              <a:t> </a:t>
            </a:r>
            <a:r>
              <a:rPr lang="en-IN" sz="2000" dirty="0" err="1">
                <a:latin typeface="Cambria" panose="02040503050406030204" pitchFamily="18" charset="0"/>
                <a:ea typeface="Cambria" panose="02040503050406030204" pitchFamily="18" charset="0"/>
              </a:rPr>
              <a:t>TinyLlama</a:t>
            </a:r>
            <a:endParaRPr lang="en-IN" sz="2000" dirty="0">
              <a:latin typeface="Cambria" panose="02040503050406030204" pitchFamily="18" charset="0"/>
              <a:ea typeface="Cambria" panose="02040503050406030204" pitchFamily="18" charset="0"/>
            </a:endParaRPr>
          </a:p>
          <a:p>
            <a:pPr lvl="1"/>
            <a:r>
              <a:rPr lang="en-IN" sz="2000" dirty="0">
                <a:latin typeface="Cambria" panose="02040503050406030204" pitchFamily="18" charset="0"/>
                <a:ea typeface="Cambria" panose="02040503050406030204" pitchFamily="18" charset="0"/>
              </a:rPr>
              <a:t>Generated human-readable summaries and highlighted critical discrepancies detected in the analysis.</a:t>
            </a:r>
          </a:p>
        </p:txBody>
      </p:sp>
      <p:sp>
        <p:nvSpPr>
          <p:cNvPr id="4" name="Google Shape;108;p1">
            <a:extLst>
              <a:ext uri="{FF2B5EF4-FFF2-40B4-BE49-F238E27FC236}">
                <a16:creationId xmlns:a16="http://schemas.microsoft.com/office/drawing/2014/main" id="{CD943035-45B3-1D77-446C-10978C12A63B}"/>
              </a:ext>
            </a:extLst>
          </p:cNvPr>
          <p:cNvSpPr/>
          <p:nvPr/>
        </p:nvSpPr>
        <p:spPr>
          <a:xfrm>
            <a:off x="434880" y="244800"/>
            <a:ext cx="8228520" cy="562320"/>
          </a:xfrm>
          <a:prstGeom prst="rect">
            <a:avLst/>
          </a:prstGeom>
          <a:solidFill>
            <a:srgbClr val="6C3EEC"/>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tabLst>
                <a:tab pos="0" algn="l"/>
              </a:tabLst>
            </a:pPr>
            <a:r>
              <a:rPr lang="en-US" sz="2800" b="1" dirty="0">
                <a:solidFill>
                  <a:schemeClr val="bg1"/>
                </a:solidFill>
                <a:latin typeface="Arial Black" pitchFamily="34" charset="0"/>
                <a:cs typeface="Times New Roman" pitchFamily="18" charset="0"/>
              </a:rPr>
              <a:t>ALGORITHMS/TECHNIQUES</a:t>
            </a:r>
            <a:endParaRPr lang="en-US" sz="2800" b="0" u="none" strike="noStrike" dirty="0">
              <a:solidFill>
                <a:srgbClr val="FFFFFF"/>
              </a:solidFill>
              <a:effectLst/>
              <a:uFillTx/>
              <a:latin typeface="Arial"/>
            </a:endParaRPr>
          </a:p>
        </p:txBody>
      </p:sp>
    </p:spTree>
    <p:extLst>
      <p:ext uri="{BB962C8B-B14F-4D97-AF65-F5344CB8AC3E}">
        <p14:creationId xmlns:p14="http://schemas.microsoft.com/office/powerpoint/2010/main" val="2858532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p:nvPr>
        </p:nvSpPr>
        <p:spPr>
          <a:xfrm>
            <a:off x="434880" y="873900"/>
            <a:ext cx="8228520" cy="5415840"/>
          </a:xfrm>
          <a:prstGeom prst="rect">
            <a:avLst/>
          </a:prstGeom>
          <a:noFill/>
          <a:ln w="0">
            <a:noFill/>
          </a:ln>
        </p:spPr>
        <p:txBody>
          <a:bodyPr lIns="91440" tIns="45720" rIns="91440" bIns="45720" anchor="t">
            <a:noAutofit/>
          </a:bodyPr>
          <a:lstStyle/>
          <a:p>
            <a:pPr marL="432000">
              <a:lnSpc>
                <a:spcPct val="100000"/>
              </a:lnSpc>
              <a:spcBef>
                <a:spcPts val="1191"/>
              </a:spcBef>
              <a:spcAft>
                <a:spcPts val="992"/>
              </a:spcAft>
            </a:pPr>
            <a:r>
              <a:rPr lang="en-US" sz="1900" b="1" u="none" strike="noStrike" dirty="0">
                <a:solidFill>
                  <a:srgbClr val="000000"/>
                </a:solidFill>
                <a:effectLst/>
                <a:uFillTx/>
                <a:latin typeface="Cambria" panose="02040503050406030204" pitchFamily="18" charset="0"/>
                <a:ea typeface="Cambria" panose="02040503050406030204" pitchFamily="18" charset="0"/>
              </a:rPr>
              <a:t>				</a:t>
            </a:r>
            <a:endParaRPr lang="en-US" sz="1900" b="0" u="none" strike="noStrike" dirty="0">
              <a:solidFill>
                <a:srgbClr val="000000"/>
              </a:solidFill>
              <a:effectLst/>
              <a:uFillTx/>
              <a:latin typeface="Cambria" panose="02040503050406030204" pitchFamily="18" charset="0"/>
              <a:ea typeface="Cambria" panose="02040503050406030204" pitchFamily="18" charset="0"/>
            </a:endParaRPr>
          </a:p>
        </p:txBody>
      </p:sp>
      <p:sp>
        <p:nvSpPr>
          <p:cNvPr id="82" name="Title 1"/>
          <p:cNvSpPr/>
          <p:nvPr/>
        </p:nvSpPr>
        <p:spPr>
          <a:xfrm>
            <a:off x="434880" y="244800"/>
            <a:ext cx="8228520" cy="562320"/>
          </a:xfrm>
          <a:prstGeom prst="rect">
            <a:avLst/>
          </a:prstGeom>
          <a:solidFill>
            <a:srgbClr val="6C3EEC"/>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3200" b="1" u="none" strike="noStrike" dirty="0">
                <a:solidFill>
                  <a:schemeClr val="lt1"/>
                </a:solidFill>
                <a:effectLst/>
                <a:uFillTx/>
                <a:latin typeface="Arial Black"/>
              </a:rPr>
              <a:t>MATERIALS AND METHODS</a:t>
            </a:r>
            <a:endParaRPr lang="en-US" sz="3200" b="0" u="none" strike="noStrike" dirty="0">
              <a:solidFill>
                <a:srgbClr val="FFFFFF"/>
              </a:solidFill>
              <a:effectLst/>
              <a:uFillTx/>
              <a:latin typeface="Arial"/>
            </a:endParaRPr>
          </a:p>
        </p:txBody>
      </p:sp>
      <p:sp>
        <p:nvSpPr>
          <p:cNvPr id="3" name="PlaceHolder 2"/>
          <p:cNvSpPr>
            <a:spLocks noGrp="1"/>
          </p:cNvSpPr>
          <p:nvPr>
            <p:ph type="sldNum" idx="27"/>
          </p:nvPr>
        </p:nvSpPr>
        <p:spPr/>
        <p:txBody>
          <a:bodyPr/>
          <a:lstStyle/>
          <a:p>
            <a:fld id="{64383A65-9D5B-4B91-931B-0A78CA38893A}" type="slidenum">
              <a:rPr/>
              <a:pPr/>
              <a:t>12</a:t>
            </a:fld>
            <a:endParaRPr/>
          </a:p>
        </p:txBody>
      </p:sp>
      <p:sp>
        <p:nvSpPr>
          <p:cNvPr id="5" name="TextBox 4">
            <a:extLst>
              <a:ext uri="{FF2B5EF4-FFF2-40B4-BE49-F238E27FC236}">
                <a16:creationId xmlns:a16="http://schemas.microsoft.com/office/drawing/2014/main" id="{91490565-754C-583A-FB7D-33B2FCD1FA95}"/>
              </a:ext>
            </a:extLst>
          </p:cNvPr>
          <p:cNvSpPr txBox="1"/>
          <p:nvPr/>
        </p:nvSpPr>
        <p:spPr>
          <a:xfrm>
            <a:off x="458280" y="873900"/>
            <a:ext cx="8182800" cy="5668218"/>
          </a:xfrm>
          <a:prstGeom prst="rect">
            <a:avLst/>
          </a:prstGeom>
          <a:noFill/>
        </p:spPr>
        <p:txBody>
          <a:bodyPr wrap="square" rtlCol="0">
            <a:spAutoFit/>
          </a:bodyPr>
          <a:lstStyle/>
          <a:p>
            <a:pPr marL="3632400" lvl="7">
              <a:spcBef>
                <a:spcPts val="1191"/>
              </a:spcBef>
              <a:spcAft>
                <a:spcPts val="992"/>
              </a:spcAft>
            </a:pPr>
            <a:r>
              <a:rPr lang="en-US" b="1" dirty="0">
                <a:solidFill>
                  <a:srgbClr val="000000"/>
                </a:solidFill>
                <a:latin typeface="Cambria" panose="02040503050406030204" pitchFamily="18" charset="0"/>
                <a:ea typeface="Cambria" panose="02040503050406030204" pitchFamily="18" charset="0"/>
              </a:rPr>
              <a:t>Materials</a:t>
            </a:r>
          </a:p>
          <a:p>
            <a:pPr marL="717750" indent="-285750" algn="just">
              <a:lnSpc>
                <a:spcPct val="100000"/>
              </a:lnSpc>
              <a:spcBef>
                <a:spcPts val="1191"/>
              </a:spcBef>
              <a:spcAft>
                <a:spcPts val="992"/>
              </a:spcAft>
              <a:buFont typeface="Wingdings" panose="05000000000000000000" pitchFamily="2" charset="2"/>
              <a:buChar char="§"/>
            </a:pPr>
            <a:r>
              <a:rPr lang="en-US" b="1" dirty="0">
                <a:solidFill>
                  <a:srgbClr val="000000"/>
                </a:solidFill>
                <a:latin typeface="Cambria" panose="02040503050406030204" pitchFamily="18" charset="0"/>
                <a:ea typeface="Cambria" panose="02040503050406030204" pitchFamily="18" charset="0"/>
              </a:rPr>
              <a:t>Programming Languages: </a:t>
            </a:r>
            <a:r>
              <a:rPr lang="en-US" dirty="0">
                <a:solidFill>
                  <a:srgbClr val="000000"/>
                </a:solidFill>
                <a:latin typeface="Cambria" panose="02040503050406030204" pitchFamily="18" charset="0"/>
                <a:ea typeface="Cambria" panose="02040503050406030204" pitchFamily="18" charset="0"/>
              </a:rPr>
              <a:t>Python 3.11 for the backend and AI orchestration; HTML, CSS, JavaScript for the static web interface.</a:t>
            </a:r>
          </a:p>
          <a:p>
            <a:pPr marL="717750" indent="-285750" algn="just">
              <a:lnSpc>
                <a:spcPct val="100000"/>
              </a:lnSpc>
              <a:spcBef>
                <a:spcPts val="1191"/>
              </a:spcBef>
              <a:spcAft>
                <a:spcPts val="992"/>
              </a:spcAft>
              <a:buFont typeface="Wingdings" panose="05000000000000000000" pitchFamily="2" charset="2"/>
              <a:buChar char="§"/>
            </a:pPr>
            <a:r>
              <a:rPr lang="en-US" b="1" dirty="0">
                <a:solidFill>
                  <a:srgbClr val="000000"/>
                </a:solidFill>
                <a:latin typeface="Cambria" panose="02040503050406030204" pitchFamily="18" charset="0"/>
                <a:ea typeface="Cambria" panose="02040503050406030204" pitchFamily="18" charset="0"/>
              </a:rPr>
              <a:t>Frameworks &amp; Libraries: </a:t>
            </a:r>
            <a:r>
              <a:rPr lang="en-US" dirty="0" err="1">
                <a:solidFill>
                  <a:srgbClr val="000000"/>
                </a:solidFill>
                <a:latin typeface="Cambria" panose="02040503050406030204" pitchFamily="18" charset="0"/>
                <a:ea typeface="Cambria" panose="02040503050406030204" pitchFamily="18" charset="0"/>
              </a:rPr>
              <a:t>Backend:Flask</a:t>
            </a:r>
            <a:r>
              <a:rPr lang="en-US" dirty="0">
                <a:solidFill>
                  <a:srgbClr val="000000"/>
                </a:solidFill>
                <a:latin typeface="Cambria" panose="02040503050406030204" pitchFamily="18" charset="0"/>
                <a:ea typeface="Cambria" panose="02040503050406030204" pitchFamily="18" charset="0"/>
              </a:rPr>
              <a:t>, SQLite, </a:t>
            </a:r>
            <a:r>
              <a:rPr lang="en-US" dirty="0" err="1">
                <a:solidFill>
                  <a:srgbClr val="000000"/>
                </a:solidFill>
                <a:latin typeface="Cambria" panose="02040503050406030204" pitchFamily="18" charset="0"/>
                <a:ea typeface="Cambria" panose="02040503050406030204" pitchFamily="18" charset="0"/>
              </a:rPr>
              <a:t>uvicorn.Flask</a:t>
            </a:r>
            <a:endParaRPr lang="en-US" dirty="0">
              <a:solidFill>
                <a:srgbClr val="000000"/>
              </a:solidFill>
              <a:latin typeface="Cambria" panose="02040503050406030204" pitchFamily="18" charset="0"/>
              <a:ea typeface="Cambria" panose="02040503050406030204" pitchFamily="18" charset="0"/>
            </a:endParaRPr>
          </a:p>
          <a:p>
            <a:pPr marL="717750" indent="-285750" algn="just">
              <a:lnSpc>
                <a:spcPct val="100000"/>
              </a:lnSpc>
              <a:spcBef>
                <a:spcPts val="1191"/>
              </a:spcBef>
              <a:spcAft>
                <a:spcPts val="992"/>
              </a:spcAft>
              <a:buFont typeface="Wingdings" panose="05000000000000000000" pitchFamily="2" charset="2"/>
              <a:buChar char="§"/>
            </a:pPr>
            <a:r>
              <a:rPr lang="en-US" b="1" dirty="0">
                <a:solidFill>
                  <a:srgbClr val="000000"/>
                </a:solidFill>
                <a:latin typeface="Cambria" panose="02040503050406030204" pitchFamily="18" charset="0"/>
                <a:ea typeface="Cambria" panose="02040503050406030204" pitchFamily="18" charset="0"/>
              </a:rPr>
              <a:t>Frontend: </a:t>
            </a:r>
            <a:r>
              <a:rPr lang="en-US" dirty="0" err="1">
                <a:solidFill>
                  <a:srgbClr val="000000"/>
                </a:solidFill>
                <a:latin typeface="Cambria" panose="02040503050406030204" pitchFamily="18" charset="0"/>
                <a:ea typeface="Cambria" panose="02040503050406030204" pitchFamily="18" charset="0"/>
              </a:rPr>
              <a:t>Streamlit</a:t>
            </a:r>
            <a:endParaRPr lang="en-US" dirty="0">
              <a:solidFill>
                <a:srgbClr val="000000"/>
              </a:solidFill>
              <a:latin typeface="Cambria" panose="02040503050406030204" pitchFamily="18" charset="0"/>
              <a:ea typeface="Cambria" panose="02040503050406030204" pitchFamily="18" charset="0"/>
            </a:endParaRPr>
          </a:p>
          <a:p>
            <a:pPr marL="717750" indent="-285750" algn="just">
              <a:lnSpc>
                <a:spcPct val="100000"/>
              </a:lnSpc>
              <a:spcBef>
                <a:spcPts val="1191"/>
              </a:spcBef>
              <a:spcAft>
                <a:spcPts val="992"/>
              </a:spcAft>
              <a:buFont typeface="Wingdings" panose="05000000000000000000" pitchFamily="2" charset="2"/>
              <a:buChar char="§"/>
            </a:pPr>
            <a:r>
              <a:rPr lang="en-US" b="1" dirty="0">
                <a:solidFill>
                  <a:srgbClr val="000000"/>
                </a:solidFill>
                <a:latin typeface="Cambria" panose="02040503050406030204" pitchFamily="18" charset="0"/>
                <a:ea typeface="Cambria" panose="02040503050406030204" pitchFamily="18" charset="0"/>
              </a:rPr>
              <a:t>AI &amp; NLP: </a:t>
            </a:r>
            <a:r>
              <a:rPr lang="en-US" dirty="0">
                <a:solidFill>
                  <a:srgbClr val="000000"/>
                </a:solidFill>
                <a:latin typeface="Cambria" panose="02040503050406030204" pitchFamily="18" charset="0"/>
                <a:ea typeface="Cambria" panose="02040503050406030204" pitchFamily="18" charset="0"/>
              </a:rPr>
              <a:t>Hugging Face Transformers, </a:t>
            </a:r>
            <a:r>
              <a:rPr lang="en-US" dirty="0" err="1">
                <a:solidFill>
                  <a:srgbClr val="000000"/>
                </a:solidFill>
                <a:latin typeface="Cambria" panose="02040503050406030204" pitchFamily="18" charset="0"/>
                <a:ea typeface="Cambria" panose="02040503050406030204" pitchFamily="18" charset="0"/>
              </a:rPr>
              <a:t>PyTorch</a:t>
            </a:r>
            <a:r>
              <a:rPr lang="en-US" dirty="0">
                <a:solidFill>
                  <a:srgbClr val="000000"/>
                </a:solidFill>
                <a:latin typeface="Cambria" panose="02040503050406030204" pitchFamily="18" charset="0"/>
                <a:ea typeface="Cambria" panose="02040503050406030204" pitchFamily="18" charset="0"/>
              </a:rPr>
              <a:t>.</a:t>
            </a:r>
          </a:p>
          <a:p>
            <a:pPr marL="717750" indent="-285750" algn="just">
              <a:lnSpc>
                <a:spcPct val="100000"/>
              </a:lnSpc>
              <a:spcBef>
                <a:spcPts val="1191"/>
              </a:spcBef>
              <a:spcAft>
                <a:spcPts val="992"/>
              </a:spcAft>
              <a:buFont typeface="Wingdings" panose="05000000000000000000" pitchFamily="2" charset="2"/>
              <a:buChar char="§"/>
            </a:pPr>
            <a:r>
              <a:rPr lang="en-US" b="1" dirty="0">
                <a:solidFill>
                  <a:srgbClr val="000000"/>
                </a:solidFill>
                <a:latin typeface="Cambria" panose="02040503050406030204" pitchFamily="18" charset="0"/>
                <a:ea typeface="Cambria" panose="02040503050406030204" pitchFamily="18" charset="0"/>
              </a:rPr>
              <a:t>AI Models &amp; APIs: </a:t>
            </a:r>
            <a:r>
              <a:rPr lang="en-US" dirty="0">
                <a:solidFill>
                  <a:srgbClr val="000000"/>
                </a:solidFill>
                <a:latin typeface="Cambria" panose="02040503050406030204" pitchFamily="18" charset="0"/>
                <a:ea typeface="Cambria" panose="02040503050406030204" pitchFamily="18" charset="0"/>
              </a:rPr>
              <a:t>Local </a:t>
            </a:r>
            <a:r>
              <a:rPr lang="en-US" dirty="0" err="1">
                <a:solidFill>
                  <a:srgbClr val="000000"/>
                </a:solidFill>
                <a:latin typeface="Cambria" panose="02040503050406030204" pitchFamily="18" charset="0"/>
                <a:ea typeface="Cambria" panose="02040503050406030204" pitchFamily="18" charset="0"/>
              </a:rPr>
              <a:t>Model:Fine-tuned</a:t>
            </a:r>
            <a:r>
              <a:rPr lang="en-US" dirty="0">
                <a:solidFill>
                  <a:srgbClr val="000000"/>
                </a:solidFill>
                <a:latin typeface="Cambria" panose="02040503050406030204" pitchFamily="18" charset="0"/>
                <a:ea typeface="Cambria" panose="02040503050406030204" pitchFamily="18" charset="0"/>
              </a:rPr>
              <a:t> </a:t>
            </a:r>
            <a:r>
              <a:rPr lang="en-US" dirty="0" err="1">
                <a:solidFill>
                  <a:srgbClr val="000000"/>
                </a:solidFill>
                <a:latin typeface="Cambria" panose="02040503050406030204" pitchFamily="18" charset="0"/>
                <a:ea typeface="Cambria" panose="02040503050406030204" pitchFamily="18" charset="0"/>
              </a:rPr>
              <a:t>TinyLlama</a:t>
            </a:r>
            <a:r>
              <a:rPr lang="en-US" dirty="0">
                <a:solidFill>
                  <a:srgbClr val="000000"/>
                </a:solidFill>
                <a:latin typeface="Cambria" panose="02040503050406030204" pitchFamily="18" charset="0"/>
                <a:ea typeface="Cambria" panose="02040503050406030204" pitchFamily="18" charset="0"/>
              </a:rPr>
              <a:t> / Llama 1B </a:t>
            </a:r>
            <a:r>
              <a:rPr lang="en-US" dirty="0" err="1">
                <a:solidFill>
                  <a:srgbClr val="000000"/>
                </a:solidFill>
                <a:latin typeface="Cambria" panose="02040503050406030204" pitchFamily="18" charset="0"/>
                <a:ea typeface="Cambria" panose="02040503050406030204" pitchFamily="18" charset="0"/>
              </a:rPr>
              <a:t>QLoRA</a:t>
            </a:r>
            <a:r>
              <a:rPr lang="en-US" dirty="0">
                <a:solidFill>
                  <a:srgbClr val="000000"/>
                </a:solidFill>
                <a:latin typeface="Cambria" panose="02040503050406030204" pitchFamily="18" charset="0"/>
                <a:ea typeface="Cambria" panose="02040503050406030204" pitchFamily="18" charset="0"/>
              </a:rPr>
              <a:t> models run locally to ensure data security and avoid exposing sensitive document content externally.</a:t>
            </a:r>
          </a:p>
          <a:p>
            <a:pPr marL="717750" indent="-285750" algn="just">
              <a:lnSpc>
                <a:spcPct val="100000"/>
              </a:lnSpc>
              <a:spcBef>
                <a:spcPts val="1191"/>
              </a:spcBef>
              <a:spcAft>
                <a:spcPts val="992"/>
              </a:spcAft>
              <a:buFont typeface="Wingdings" panose="05000000000000000000" pitchFamily="2" charset="2"/>
              <a:buChar char="§"/>
            </a:pPr>
            <a:r>
              <a:rPr lang="en-US" b="1" dirty="0">
                <a:solidFill>
                  <a:srgbClr val="000000"/>
                </a:solidFill>
                <a:latin typeface="Cambria" panose="02040503050406030204" pitchFamily="18" charset="0"/>
                <a:ea typeface="Cambria" panose="02040503050406030204" pitchFamily="18" charset="0"/>
              </a:rPr>
              <a:t>Agentic Search:</a:t>
            </a:r>
            <a:r>
              <a:rPr lang="en-US" dirty="0">
                <a:solidFill>
                  <a:srgbClr val="000000"/>
                </a:solidFill>
                <a:latin typeface="Cambria" panose="02040503050406030204" pitchFamily="18" charset="0"/>
                <a:ea typeface="Cambria" panose="02040503050406030204" pitchFamily="18" charset="0"/>
              </a:rPr>
              <a:t> Fast API for fetching up-to-date legal standards and compliance rules from the internet.</a:t>
            </a:r>
          </a:p>
          <a:p>
            <a:pPr marL="717750" indent="-285750" algn="just">
              <a:lnSpc>
                <a:spcPct val="100000"/>
              </a:lnSpc>
              <a:spcBef>
                <a:spcPts val="1191"/>
              </a:spcBef>
              <a:spcAft>
                <a:spcPts val="992"/>
              </a:spcAft>
              <a:buFont typeface="Wingdings" panose="05000000000000000000" pitchFamily="2" charset="2"/>
              <a:buChar char="§"/>
            </a:pPr>
            <a:r>
              <a:rPr lang="en-US" b="1" dirty="0">
                <a:solidFill>
                  <a:srgbClr val="000000"/>
                </a:solidFill>
                <a:latin typeface="Cambria" panose="02040503050406030204" pitchFamily="18" charset="0"/>
                <a:ea typeface="Cambria" panose="02040503050406030204" pitchFamily="18" charset="0"/>
              </a:rPr>
              <a:t>Dataset (for fine-tuning): </a:t>
            </a:r>
            <a:r>
              <a:rPr lang="en-US" dirty="0">
                <a:solidFill>
                  <a:srgbClr val="000000"/>
                </a:solidFill>
                <a:latin typeface="Cambria" panose="02040503050406030204" pitchFamily="18" charset="0"/>
                <a:ea typeface="Cambria" panose="02040503050406030204" pitchFamily="18" charset="0"/>
              </a:rPr>
              <a:t>Legal document datasets containing deeds, contracts, and agreements with annotated clauses.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p:nvPr>
        </p:nvSpPr>
        <p:spPr>
          <a:xfrm>
            <a:off x="457200" y="1122660"/>
            <a:ext cx="8228520" cy="5415840"/>
          </a:xfrm>
          <a:prstGeom prst="rect">
            <a:avLst/>
          </a:prstGeom>
          <a:noFill/>
          <a:ln w="0">
            <a:noFill/>
          </a:ln>
        </p:spPr>
        <p:txBody>
          <a:bodyPr lIns="91440" tIns="45720" rIns="91440" bIns="45720" anchor="t">
            <a:normAutofit/>
          </a:bodyPr>
          <a:lstStyle/>
          <a:p>
            <a:pPr marL="432000" indent="0">
              <a:spcBef>
                <a:spcPts val="1191"/>
              </a:spcBef>
              <a:spcAft>
                <a:spcPts val="992"/>
              </a:spcAft>
              <a:buNone/>
            </a:pPr>
            <a:r>
              <a:rPr lang="en-US" sz="1900" b="1" u="none" strike="noStrike" dirty="0">
                <a:solidFill>
                  <a:srgbClr val="000000"/>
                </a:solidFill>
                <a:effectLst/>
                <a:uFillTx/>
                <a:latin typeface="Cambria" panose="02040503050406030204" pitchFamily="18" charset="0"/>
                <a:ea typeface="Cambria" panose="02040503050406030204" pitchFamily="18" charset="0"/>
              </a:rPr>
              <a:t>			      Methods</a:t>
            </a:r>
            <a:endParaRPr lang="en-US" sz="1900" b="0" u="none" strike="noStrike" dirty="0">
              <a:solidFill>
                <a:srgbClr val="000000"/>
              </a:solidFill>
              <a:effectLst/>
              <a:uFillTx/>
              <a:latin typeface="Cambria" panose="02040503050406030204" pitchFamily="18" charset="0"/>
              <a:ea typeface="Cambria" panose="02040503050406030204" pitchFamily="18" charset="0"/>
            </a:endParaRPr>
          </a:p>
          <a:p>
            <a:pPr marL="774900" indent="-342900" algn="just">
              <a:spcBef>
                <a:spcPts val="1191"/>
              </a:spcBef>
              <a:spcAft>
                <a:spcPts val="992"/>
              </a:spcAft>
              <a:buFont typeface="Wingdings" panose="05000000000000000000" pitchFamily="2" charset="2"/>
              <a:buChar char="§"/>
            </a:pPr>
            <a:r>
              <a:rPr lang="en-US" sz="1900" b="1" u="none" strike="noStrike" dirty="0">
                <a:solidFill>
                  <a:srgbClr val="000000"/>
                </a:solidFill>
                <a:effectLst/>
                <a:uFillTx/>
                <a:latin typeface="Cambria" panose="02040503050406030204" pitchFamily="18" charset="0"/>
                <a:ea typeface="Cambria" panose="02040503050406030204" pitchFamily="18" charset="0"/>
              </a:rPr>
              <a:t>Document Preprocessing: </a:t>
            </a:r>
            <a:r>
              <a:rPr lang="en-US" sz="1900" b="0" u="none" strike="noStrike" dirty="0">
                <a:solidFill>
                  <a:srgbClr val="000000"/>
                </a:solidFill>
                <a:effectLst/>
                <a:uFillTx/>
                <a:latin typeface="Cambria" panose="02040503050406030204" pitchFamily="18" charset="0"/>
                <a:ea typeface="Cambria" panose="02040503050406030204" pitchFamily="18" charset="0"/>
              </a:rPr>
              <a:t>Uploaded documents (PDF/DOCX/TXT) are parsed and chunked into manageable semantic blocks. NLP techniques are applied to strip noisy metadata and normalize the text.</a:t>
            </a:r>
          </a:p>
          <a:p>
            <a:pPr marL="774900" indent="-342900" algn="just">
              <a:spcBef>
                <a:spcPts val="1191"/>
              </a:spcBef>
              <a:spcAft>
                <a:spcPts val="992"/>
              </a:spcAft>
              <a:buFont typeface="Wingdings" panose="05000000000000000000" pitchFamily="2" charset="2"/>
              <a:buChar char="§"/>
            </a:pPr>
            <a:r>
              <a:rPr lang="en-US" sz="1900" b="1" u="none" strike="noStrike" dirty="0">
                <a:solidFill>
                  <a:srgbClr val="000000"/>
                </a:solidFill>
                <a:effectLst/>
                <a:uFillTx/>
                <a:latin typeface="Cambria" panose="02040503050406030204" pitchFamily="18" charset="0"/>
                <a:ea typeface="Cambria" panose="02040503050406030204" pitchFamily="18" charset="0"/>
              </a:rPr>
              <a:t>Hybrid AI Execution:</a:t>
            </a:r>
            <a:endParaRPr lang="en-US" sz="1900" b="0" u="none" strike="noStrike" dirty="0">
              <a:solidFill>
                <a:srgbClr val="000000"/>
              </a:solidFill>
              <a:effectLst/>
              <a:uFillTx/>
              <a:latin typeface="Cambria" panose="02040503050406030204" pitchFamily="18" charset="0"/>
              <a:ea typeface="Cambria" panose="02040503050406030204" pitchFamily="18" charset="0"/>
            </a:endParaRPr>
          </a:p>
          <a:p>
            <a:pPr marL="432000" algn="just">
              <a:spcBef>
                <a:spcPts val="1191"/>
              </a:spcBef>
              <a:spcAft>
                <a:spcPts val="992"/>
              </a:spcAft>
            </a:pPr>
            <a:r>
              <a:rPr lang="en-US" sz="1900" b="0" u="none" strike="noStrike" dirty="0">
                <a:solidFill>
                  <a:srgbClr val="000000"/>
                </a:solidFill>
                <a:effectLst/>
                <a:uFillTx/>
                <a:latin typeface="Cambria" panose="02040503050406030204" pitchFamily="18" charset="0"/>
                <a:ea typeface="Cambria" panose="02040503050406030204" pitchFamily="18" charset="0"/>
              </a:rPr>
              <a:t>             1. The local Llama model identifies key entities (Vendor/Vendee)  	    and extracts the primary clauses mapped by line numbers. </a:t>
            </a:r>
          </a:p>
          <a:p>
            <a:pPr marL="432000" algn="just">
              <a:spcBef>
                <a:spcPts val="1191"/>
              </a:spcBef>
              <a:spcAft>
                <a:spcPts val="992"/>
              </a:spcAft>
            </a:pPr>
            <a:r>
              <a:rPr lang="en-US" sz="1900" b="0" u="none" strike="noStrike" dirty="0">
                <a:solidFill>
                  <a:srgbClr val="000000"/>
                </a:solidFill>
                <a:effectLst/>
                <a:uFillTx/>
                <a:latin typeface="Cambria" panose="02040503050406030204" pitchFamily="18" charset="0"/>
                <a:ea typeface="Cambria" panose="02040503050406030204" pitchFamily="18" charset="0"/>
              </a:rPr>
              <a:t>             2. A powerful LLM via Fast API compares the expected clauses     	    against the extracted clauses to flag inconsistencies, missing 		    sections, and contradictions.</a:t>
            </a:r>
          </a:p>
          <a:p>
            <a:pPr marL="774900" indent="-342900" algn="just">
              <a:spcBef>
                <a:spcPts val="1191"/>
              </a:spcBef>
              <a:spcAft>
                <a:spcPts val="992"/>
              </a:spcAft>
              <a:buFont typeface="Wingdings" panose="05000000000000000000" pitchFamily="2" charset="2"/>
              <a:buChar char="§"/>
            </a:pPr>
            <a:r>
              <a:rPr lang="en-US" sz="1900" b="1" u="none" strike="noStrike" dirty="0">
                <a:solidFill>
                  <a:srgbClr val="000000"/>
                </a:solidFill>
                <a:effectLst/>
                <a:uFillTx/>
                <a:latin typeface="Cambria" panose="02040503050406030204" pitchFamily="18" charset="0"/>
                <a:ea typeface="Cambria" panose="02040503050406030204" pitchFamily="18" charset="0"/>
              </a:rPr>
              <a:t> Line-Level Mapping: </a:t>
            </a:r>
            <a:r>
              <a:rPr lang="en-US" sz="1900" b="0" u="none" strike="noStrike" dirty="0">
                <a:solidFill>
                  <a:srgbClr val="000000"/>
                </a:solidFill>
                <a:effectLst/>
                <a:uFillTx/>
                <a:latin typeface="Cambria" panose="02040503050406030204" pitchFamily="18" charset="0"/>
                <a:ea typeface="Cambria" panose="02040503050406030204" pitchFamily="18" charset="0"/>
              </a:rPr>
              <a:t>Every extracted finding is correlated back to the specific page and line number in the original uploaded document, ensuring high traceability for the end-user.</a:t>
            </a:r>
          </a:p>
          <a:p>
            <a:pPr marL="432000" indent="0">
              <a:spcBef>
                <a:spcPts val="1191"/>
              </a:spcBef>
              <a:spcAft>
                <a:spcPts val="992"/>
              </a:spcAft>
              <a:buNone/>
            </a:pPr>
            <a:endParaRPr lang="en-US" sz="1600" b="0" u="none" strike="noStrike" dirty="0">
              <a:solidFill>
                <a:srgbClr val="000000"/>
              </a:solidFill>
              <a:effectLst/>
              <a:uFillTx/>
              <a:latin typeface="Arial"/>
            </a:endParaRPr>
          </a:p>
        </p:txBody>
      </p:sp>
      <p:sp>
        <p:nvSpPr>
          <p:cNvPr id="84" name="Title 3"/>
          <p:cNvSpPr/>
          <p:nvPr/>
        </p:nvSpPr>
        <p:spPr>
          <a:xfrm>
            <a:off x="434880" y="244800"/>
            <a:ext cx="8228520" cy="562320"/>
          </a:xfrm>
          <a:prstGeom prst="rect">
            <a:avLst/>
          </a:prstGeom>
          <a:solidFill>
            <a:srgbClr val="6C3EEC"/>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3200" b="1" u="none" strike="noStrike" dirty="0">
                <a:solidFill>
                  <a:schemeClr val="lt1"/>
                </a:solidFill>
                <a:effectLst/>
                <a:uFillTx/>
                <a:latin typeface="Arial Black"/>
              </a:rPr>
              <a:t>MATERIALS AND METHODS</a:t>
            </a:r>
            <a:endParaRPr lang="en-US" sz="3200" b="0" u="none" strike="noStrike" dirty="0">
              <a:solidFill>
                <a:srgbClr val="FFFFFF"/>
              </a:solidFill>
              <a:effectLst/>
              <a:uFillTx/>
              <a:latin typeface="Arial"/>
            </a:endParaRPr>
          </a:p>
        </p:txBody>
      </p:sp>
      <p:sp>
        <p:nvSpPr>
          <p:cNvPr id="3" name="PlaceHolder 2"/>
          <p:cNvSpPr>
            <a:spLocks noGrp="1"/>
          </p:cNvSpPr>
          <p:nvPr>
            <p:ph type="sldNum" idx="27"/>
          </p:nvPr>
        </p:nvSpPr>
        <p:spPr/>
        <p:txBody>
          <a:bodyPr/>
          <a:lstStyle/>
          <a:p>
            <a:fld id="{BCC14C26-3717-4A92-B57D-384BD84A1C8A}" type="slidenum">
              <a:r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FA08D-5F94-8D8F-5D71-D856A9BB4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7F038-1E54-9A02-8292-EAA2CABDA376}"/>
              </a:ext>
            </a:extLst>
          </p:cNvPr>
          <p:cNvSpPr>
            <a:spLocks noGrp="1"/>
          </p:cNvSpPr>
          <p:nvPr>
            <p:ph type="title"/>
          </p:nvPr>
        </p:nvSpPr>
        <p:spPr>
          <a:xfrm>
            <a:off x="457200" y="228600"/>
            <a:ext cx="8229600" cy="563562"/>
          </a:xfrm>
          <a:solidFill>
            <a:srgbClr val="6535EB"/>
          </a:solidFill>
        </p:spPr>
        <p:txBody>
          <a:bodyPr>
            <a:noAutofit/>
          </a:bodyPr>
          <a:lstStyle/>
          <a:p>
            <a:r>
              <a:rPr lang="en-US" sz="3600" b="1" dirty="0">
                <a:solidFill>
                  <a:schemeClr val="bg1"/>
                </a:solidFill>
                <a:latin typeface="Arial Black" pitchFamily="34" charset="0"/>
                <a:cs typeface="Times New Roman" pitchFamily="18" charset="0"/>
              </a:rPr>
              <a:t>ALGORITHMS/TECHNIQUES</a:t>
            </a:r>
          </a:p>
        </p:txBody>
      </p:sp>
      <p:sp>
        <p:nvSpPr>
          <p:cNvPr id="6" name="Slide Number Placeholder 5">
            <a:extLst>
              <a:ext uri="{FF2B5EF4-FFF2-40B4-BE49-F238E27FC236}">
                <a16:creationId xmlns:a16="http://schemas.microsoft.com/office/drawing/2014/main" id="{9AB1F922-B15C-846D-4C3B-454CC908B31B}"/>
              </a:ext>
            </a:extLst>
          </p:cNvPr>
          <p:cNvSpPr>
            <a:spLocks noGrp="1"/>
          </p:cNvSpPr>
          <p:nvPr>
            <p:ph type="sldNum" sz="quarter" idx="12"/>
          </p:nvPr>
        </p:nvSpPr>
        <p:spPr/>
        <p:txBody>
          <a:bodyPr/>
          <a:lstStyle/>
          <a:p>
            <a:fld id="{E8B2053A-79C1-4C5C-AA77-91D5E8B79550}" type="slidenum">
              <a:rPr lang="en-US" smtClean="0"/>
              <a:pPr/>
              <a:t>14</a:t>
            </a:fld>
            <a:endParaRPr lang="en-US" dirty="0"/>
          </a:p>
        </p:txBody>
      </p:sp>
      <p:sp>
        <p:nvSpPr>
          <p:cNvPr id="3" name="Rectangle 1">
            <a:extLst>
              <a:ext uri="{FF2B5EF4-FFF2-40B4-BE49-F238E27FC236}">
                <a16:creationId xmlns:a16="http://schemas.microsoft.com/office/drawing/2014/main" id="{6AB834CE-22C1-765F-DA32-4C662B01D708}"/>
              </a:ext>
            </a:extLst>
          </p:cNvPr>
          <p:cNvSpPr>
            <a:spLocks noGrp="1" noChangeArrowheads="1"/>
          </p:cNvSpPr>
          <p:nvPr>
            <p:ph idx="1"/>
          </p:nvPr>
        </p:nvSpPr>
        <p:spPr bwMode="auto">
          <a:xfrm>
            <a:off x="434880" y="1374667"/>
            <a:ext cx="8551803" cy="4949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1600" b="1" dirty="0">
                <a:latin typeface="Cambria" panose="02040503050406030204" pitchFamily="18" charset="0"/>
                <a:ea typeface="Cambria" panose="02040503050406030204" pitchFamily="18" charset="0"/>
              </a:rPr>
              <a:t>1. Frontend Layer</a:t>
            </a:r>
          </a:p>
          <a:p>
            <a:pPr lvl="1"/>
            <a:r>
              <a:rPr lang="en-IN" sz="1600" dirty="0">
                <a:latin typeface="Cambria" panose="02040503050406030204" pitchFamily="18" charset="0"/>
                <a:ea typeface="Cambria" panose="02040503050406030204" pitchFamily="18" charset="0"/>
              </a:rPr>
              <a:t>Developed a responsive web interface using HTML, CSS, and JavaScript. </a:t>
            </a:r>
          </a:p>
          <a:p>
            <a:pPr lvl="1"/>
            <a:r>
              <a:rPr lang="en-IN" sz="1600" dirty="0">
                <a:latin typeface="Cambria" panose="02040503050406030204" pitchFamily="18" charset="0"/>
                <a:ea typeface="Cambria" panose="02040503050406030204" pitchFamily="18" charset="0"/>
              </a:rPr>
              <a:t>Supports user authentication, document upload, and interactive result dashboards. </a:t>
            </a:r>
          </a:p>
          <a:p>
            <a:pPr marL="0" indent="0">
              <a:buNone/>
            </a:pPr>
            <a:r>
              <a:rPr lang="en-IN" sz="1600" b="1" dirty="0">
                <a:latin typeface="Cambria" panose="02040503050406030204" pitchFamily="18" charset="0"/>
                <a:ea typeface="Cambria" panose="02040503050406030204" pitchFamily="18" charset="0"/>
              </a:rPr>
              <a:t>2. Backend Layer</a:t>
            </a:r>
          </a:p>
          <a:p>
            <a:pPr lvl="1"/>
            <a:r>
              <a:rPr lang="en-IN" sz="1600" dirty="0">
                <a:latin typeface="Cambria" panose="02040503050406030204" pitchFamily="18" charset="0"/>
                <a:ea typeface="Cambria" panose="02040503050406030204" pitchFamily="18" charset="0"/>
              </a:rPr>
              <a:t>Built using Flask REST API with SQLite for secure authentication and session management. </a:t>
            </a:r>
          </a:p>
          <a:p>
            <a:pPr lvl="1"/>
            <a:r>
              <a:rPr lang="en-IN" sz="1600" dirty="0">
                <a:latin typeface="Cambria" panose="02040503050406030204" pitchFamily="18" charset="0"/>
                <a:ea typeface="Cambria" panose="02040503050406030204" pitchFamily="18" charset="0"/>
              </a:rPr>
              <a:t>Handles API routing, file uploads, and communication with the AI pipeline. </a:t>
            </a:r>
          </a:p>
          <a:p>
            <a:pPr marL="0" indent="0">
              <a:buNone/>
            </a:pPr>
            <a:r>
              <a:rPr lang="en-IN" sz="1600" b="1" dirty="0">
                <a:latin typeface="Cambria" panose="02040503050406030204" pitchFamily="18" charset="0"/>
                <a:ea typeface="Cambria" panose="02040503050406030204" pitchFamily="18" charset="0"/>
              </a:rPr>
              <a:t>3. AI Analysis Pipeline</a:t>
            </a:r>
          </a:p>
          <a:p>
            <a:pPr lvl="1"/>
            <a:r>
              <a:rPr lang="en-IN" sz="1600" dirty="0">
                <a:latin typeface="Cambria" panose="02040503050406030204" pitchFamily="18" charset="0"/>
                <a:ea typeface="Cambria" panose="02040503050406030204" pitchFamily="18" charset="0"/>
              </a:rPr>
              <a:t>Extracts and preprocesses text from PDF, DOCX, and TXT documents. </a:t>
            </a:r>
          </a:p>
          <a:p>
            <a:pPr lvl="1"/>
            <a:r>
              <a:rPr lang="en-IN" sz="1600" dirty="0">
                <a:latin typeface="Cambria" panose="02040503050406030204" pitchFamily="18" charset="0"/>
                <a:ea typeface="Cambria" panose="02040503050406030204" pitchFamily="18" charset="0"/>
              </a:rPr>
              <a:t>Uses all-MiniLM-L6-v2 for semantic embedding and similarity matching. </a:t>
            </a:r>
          </a:p>
          <a:p>
            <a:pPr lvl="1"/>
            <a:r>
              <a:rPr lang="en-IN" sz="1600" dirty="0">
                <a:latin typeface="Cambria" panose="02040503050406030204" pitchFamily="18" charset="0"/>
                <a:ea typeface="Cambria" panose="02040503050406030204" pitchFamily="18" charset="0"/>
              </a:rPr>
              <a:t>Applies </a:t>
            </a:r>
            <a:r>
              <a:rPr lang="en-IN" sz="1600" dirty="0" err="1">
                <a:latin typeface="Cambria" panose="02040503050406030204" pitchFamily="18" charset="0"/>
                <a:ea typeface="Cambria" panose="02040503050406030204" pitchFamily="18" charset="0"/>
              </a:rPr>
              <a:t>nli</a:t>
            </a:r>
            <a:r>
              <a:rPr lang="en-IN" sz="1600" dirty="0">
                <a:latin typeface="Cambria" panose="02040503050406030204" pitchFamily="18" charset="0"/>
                <a:ea typeface="Cambria" panose="02040503050406030204" pitchFamily="18" charset="0"/>
              </a:rPr>
              <a:t>-</a:t>
            </a:r>
            <a:r>
              <a:rPr lang="en-IN" sz="1600" dirty="0" err="1">
                <a:latin typeface="Cambria" panose="02040503050406030204" pitchFamily="18" charset="0"/>
                <a:ea typeface="Cambria" panose="02040503050406030204" pitchFamily="18" charset="0"/>
              </a:rPr>
              <a:t>distilroberta</a:t>
            </a:r>
            <a:r>
              <a:rPr lang="en-IN" sz="1600" dirty="0">
                <a:latin typeface="Cambria" panose="02040503050406030204" pitchFamily="18" charset="0"/>
                <a:ea typeface="Cambria" panose="02040503050406030204" pitchFamily="18" charset="0"/>
              </a:rPr>
              <a:t>-base for contradiction, inconsistency, and duplication detection. </a:t>
            </a:r>
          </a:p>
          <a:p>
            <a:pPr lvl="1"/>
            <a:r>
              <a:rPr lang="en-IN" sz="1600" dirty="0">
                <a:latin typeface="Cambria" panose="02040503050406030204" pitchFamily="18" charset="0"/>
                <a:ea typeface="Cambria" panose="02040503050406030204" pitchFamily="18" charset="0"/>
              </a:rPr>
              <a:t>Integrates </a:t>
            </a:r>
            <a:r>
              <a:rPr lang="en-IN" sz="1600" dirty="0" err="1">
                <a:latin typeface="Cambria" panose="02040503050406030204" pitchFamily="18" charset="0"/>
                <a:ea typeface="Cambria" panose="02040503050406030204" pitchFamily="18" charset="0"/>
              </a:rPr>
              <a:t>TinyLlama</a:t>
            </a:r>
            <a:r>
              <a:rPr lang="en-IN" sz="1600" dirty="0">
                <a:latin typeface="Cambria" panose="02040503050406030204" pitchFamily="18" charset="0"/>
                <a:ea typeface="Cambria" panose="02040503050406030204" pitchFamily="18" charset="0"/>
              </a:rPr>
              <a:t> for generating human-readable summaries. </a:t>
            </a:r>
          </a:p>
          <a:p>
            <a:pPr lvl="1"/>
            <a:r>
              <a:rPr lang="en-IN" sz="1600" dirty="0">
                <a:latin typeface="Cambria" panose="02040503050406030204" pitchFamily="18" charset="0"/>
                <a:ea typeface="Cambria" panose="02040503050406030204" pitchFamily="18" charset="0"/>
              </a:rPr>
              <a:t>Fine-tuned models using </a:t>
            </a:r>
            <a:r>
              <a:rPr lang="en-IN" sz="1600" dirty="0" err="1">
                <a:latin typeface="Cambria" panose="02040503050406030204" pitchFamily="18" charset="0"/>
                <a:ea typeface="Cambria" panose="02040503050406030204" pitchFamily="18" charset="0"/>
              </a:rPr>
              <a:t>QLoRA</a:t>
            </a:r>
            <a:r>
              <a:rPr lang="en-IN" sz="1600" dirty="0">
                <a:latin typeface="Cambria" panose="02040503050406030204" pitchFamily="18" charset="0"/>
                <a:ea typeface="Cambria" panose="02040503050406030204" pitchFamily="18" charset="0"/>
              </a:rPr>
              <a:t> for efficient domain-specific performance improvement. </a:t>
            </a:r>
          </a:p>
          <a:p>
            <a:pPr marL="0" indent="0">
              <a:buNone/>
            </a:pPr>
            <a:r>
              <a:rPr lang="en-IN" sz="1600" b="1" dirty="0">
                <a:latin typeface="Cambria" panose="02040503050406030204" pitchFamily="18" charset="0"/>
                <a:ea typeface="Cambria" panose="02040503050406030204" pitchFamily="18" charset="0"/>
              </a:rPr>
              <a:t>			Data Flow</a:t>
            </a:r>
          </a:p>
          <a:p>
            <a:pPr marL="0" indent="0">
              <a:buNone/>
            </a:pPr>
            <a:r>
              <a:rPr lang="en-IN" sz="1600" dirty="0">
                <a:latin typeface="Cambria" panose="02040503050406030204" pitchFamily="18" charset="0"/>
                <a:ea typeface="Cambria" panose="02040503050406030204" pitchFamily="18" charset="0"/>
              </a:rPr>
              <a:t>Document Upload → Text Extraction → Semantic Matching → NLI Verification → Summary Generation → Interactive Dashboard Output</a:t>
            </a:r>
          </a:p>
        </p:txBody>
      </p:sp>
      <p:sp>
        <p:nvSpPr>
          <p:cNvPr id="4" name="Google Shape;108;p1">
            <a:extLst>
              <a:ext uri="{FF2B5EF4-FFF2-40B4-BE49-F238E27FC236}">
                <a16:creationId xmlns:a16="http://schemas.microsoft.com/office/drawing/2014/main" id="{604C7C97-41CE-8703-FFCE-2D203F5887CC}"/>
              </a:ext>
            </a:extLst>
          </p:cNvPr>
          <p:cNvSpPr/>
          <p:nvPr/>
        </p:nvSpPr>
        <p:spPr>
          <a:xfrm>
            <a:off x="434880" y="244800"/>
            <a:ext cx="8228520" cy="562320"/>
          </a:xfrm>
          <a:prstGeom prst="rect">
            <a:avLst/>
          </a:prstGeom>
          <a:solidFill>
            <a:srgbClr val="6C3EEC"/>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tabLst>
                <a:tab pos="0" algn="l"/>
              </a:tabLst>
            </a:pPr>
            <a:r>
              <a:rPr lang="en-US" sz="3200" b="1" dirty="0">
                <a:solidFill>
                  <a:schemeClr val="bg1"/>
                </a:solidFill>
                <a:latin typeface="Arial Black" pitchFamily="34" charset="0"/>
                <a:cs typeface="Times New Roman" pitchFamily="18" charset="0"/>
              </a:rPr>
              <a:t>OVERALL SYSTEM DESIGN</a:t>
            </a:r>
            <a:endParaRPr lang="en-US" sz="3200" b="0" u="none" strike="noStrike" dirty="0">
              <a:solidFill>
                <a:srgbClr val="FFFFFF"/>
              </a:solidFill>
              <a:effectLst/>
              <a:uFillTx/>
              <a:latin typeface="Arial"/>
            </a:endParaRPr>
          </a:p>
        </p:txBody>
      </p:sp>
    </p:spTree>
    <p:extLst>
      <p:ext uri="{BB962C8B-B14F-4D97-AF65-F5344CB8AC3E}">
        <p14:creationId xmlns:p14="http://schemas.microsoft.com/office/powerpoint/2010/main" val="3202773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itle 1"/>
          <p:cNvSpPr/>
          <p:nvPr/>
        </p:nvSpPr>
        <p:spPr>
          <a:xfrm>
            <a:off x="457200" y="228600"/>
            <a:ext cx="8228520" cy="562320"/>
          </a:xfrm>
          <a:prstGeom prst="rect">
            <a:avLst/>
          </a:prstGeom>
          <a:solidFill>
            <a:srgbClr val="6C3EEC"/>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3600" b="1" u="none" strike="noStrike" dirty="0">
                <a:solidFill>
                  <a:schemeClr val="lt1"/>
                </a:solidFill>
                <a:effectLst/>
                <a:uFillTx/>
                <a:latin typeface="Arial Black"/>
              </a:rPr>
              <a:t>MODULE IMPLEMENTATION</a:t>
            </a:r>
            <a:endParaRPr lang="en-US" sz="3600" b="0" u="none" strike="noStrike" dirty="0">
              <a:solidFill>
                <a:srgbClr val="FFFFFF"/>
              </a:solidFill>
              <a:effectLst/>
              <a:uFillTx/>
              <a:latin typeface="Arial"/>
            </a:endParaRPr>
          </a:p>
        </p:txBody>
      </p:sp>
      <p:sp>
        <p:nvSpPr>
          <p:cNvPr id="86" name="TextBox 85"/>
          <p:cNvSpPr txBox="1"/>
          <p:nvPr/>
        </p:nvSpPr>
        <p:spPr>
          <a:xfrm>
            <a:off x="356420" y="897826"/>
            <a:ext cx="8229600" cy="5825782"/>
          </a:xfrm>
          <a:prstGeom prst="rect">
            <a:avLst/>
          </a:prstGeom>
          <a:noFill/>
          <a:ln w="0">
            <a:noFill/>
          </a:ln>
        </p:spPr>
        <p:txBody>
          <a:bodyPr lIns="90000" tIns="45000" rIns="90000" bIns="45000" anchor="t">
            <a:spAutoFit/>
          </a:bodyPr>
          <a:lstStyle/>
          <a:p>
            <a:pPr algn="just">
              <a:spcBef>
                <a:spcPts val="1191"/>
              </a:spcBef>
              <a:spcAft>
                <a:spcPts val="992"/>
              </a:spcAft>
            </a:pPr>
            <a:r>
              <a:rPr lang="en-US" sz="1400" b="1" u="none" strike="noStrike" dirty="0">
                <a:solidFill>
                  <a:srgbClr val="000000"/>
                </a:solidFill>
                <a:effectLst/>
                <a:uFillTx/>
                <a:latin typeface="Cambria" panose="02040503050406030204" pitchFamily="18" charset="0"/>
                <a:ea typeface="Cambria" panose="02040503050406030204" pitchFamily="18" charset="0"/>
              </a:rPr>
              <a:t>1. User Authentication Module-</a:t>
            </a:r>
            <a:r>
              <a:rPr lang="en-US" sz="1400" b="0" u="none" strike="noStrike" dirty="0">
                <a:solidFill>
                  <a:srgbClr val="000000"/>
                </a:solidFill>
                <a:effectLst/>
                <a:uFillTx/>
                <a:latin typeface="Cambria" panose="02040503050406030204" pitchFamily="18" charset="0"/>
                <a:ea typeface="Cambria" panose="02040503050406030204" pitchFamily="18" charset="0"/>
              </a:rPr>
              <a:t> Built using Flask routing and SQLite databases.- Secures the application by allowing only registered users to perform document analysis. Implements endpoints for registration, secure login, and session tracking.</a:t>
            </a:r>
          </a:p>
          <a:p>
            <a:pPr algn="just">
              <a:spcBef>
                <a:spcPts val="1191"/>
              </a:spcBef>
              <a:spcAft>
                <a:spcPts val="992"/>
              </a:spcAft>
            </a:pPr>
            <a:r>
              <a:rPr lang="en-US" sz="1400" b="1" u="none" strike="noStrike" dirty="0">
                <a:solidFill>
                  <a:srgbClr val="000000"/>
                </a:solidFill>
                <a:effectLst/>
                <a:uFillTx/>
                <a:latin typeface="Cambria" panose="02040503050406030204" pitchFamily="18" charset="0"/>
                <a:ea typeface="Cambria" panose="02040503050406030204" pitchFamily="18" charset="0"/>
              </a:rPr>
              <a:t>2.Document Ingestion and Parsing Module- </a:t>
            </a:r>
            <a:r>
              <a:rPr lang="en-US" sz="1400" b="0" u="none" strike="noStrike" dirty="0">
                <a:solidFill>
                  <a:srgbClr val="000000"/>
                </a:solidFill>
                <a:effectLst/>
                <a:uFillTx/>
                <a:latin typeface="Cambria" panose="02040503050406030204" pitchFamily="18" charset="0"/>
                <a:ea typeface="Cambria" panose="02040503050406030204" pitchFamily="18" charset="0"/>
              </a:rPr>
              <a:t>Handles document uploads up to robust sizes in multiple formats (PDF, DOCX, TXT).- Supports uploading 1-2 optional "Reference Documents" alongside the primary "Final Document" for cross-verification. Implements text parsing to maintain spatial metadata (line numbers and page numbers) essential for output traceability.</a:t>
            </a:r>
          </a:p>
          <a:p>
            <a:pPr algn="just">
              <a:spcBef>
                <a:spcPts val="1191"/>
              </a:spcBef>
            </a:pPr>
            <a:r>
              <a:rPr lang="en-US" sz="1400" b="1" u="none" strike="noStrike" dirty="0">
                <a:solidFill>
                  <a:srgbClr val="000000"/>
                </a:solidFill>
                <a:effectLst/>
                <a:uFillTx/>
                <a:latin typeface="Cambria" panose="02040503050406030204" pitchFamily="18" charset="0"/>
                <a:ea typeface="Cambria" panose="02040503050406030204" pitchFamily="18" charset="0"/>
              </a:rPr>
              <a:t>3.Core Analysis Module- </a:t>
            </a:r>
            <a:endParaRPr lang="en-US" sz="1400" b="0" u="none" strike="noStrike" dirty="0">
              <a:solidFill>
                <a:srgbClr val="000000"/>
              </a:solidFill>
              <a:effectLst/>
              <a:uFillTx/>
              <a:latin typeface="Cambria" panose="02040503050406030204" pitchFamily="18" charset="0"/>
              <a:ea typeface="Cambria" panose="02040503050406030204" pitchFamily="18" charset="0"/>
            </a:endParaRPr>
          </a:p>
          <a:p>
            <a:pPr marL="285750" indent="-285750" algn="just">
              <a:spcBef>
                <a:spcPts val="1191"/>
              </a:spcBef>
              <a:buFont typeface="Arial" panose="020B0604020202020204" pitchFamily="34" charset="0"/>
              <a:buChar char="•"/>
            </a:pPr>
            <a:r>
              <a:rPr lang="en-US" sz="1400" b="1" u="none" strike="noStrike" dirty="0">
                <a:solidFill>
                  <a:srgbClr val="000000"/>
                </a:solidFill>
                <a:effectLst/>
                <a:uFillTx/>
                <a:latin typeface="Cambria" panose="02040503050406030204" pitchFamily="18" charset="0"/>
                <a:ea typeface="Cambria" panose="02040503050406030204" pitchFamily="18" charset="0"/>
              </a:rPr>
              <a:t>Entity &amp; Meaning Extraction: </a:t>
            </a:r>
            <a:r>
              <a:rPr lang="en-US" sz="1400" b="0" u="none" strike="noStrike" dirty="0">
                <a:solidFill>
                  <a:srgbClr val="000000"/>
                </a:solidFill>
                <a:effectLst/>
                <a:uFillTx/>
                <a:latin typeface="Cambria" panose="02040503050406030204" pitchFamily="18" charset="0"/>
                <a:ea typeface="Cambria" panose="02040503050406030204" pitchFamily="18" charset="0"/>
              </a:rPr>
              <a:t>Utilizes local LLM inference to generate a "</a:t>
            </a:r>
            <a:r>
              <a:rPr lang="en-US" sz="1400" b="0" u="none" strike="noStrike" dirty="0" err="1">
                <a:solidFill>
                  <a:srgbClr val="000000"/>
                </a:solidFill>
                <a:effectLst/>
                <a:uFillTx/>
                <a:latin typeface="Cambria" panose="02040503050406030204" pitchFamily="18" charset="0"/>
                <a:ea typeface="Cambria" panose="02040503050406030204" pitchFamily="18" charset="0"/>
              </a:rPr>
              <a:t>detailedSummary</a:t>
            </a:r>
            <a:r>
              <a:rPr lang="en-US" sz="1400" b="0" u="none" strike="noStrike" dirty="0">
                <a:solidFill>
                  <a:srgbClr val="000000"/>
                </a:solidFill>
                <a:effectLst/>
                <a:uFillTx/>
                <a:latin typeface="Cambria" panose="02040503050406030204" pitchFamily="18" charset="0"/>
                <a:ea typeface="Cambria" panose="02040503050406030204" pitchFamily="18" charset="0"/>
              </a:rPr>
              <a:t>" and "</a:t>
            </a:r>
            <a:r>
              <a:rPr lang="en-US" sz="1400" b="0" u="none" strike="noStrike" dirty="0" err="1">
                <a:solidFill>
                  <a:srgbClr val="000000"/>
                </a:solidFill>
                <a:effectLst/>
                <a:uFillTx/>
                <a:latin typeface="Cambria" panose="02040503050406030204" pitchFamily="18" charset="0"/>
                <a:ea typeface="Cambria" panose="02040503050406030204" pitchFamily="18" charset="0"/>
              </a:rPr>
              <a:t>pageSummaries</a:t>
            </a:r>
            <a:r>
              <a:rPr lang="en-US" sz="1400" b="0" u="none" strike="noStrike" dirty="0">
                <a:solidFill>
                  <a:srgbClr val="000000"/>
                </a:solidFill>
                <a:effectLst/>
                <a:uFillTx/>
                <a:latin typeface="Cambria" panose="02040503050406030204" pitchFamily="18" charset="0"/>
                <a:ea typeface="Cambria" panose="02040503050406030204" pitchFamily="18" charset="0"/>
              </a:rPr>
              <a:t>“</a:t>
            </a:r>
          </a:p>
          <a:p>
            <a:pPr marL="285750" indent="-285750" algn="just">
              <a:spcBef>
                <a:spcPts val="1191"/>
              </a:spcBef>
              <a:buFont typeface="Arial" panose="020B0604020202020204" pitchFamily="34" charset="0"/>
              <a:buChar char="•"/>
            </a:pPr>
            <a:r>
              <a:rPr lang="en-US" sz="1400" b="1" u="none" strike="noStrike" dirty="0">
                <a:solidFill>
                  <a:srgbClr val="000000"/>
                </a:solidFill>
                <a:effectLst/>
                <a:uFillTx/>
                <a:latin typeface="Cambria" panose="02040503050406030204" pitchFamily="18" charset="0"/>
                <a:ea typeface="Cambria" panose="02040503050406030204" pitchFamily="18" charset="0"/>
              </a:rPr>
              <a:t>Risk Analyzer Pipeline: </a:t>
            </a:r>
            <a:r>
              <a:rPr lang="en-US" sz="1400" b="0" u="none" strike="noStrike" dirty="0">
                <a:solidFill>
                  <a:srgbClr val="000000"/>
                </a:solidFill>
                <a:effectLst/>
                <a:uFillTx/>
                <a:latin typeface="Cambria" panose="02040503050406030204" pitchFamily="18" charset="0"/>
                <a:ea typeface="Cambria" panose="02040503050406030204" pitchFamily="18" charset="0"/>
              </a:rPr>
              <a:t>It is used to compare the Reference Document text and agent-searched standards against the Final Document.</a:t>
            </a:r>
          </a:p>
          <a:p>
            <a:pPr algn="just">
              <a:spcBef>
                <a:spcPts val="1191"/>
              </a:spcBef>
            </a:pPr>
            <a:r>
              <a:rPr lang="en-US" sz="1400" dirty="0">
                <a:solidFill>
                  <a:srgbClr val="000000"/>
                </a:solidFill>
                <a:latin typeface="Cambria" panose="02040503050406030204" pitchFamily="18" charset="0"/>
                <a:ea typeface="Cambria" panose="02040503050406030204" pitchFamily="18" charset="0"/>
              </a:rPr>
              <a:t>        </a:t>
            </a:r>
            <a:r>
              <a:rPr lang="en-US" sz="1400" b="1" dirty="0">
                <a:solidFill>
                  <a:srgbClr val="000000"/>
                </a:solidFill>
                <a:latin typeface="Cambria" panose="02040503050406030204" pitchFamily="18" charset="0"/>
                <a:ea typeface="Cambria" panose="02040503050406030204" pitchFamily="18" charset="0"/>
              </a:rPr>
              <a:t>Detects the following categories of discrepancies:</a:t>
            </a:r>
          </a:p>
          <a:p>
            <a:pPr algn="just">
              <a:spcBef>
                <a:spcPts val="1191"/>
              </a:spcBef>
            </a:pPr>
            <a:r>
              <a:rPr lang="en-US" sz="1400" b="1" dirty="0">
                <a:solidFill>
                  <a:srgbClr val="000000"/>
                </a:solidFill>
                <a:latin typeface="Cambria" panose="02040503050406030204" pitchFamily="18" charset="0"/>
                <a:ea typeface="Cambria" panose="02040503050406030204" pitchFamily="18" charset="0"/>
              </a:rPr>
              <a:t>	I.     Duplication: </a:t>
            </a:r>
            <a:r>
              <a:rPr lang="en-US" sz="1400" dirty="0">
                <a:solidFill>
                  <a:srgbClr val="000000"/>
                </a:solidFill>
                <a:latin typeface="Cambria" panose="02040503050406030204" pitchFamily="18" charset="0"/>
                <a:ea typeface="Cambria" panose="02040503050406030204" pitchFamily="18" charset="0"/>
              </a:rPr>
              <a:t>Unnecessary repetition of clauses</a:t>
            </a:r>
          </a:p>
          <a:p>
            <a:pPr algn="just">
              <a:spcBef>
                <a:spcPts val="1191"/>
              </a:spcBef>
            </a:pPr>
            <a:r>
              <a:rPr lang="en-US" sz="1400" b="1" dirty="0">
                <a:solidFill>
                  <a:srgbClr val="000000"/>
                </a:solidFill>
                <a:latin typeface="Cambria" panose="02040503050406030204" pitchFamily="18" charset="0"/>
                <a:ea typeface="Cambria" panose="02040503050406030204" pitchFamily="18" charset="0"/>
              </a:rPr>
              <a:t>	II.    Inconsistency: </a:t>
            </a:r>
            <a:r>
              <a:rPr lang="en-US" sz="1400" dirty="0">
                <a:solidFill>
                  <a:srgbClr val="000000"/>
                </a:solidFill>
                <a:latin typeface="Cambria" panose="02040503050406030204" pitchFamily="18" charset="0"/>
                <a:ea typeface="Cambria" panose="02040503050406030204" pitchFamily="18" charset="0"/>
              </a:rPr>
              <a:t>Variations in terminology or conditions.</a:t>
            </a:r>
          </a:p>
          <a:p>
            <a:pPr algn="just">
              <a:spcBef>
                <a:spcPts val="1191"/>
              </a:spcBef>
            </a:pPr>
            <a:r>
              <a:rPr lang="en-US" sz="1400" b="1" dirty="0">
                <a:solidFill>
                  <a:srgbClr val="000000"/>
                </a:solidFill>
                <a:latin typeface="Cambria" panose="02040503050406030204" pitchFamily="18" charset="0"/>
                <a:ea typeface="Cambria" panose="02040503050406030204" pitchFamily="18" charset="0"/>
              </a:rPr>
              <a:t>	III. Contradiction: </a:t>
            </a:r>
            <a:r>
              <a:rPr lang="en-US" sz="1400" dirty="0">
                <a:solidFill>
                  <a:srgbClr val="000000"/>
                </a:solidFill>
                <a:latin typeface="Cambria" panose="02040503050406030204" pitchFamily="18" charset="0"/>
                <a:ea typeface="Cambria" panose="02040503050406030204" pitchFamily="18" charset="0"/>
              </a:rPr>
              <a:t>Conflicting statements within the document or against legal norms. 	Omission/Missing Clauses is Important legal sections that are noticeably absent.</a:t>
            </a:r>
          </a:p>
          <a:p>
            <a:pPr algn="just">
              <a:spcBef>
                <a:spcPts val="1191"/>
              </a:spcBef>
            </a:pPr>
            <a:r>
              <a:rPr lang="en-US" sz="1400" b="1" dirty="0">
                <a:solidFill>
                  <a:srgbClr val="000000"/>
                </a:solidFill>
                <a:latin typeface="Cambria" panose="02040503050406030204" pitchFamily="18" charset="0"/>
                <a:ea typeface="Cambria" panose="02040503050406030204" pitchFamily="18" charset="0"/>
              </a:rPr>
              <a:t>4.Reporting and Dashboard Module-</a:t>
            </a:r>
            <a:r>
              <a:rPr lang="en-US" sz="1400" dirty="0">
                <a:solidFill>
                  <a:srgbClr val="000000"/>
                </a:solidFill>
                <a:latin typeface="Cambria" panose="02040503050406030204" pitchFamily="18" charset="0"/>
                <a:ea typeface="Cambria" panose="02040503050406030204" pitchFamily="18" charset="0"/>
              </a:rPr>
              <a:t> Renders the output of the analysis module into a rich, interactive user interface. Detailed Summaries, Top Findings Card, Line Error Table.</a:t>
            </a:r>
            <a:endParaRPr lang="en-US" sz="1400" b="0" u="none" strike="noStrike" dirty="0">
              <a:solidFill>
                <a:srgbClr val="000000"/>
              </a:solidFill>
              <a:effectLst/>
              <a:uFillTx/>
              <a:latin typeface="Cambria" panose="02040503050406030204" pitchFamily="18" charset="0"/>
              <a:ea typeface="Cambria" panose="02040503050406030204" pitchFamily="18" charset="0"/>
            </a:endParaRPr>
          </a:p>
        </p:txBody>
      </p:sp>
      <p:sp>
        <p:nvSpPr>
          <p:cNvPr id="2" name="PlaceHolder 1"/>
          <p:cNvSpPr>
            <a:spLocks noGrp="1"/>
          </p:cNvSpPr>
          <p:nvPr>
            <p:ph type="sldNum" idx="27"/>
          </p:nvPr>
        </p:nvSpPr>
        <p:spPr/>
        <p:txBody>
          <a:bodyPr/>
          <a:lstStyle/>
          <a:p>
            <a:fld id="{2F3FA136-2218-4AAE-A902-940075327D3E}" type="slidenum">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28600"/>
            <a:ext cx="8228520" cy="562320"/>
          </a:xfrm>
          <a:prstGeom prst="rect">
            <a:avLst/>
          </a:prstGeom>
          <a:solidFill>
            <a:srgbClr val="6535EB"/>
          </a:solidFill>
          <a:ln w="0">
            <a:noFill/>
          </a:ln>
        </p:spPr>
        <p:txBody>
          <a:bodyPr lIns="91440" tIns="45720" rIns="91440" bIns="45720" anchor="ctr">
            <a:noAutofit/>
          </a:bodyPr>
          <a:lstStyle/>
          <a:p>
            <a:pPr indent="0" algn="ctr" defTabSz="914400">
              <a:lnSpc>
                <a:spcPct val="100000"/>
              </a:lnSpc>
              <a:buNone/>
              <a:tabLst>
                <a:tab pos="0" algn="l"/>
              </a:tabLst>
            </a:pPr>
            <a:r>
              <a:rPr lang="en-US" sz="3600" b="1" u="none" strike="noStrike" dirty="0">
                <a:solidFill>
                  <a:schemeClr val="lt1"/>
                </a:solidFill>
                <a:effectLst/>
                <a:uFillTx/>
                <a:latin typeface="Arial Black" panose="020B0A04020102020204" pitchFamily="34" charset="0"/>
              </a:rPr>
              <a:t>EXPERIMENTAL RESULTS</a:t>
            </a:r>
            <a:endParaRPr lang="en-US" sz="3600" b="0" u="none" strike="noStrike" dirty="0">
              <a:solidFill>
                <a:srgbClr val="FFFFFF"/>
              </a:solidFill>
              <a:effectLst/>
              <a:uFillTx/>
              <a:latin typeface="Arial Black" panose="020B0A04020102020204" pitchFamily="34" charset="0"/>
            </a:endParaRPr>
          </a:p>
        </p:txBody>
      </p:sp>
      <p:sp>
        <p:nvSpPr>
          <p:cNvPr id="88" name="TextBox 87"/>
          <p:cNvSpPr txBox="1"/>
          <p:nvPr/>
        </p:nvSpPr>
        <p:spPr>
          <a:xfrm>
            <a:off x="457200" y="1120877"/>
            <a:ext cx="8229600" cy="5061470"/>
          </a:xfrm>
          <a:prstGeom prst="rect">
            <a:avLst/>
          </a:prstGeom>
          <a:noFill/>
          <a:ln w="0">
            <a:noFill/>
          </a:ln>
        </p:spPr>
        <p:txBody>
          <a:bodyPr lIns="90000" tIns="45000" rIns="90000" bIns="45000" anchor="t">
            <a:spAutoFit/>
          </a:bodyPr>
          <a:lstStyle/>
          <a:p>
            <a:pPr algn="just"/>
            <a:r>
              <a:rPr lang="en-US" sz="1900" b="1" u="none" strike="noStrike" dirty="0">
                <a:solidFill>
                  <a:srgbClr val="000000"/>
                </a:solidFill>
                <a:effectLst/>
                <a:uFillTx/>
                <a:latin typeface="Cambria" panose="02040503050406030204" pitchFamily="18" charset="0"/>
                <a:ea typeface="Cambria" panose="02040503050406030204" pitchFamily="18" charset="0"/>
              </a:rPr>
              <a:t>1.Evaluation Metrics</a:t>
            </a:r>
          </a:p>
          <a:p>
            <a:pPr marL="342900" indent="-342900" algn="just">
              <a:buFont typeface="Arial" panose="020B0604020202020204" pitchFamily="34" charset="0"/>
              <a:buChar char="•"/>
            </a:pPr>
            <a:r>
              <a:rPr lang="en-US" sz="1900" b="1" u="none" strike="noStrike" dirty="0">
                <a:solidFill>
                  <a:srgbClr val="000000"/>
                </a:solidFill>
                <a:effectLst/>
                <a:uFillTx/>
                <a:latin typeface="Cambria" panose="02040503050406030204" pitchFamily="18" charset="0"/>
                <a:ea typeface="Cambria" panose="02040503050406030204" pitchFamily="18" charset="0"/>
              </a:rPr>
              <a:t>Precision &amp; Recall: </a:t>
            </a:r>
            <a:r>
              <a:rPr lang="en-US" sz="1900" b="0" u="none" strike="noStrike" dirty="0">
                <a:solidFill>
                  <a:srgbClr val="000000"/>
                </a:solidFill>
                <a:effectLst/>
                <a:uFillTx/>
                <a:latin typeface="Cambria" panose="02040503050406030204" pitchFamily="18" charset="0"/>
                <a:ea typeface="Cambria" panose="02040503050406030204" pitchFamily="18" charset="0"/>
              </a:rPr>
              <a:t>Assessed the model’s ability to correctly identify inconsistencies and minimize false positives. </a:t>
            </a:r>
          </a:p>
          <a:p>
            <a:pPr marL="342900" indent="-342900" algn="just">
              <a:buFont typeface="Arial" panose="020B0604020202020204" pitchFamily="34" charset="0"/>
              <a:buChar char="•"/>
            </a:pPr>
            <a:r>
              <a:rPr lang="en-US" sz="1900" b="1" u="none" strike="noStrike" dirty="0">
                <a:solidFill>
                  <a:srgbClr val="000000"/>
                </a:solidFill>
                <a:effectLst/>
                <a:uFillTx/>
                <a:latin typeface="Cambria" panose="02040503050406030204" pitchFamily="18" charset="0"/>
                <a:ea typeface="Cambria" panose="02040503050406030204" pitchFamily="18" charset="0"/>
              </a:rPr>
              <a:t>Latency: </a:t>
            </a:r>
            <a:r>
              <a:rPr lang="en-US" sz="1900" b="0" u="none" strike="noStrike" dirty="0">
                <a:solidFill>
                  <a:srgbClr val="000000"/>
                </a:solidFill>
                <a:effectLst/>
                <a:uFillTx/>
                <a:latin typeface="Cambria" panose="02040503050406030204" pitchFamily="18" charset="0"/>
                <a:ea typeface="Cambria" panose="02040503050406030204" pitchFamily="18" charset="0"/>
              </a:rPr>
              <a:t>Measured end-to-end processing time from document upload to report generation. </a:t>
            </a:r>
          </a:p>
          <a:p>
            <a:pPr algn="just"/>
            <a:endParaRPr lang="en-US" sz="1900" b="0" u="none" strike="noStrike" dirty="0">
              <a:solidFill>
                <a:srgbClr val="000000"/>
              </a:solidFill>
              <a:effectLst/>
              <a:uFillTx/>
              <a:latin typeface="Cambria" panose="02040503050406030204" pitchFamily="18" charset="0"/>
              <a:ea typeface="Cambria" panose="02040503050406030204" pitchFamily="18" charset="0"/>
            </a:endParaRPr>
          </a:p>
          <a:p>
            <a:pPr algn="just"/>
            <a:r>
              <a:rPr lang="en-US" sz="1900" b="1" u="none" strike="noStrike" dirty="0">
                <a:solidFill>
                  <a:srgbClr val="000000"/>
                </a:solidFill>
                <a:effectLst/>
                <a:uFillTx/>
                <a:latin typeface="Cambria" panose="02040503050406030204" pitchFamily="18" charset="0"/>
                <a:ea typeface="Cambria" panose="02040503050406030204" pitchFamily="18" charset="0"/>
              </a:rPr>
              <a:t>2.Results &amp; Observations</a:t>
            </a:r>
          </a:p>
          <a:p>
            <a:pPr marL="342900" indent="-342900" algn="just">
              <a:buFont typeface="Arial" panose="020B0604020202020204" pitchFamily="34" charset="0"/>
              <a:buChar char="•"/>
            </a:pPr>
            <a:r>
              <a:rPr lang="en-US" sz="1900" b="1" u="none" strike="noStrike" dirty="0">
                <a:solidFill>
                  <a:srgbClr val="000000"/>
                </a:solidFill>
                <a:effectLst/>
                <a:uFillTx/>
                <a:latin typeface="Cambria" panose="02040503050406030204" pitchFamily="18" charset="0"/>
                <a:ea typeface="Cambria" panose="02040503050406030204" pitchFamily="18" charset="0"/>
              </a:rPr>
              <a:t>High Traceability: </a:t>
            </a:r>
            <a:r>
              <a:rPr lang="en-US" sz="1900" b="0" u="none" strike="noStrike" dirty="0">
                <a:solidFill>
                  <a:srgbClr val="000000"/>
                </a:solidFill>
                <a:effectLst/>
                <a:uFillTx/>
                <a:latin typeface="Cambria" panose="02040503050406030204" pitchFamily="18" charset="0"/>
                <a:ea typeface="Cambria" panose="02040503050406030204" pitchFamily="18" charset="0"/>
              </a:rPr>
              <a:t>Achieved ~95% accuracy in mapping discrepancies to exact page and line numbers. </a:t>
            </a:r>
          </a:p>
          <a:p>
            <a:pPr marL="342900" indent="-342900" algn="just">
              <a:buFont typeface="Arial" panose="020B0604020202020204" pitchFamily="34" charset="0"/>
              <a:buChar char="•"/>
            </a:pPr>
            <a:r>
              <a:rPr lang="en-US" sz="1900" b="1" u="none" strike="noStrike" dirty="0">
                <a:solidFill>
                  <a:srgbClr val="000000"/>
                </a:solidFill>
                <a:effectLst/>
                <a:uFillTx/>
                <a:latin typeface="Cambria" panose="02040503050406030204" pitchFamily="18" charset="0"/>
                <a:ea typeface="Cambria" panose="02040503050406030204" pitchFamily="18" charset="0"/>
              </a:rPr>
              <a:t>Efficient Hybrid Model: </a:t>
            </a:r>
            <a:r>
              <a:rPr lang="en-US" sz="1900" b="0" u="none" strike="noStrike" dirty="0">
                <a:solidFill>
                  <a:srgbClr val="000000"/>
                </a:solidFill>
                <a:effectLst/>
                <a:uFillTx/>
                <a:latin typeface="Cambria" panose="02040503050406030204" pitchFamily="18" charset="0"/>
                <a:ea typeface="Cambria" panose="02040503050406030204" pitchFamily="18" charset="0"/>
              </a:rPr>
              <a:t>Leveraged local LLM for cost-effective processing and external API only for advanced semantic checks, keeping response time under 30 seconds. </a:t>
            </a:r>
          </a:p>
          <a:p>
            <a:pPr marL="342900" indent="-342900" algn="just">
              <a:buFont typeface="Arial" panose="020B0604020202020204" pitchFamily="34" charset="0"/>
              <a:buChar char="•"/>
            </a:pPr>
            <a:r>
              <a:rPr lang="en-US" sz="1900" b="1" u="none" strike="noStrike" dirty="0">
                <a:solidFill>
                  <a:srgbClr val="000000"/>
                </a:solidFill>
                <a:effectLst/>
                <a:uFillTx/>
                <a:latin typeface="Cambria" panose="02040503050406030204" pitchFamily="18" charset="0"/>
                <a:ea typeface="Cambria" panose="02040503050406030204" pitchFamily="18" charset="0"/>
              </a:rPr>
              <a:t>Improved Risk Detection: </a:t>
            </a:r>
            <a:r>
              <a:rPr lang="en-US" sz="1900" b="0" u="none" strike="noStrike" dirty="0">
                <a:solidFill>
                  <a:srgbClr val="000000"/>
                </a:solidFill>
                <a:effectLst/>
                <a:uFillTx/>
                <a:latin typeface="Cambria" panose="02040503050406030204" pitchFamily="18" charset="0"/>
                <a:ea typeface="Cambria" panose="02040503050406030204" pitchFamily="18" charset="0"/>
              </a:rPr>
              <a:t>External context integration enhanced identification of missing or implicit clauses. </a:t>
            </a:r>
          </a:p>
          <a:p>
            <a:pPr marL="342900" indent="-342900" algn="just">
              <a:buFont typeface="Arial" panose="020B0604020202020204" pitchFamily="34" charset="0"/>
              <a:buChar char="•"/>
            </a:pPr>
            <a:r>
              <a:rPr lang="en-US" sz="1900" b="1" u="none" strike="noStrike" dirty="0">
                <a:solidFill>
                  <a:srgbClr val="000000"/>
                </a:solidFill>
                <a:effectLst/>
                <a:uFillTx/>
                <a:latin typeface="Cambria" panose="02040503050406030204" pitchFamily="18" charset="0"/>
                <a:ea typeface="Cambria" panose="02040503050406030204" pitchFamily="18" charset="0"/>
              </a:rPr>
              <a:t>User-Friendly Insights: </a:t>
            </a:r>
            <a:r>
              <a:rPr lang="en-US" sz="1900" b="0" u="none" strike="noStrike" dirty="0">
                <a:solidFill>
                  <a:srgbClr val="000000"/>
                </a:solidFill>
                <a:effectLst/>
                <a:uFillTx/>
                <a:latin typeface="Cambria" panose="02040503050406030204" pitchFamily="18" charset="0"/>
                <a:ea typeface="Cambria" panose="02040503050406030204" pitchFamily="18" charset="0"/>
              </a:rPr>
              <a:t>Intuitive UI with side-by-side comparisons enabled quick understanding and action, even for non-technical users.</a:t>
            </a:r>
          </a:p>
          <a:p>
            <a:pPr algn="just"/>
            <a:endParaRPr lang="en-US" sz="1900" b="0" u="none" strike="noStrike" dirty="0">
              <a:solidFill>
                <a:srgbClr val="000000"/>
              </a:solidFill>
              <a:effectLst/>
              <a:uFillTx/>
              <a:latin typeface="Cambria" panose="02040503050406030204" pitchFamily="18" charset="0"/>
              <a:ea typeface="Cambria" panose="02040503050406030204" pitchFamily="18" charset="0"/>
            </a:endParaRPr>
          </a:p>
        </p:txBody>
      </p:sp>
      <p:sp>
        <p:nvSpPr>
          <p:cNvPr id="3" name="PlaceHolder 2"/>
          <p:cNvSpPr>
            <a:spLocks noGrp="1"/>
          </p:cNvSpPr>
          <p:nvPr>
            <p:ph type="sldNum" idx="27"/>
          </p:nvPr>
        </p:nvSpPr>
        <p:spPr/>
        <p:txBody>
          <a:bodyPr/>
          <a:lstStyle/>
          <a:p>
            <a:fld id="{AB8CBA49-DF29-40C5-A1B6-B2F0911A65C2}" type="slidenum">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28600"/>
            <a:ext cx="8228520" cy="562320"/>
          </a:xfrm>
          <a:prstGeom prst="rect">
            <a:avLst/>
          </a:prstGeom>
          <a:solidFill>
            <a:srgbClr val="6535EB"/>
          </a:solidFill>
          <a:ln w="0">
            <a:noFill/>
          </a:ln>
        </p:spPr>
        <p:txBody>
          <a:bodyPr lIns="91440" tIns="45720" rIns="91440" bIns="45720" anchor="ctr">
            <a:noAutofit/>
          </a:bodyPr>
          <a:lstStyle/>
          <a:p>
            <a:pPr indent="0" algn="ctr" defTabSz="914400">
              <a:lnSpc>
                <a:spcPct val="100000"/>
              </a:lnSpc>
              <a:buNone/>
              <a:tabLst>
                <a:tab pos="0" algn="l"/>
              </a:tabLst>
            </a:pPr>
            <a:r>
              <a:rPr lang="en-US" sz="3600" b="1" u="none" strike="noStrike" dirty="0">
                <a:solidFill>
                  <a:schemeClr val="lt1"/>
                </a:solidFill>
                <a:effectLst/>
                <a:uFillTx/>
                <a:latin typeface="Arial Black"/>
              </a:rPr>
              <a:t>PERFORMANCE EVALUATION</a:t>
            </a:r>
            <a:endParaRPr lang="en-US" sz="3600" b="0" u="none" strike="noStrike" dirty="0">
              <a:solidFill>
                <a:srgbClr val="FFFFFF"/>
              </a:solidFill>
              <a:effectLst/>
              <a:uFillTx/>
              <a:latin typeface="Arial"/>
            </a:endParaRPr>
          </a:p>
        </p:txBody>
      </p:sp>
      <p:sp>
        <p:nvSpPr>
          <p:cNvPr id="90" name="PlaceHolder 2"/>
          <p:cNvSpPr>
            <a:spLocks noGrp="1"/>
          </p:cNvSpPr>
          <p:nvPr>
            <p:ph/>
          </p:nvPr>
        </p:nvSpPr>
        <p:spPr>
          <a:xfrm>
            <a:off x="457200" y="1005480"/>
            <a:ext cx="8350560" cy="5715000"/>
          </a:xfrm>
          <a:prstGeom prst="rect">
            <a:avLst/>
          </a:prstGeom>
          <a:noFill/>
          <a:ln w="0">
            <a:noFill/>
          </a:ln>
        </p:spPr>
        <p:txBody>
          <a:bodyPr lIns="91440" tIns="45720" rIns="91440" bIns="45720" anchor="t">
            <a:noAutofit/>
          </a:bodyPr>
          <a:lstStyle/>
          <a:p>
            <a:pPr marL="432000" indent="0" algn="just">
              <a:lnSpc>
                <a:spcPct val="100000"/>
              </a:lnSpc>
              <a:spcBef>
                <a:spcPts val="1191"/>
              </a:spcBef>
              <a:buNone/>
            </a:pPr>
            <a:r>
              <a:rPr lang="en-US" sz="1600" b="1" u="none" strike="noStrike" dirty="0">
                <a:solidFill>
                  <a:srgbClr val="000000"/>
                </a:solidFill>
                <a:effectLst/>
                <a:uFillTx/>
                <a:latin typeface="Arial"/>
              </a:rPr>
              <a:t> </a:t>
            </a:r>
            <a:r>
              <a:rPr lang="en-US" sz="1500" b="1" u="none" strike="noStrike" dirty="0">
                <a:solidFill>
                  <a:srgbClr val="000000"/>
                </a:solidFill>
                <a:effectLst/>
                <a:uFillTx/>
                <a:latin typeface="Cambria" panose="02040503050406030204" pitchFamily="18" charset="0"/>
                <a:ea typeface="Cambria" panose="02040503050406030204" pitchFamily="18" charset="0"/>
              </a:rPr>
              <a:t>Accuracy</a:t>
            </a:r>
          </a:p>
          <a:p>
            <a:pPr marL="432000" indent="-324000" algn="just">
              <a:lnSpc>
                <a:spcPct val="100000"/>
              </a:lnSpc>
              <a:spcBef>
                <a:spcPts val="1191"/>
              </a:spcBef>
              <a:buClr>
                <a:srgbClr val="000000"/>
              </a:buClr>
              <a:buSzPct val="45000"/>
              <a:buFont typeface="Wingdings" charset="2"/>
              <a:buChar char=""/>
            </a:pPr>
            <a:r>
              <a:rPr lang="en-US" sz="1500" b="0" u="none" strike="noStrike" dirty="0">
                <a:solidFill>
                  <a:srgbClr val="000000"/>
                </a:solidFill>
                <a:effectLst/>
                <a:uFillTx/>
                <a:latin typeface="Cambria" panose="02040503050406030204" pitchFamily="18" charset="0"/>
                <a:ea typeface="Cambria" panose="02040503050406030204" pitchFamily="18" charset="0"/>
              </a:rPr>
              <a:t>Precision: ~92% (fewer false alarms)</a:t>
            </a:r>
          </a:p>
          <a:p>
            <a:pPr marL="432000" indent="-324000" algn="just">
              <a:lnSpc>
                <a:spcPct val="100000"/>
              </a:lnSpc>
              <a:spcBef>
                <a:spcPts val="1191"/>
              </a:spcBef>
              <a:buClr>
                <a:srgbClr val="000000"/>
              </a:buClr>
              <a:buSzPct val="45000"/>
              <a:buFont typeface="Wingdings" charset="2"/>
              <a:buChar char=""/>
            </a:pPr>
            <a:r>
              <a:rPr lang="en-US" sz="1500" b="0" u="none" strike="noStrike" dirty="0">
                <a:solidFill>
                  <a:srgbClr val="000000"/>
                </a:solidFill>
                <a:effectLst/>
                <a:uFillTx/>
                <a:latin typeface="Cambria" panose="02040503050406030204" pitchFamily="18" charset="0"/>
                <a:ea typeface="Cambria" panose="02040503050406030204" pitchFamily="18" charset="0"/>
              </a:rPr>
              <a:t>Recall: ~89% (captures most issues)</a:t>
            </a:r>
          </a:p>
          <a:p>
            <a:pPr marL="432000" indent="-324000" algn="just">
              <a:lnSpc>
                <a:spcPct val="100000"/>
              </a:lnSpc>
              <a:spcBef>
                <a:spcPts val="1191"/>
              </a:spcBef>
              <a:buClr>
                <a:srgbClr val="000000"/>
              </a:buClr>
              <a:buSzPct val="45000"/>
              <a:buFont typeface="Wingdings" charset="2"/>
              <a:buChar char=""/>
            </a:pPr>
            <a:r>
              <a:rPr lang="en-US" sz="1500" b="0" u="none" strike="noStrike" dirty="0">
                <a:solidFill>
                  <a:srgbClr val="000000"/>
                </a:solidFill>
                <a:effectLst/>
                <a:uFillTx/>
                <a:latin typeface="Cambria" panose="02040503050406030204" pitchFamily="18" charset="0"/>
                <a:ea typeface="Cambria" panose="02040503050406030204" pitchFamily="18" charset="0"/>
              </a:rPr>
              <a:t>F1-Score: ~90.5% (balanced performance)</a:t>
            </a:r>
          </a:p>
          <a:p>
            <a:pPr marL="108000" algn="just">
              <a:lnSpc>
                <a:spcPct val="100000"/>
              </a:lnSpc>
              <a:spcBef>
                <a:spcPts val="1191"/>
              </a:spcBef>
              <a:buClr>
                <a:srgbClr val="000000"/>
              </a:buClr>
              <a:buSzPct val="45000"/>
            </a:pPr>
            <a:endParaRPr lang="en-US" sz="1500" b="0" u="none" strike="noStrike" dirty="0">
              <a:solidFill>
                <a:srgbClr val="000000"/>
              </a:solidFill>
              <a:effectLst/>
              <a:uFillTx/>
              <a:latin typeface="Cambria" panose="02040503050406030204" pitchFamily="18" charset="0"/>
              <a:ea typeface="Cambria" panose="02040503050406030204" pitchFamily="18" charset="0"/>
            </a:endParaRPr>
          </a:p>
          <a:p>
            <a:pPr marL="432000" indent="0" algn="just">
              <a:lnSpc>
                <a:spcPct val="100000"/>
              </a:lnSpc>
              <a:spcBef>
                <a:spcPts val="1191"/>
              </a:spcBef>
              <a:buNone/>
            </a:pPr>
            <a:r>
              <a:rPr lang="en-US" sz="1500" b="1" u="none" strike="noStrike" dirty="0">
                <a:solidFill>
                  <a:srgbClr val="000000"/>
                </a:solidFill>
                <a:effectLst/>
                <a:uFillTx/>
                <a:latin typeface="Cambria" panose="02040503050406030204" pitchFamily="18" charset="0"/>
                <a:ea typeface="Cambria" panose="02040503050406030204" pitchFamily="18" charset="0"/>
              </a:rPr>
              <a:t> Latency</a:t>
            </a:r>
          </a:p>
          <a:p>
            <a:pPr marL="432000" indent="-324000" algn="just">
              <a:lnSpc>
                <a:spcPct val="100000"/>
              </a:lnSpc>
              <a:spcBef>
                <a:spcPts val="1191"/>
              </a:spcBef>
              <a:buClr>
                <a:srgbClr val="000000"/>
              </a:buClr>
              <a:buSzPct val="45000"/>
              <a:buFont typeface="Wingdings" charset="2"/>
              <a:buChar char=""/>
            </a:pPr>
            <a:r>
              <a:rPr lang="en-US" sz="1500" b="0" u="none" strike="noStrike" dirty="0">
                <a:solidFill>
                  <a:srgbClr val="000000"/>
                </a:solidFill>
                <a:effectLst/>
                <a:uFillTx/>
                <a:latin typeface="Cambria" panose="02040503050406030204" pitchFamily="18" charset="0"/>
                <a:ea typeface="Cambria" panose="02040503050406030204" pitchFamily="18" charset="0"/>
              </a:rPr>
              <a:t>Small docs: 12–18 sec</a:t>
            </a:r>
          </a:p>
          <a:p>
            <a:pPr marL="432000" indent="-324000" algn="just">
              <a:lnSpc>
                <a:spcPct val="100000"/>
              </a:lnSpc>
              <a:spcBef>
                <a:spcPts val="1191"/>
              </a:spcBef>
              <a:buClr>
                <a:srgbClr val="000000"/>
              </a:buClr>
              <a:buSzPct val="45000"/>
              <a:buFont typeface="Wingdings" charset="2"/>
              <a:buChar char=""/>
            </a:pPr>
            <a:r>
              <a:rPr lang="en-US" sz="1500" b="0" u="none" strike="noStrike" dirty="0">
                <a:solidFill>
                  <a:srgbClr val="000000"/>
                </a:solidFill>
                <a:effectLst/>
                <a:uFillTx/>
                <a:latin typeface="Cambria" panose="02040503050406030204" pitchFamily="18" charset="0"/>
                <a:ea typeface="Cambria" panose="02040503050406030204" pitchFamily="18" charset="0"/>
              </a:rPr>
              <a:t>Medium docs: 25–35 sec</a:t>
            </a:r>
          </a:p>
          <a:p>
            <a:pPr marL="432000" indent="-324000" algn="just">
              <a:lnSpc>
                <a:spcPct val="100000"/>
              </a:lnSpc>
              <a:spcBef>
                <a:spcPts val="1191"/>
              </a:spcBef>
              <a:buClr>
                <a:srgbClr val="000000"/>
              </a:buClr>
              <a:buSzPct val="45000"/>
              <a:buFont typeface="Wingdings" charset="2"/>
              <a:buChar char=""/>
            </a:pPr>
            <a:r>
              <a:rPr lang="en-US" sz="1500" b="0" u="none" strike="noStrike" dirty="0">
                <a:solidFill>
                  <a:srgbClr val="000000"/>
                </a:solidFill>
                <a:effectLst/>
                <a:uFillTx/>
                <a:latin typeface="Cambria" panose="02040503050406030204" pitchFamily="18" charset="0"/>
                <a:ea typeface="Cambria" panose="02040503050406030204" pitchFamily="18" charset="0"/>
              </a:rPr>
              <a:t>Large docs: 45–90 sec</a:t>
            </a:r>
          </a:p>
          <a:p>
            <a:pPr marL="108000" algn="just">
              <a:lnSpc>
                <a:spcPct val="100000"/>
              </a:lnSpc>
              <a:spcBef>
                <a:spcPts val="1191"/>
              </a:spcBef>
              <a:buClr>
                <a:srgbClr val="000000"/>
              </a:buClr>
              <a:buSzPct val="45000"/>
            </a:pPr>
            <a:endParaRPr lang="en-US" sz="1500" b="0" u="none" strike="noStrike" dirty="0">
              <a:solidFill>
                <a:srgbClr val="000000"/>
              </a:solidFill>
              <a:effectLst/>
              <a:uFillTx/>
              <a:latin typeface="Cambria" panose="02040503050406030204" pitchFamily="18" charset="0"/>
              <a:ea typeface="Cambria" panose="02040503050406030204" pitchFamily="18" charset="0"/>
            </a:endParaRPr>
          </a:p>
          <a:p>
            <a:pPr marL="432000" indent="0" algn="just">
              <a:lnSpc>
                <a:spcPct val="100000"/>
              </a:lnSpc>
              <a:spcBef>
                <a:spcPts val="1191"/>
              </a:spcBef>
              <a:buNone/>
            </a:pPr>
            <a:r>
              <a:rPr lang="en-US" sz="1500" b="1" u="none" strike="noStrike" dirty="0">
                <a:solidFill>
                  <a:srgbClr val="000000"/>
                </a:solidFill>
                <a:effectLst/>
                <a:uFillTx/>
                <a:latin typeface="Cambria" panose="02040503050406030204" pitchFamily="18" charset="0"/>
                <a:ea typeface="Cambria" panose="02040503050406030204" pitchFamily="18" charset="0"/>
              </a:rPr>
              <a:t> Scalability</a:t>
            </a:r>
          </a:p>
          <a:p>
            <a:pPr marL="432000" indent="-324000" algn="just">
              <a:lnSpc>
                <a:spcPct val="100000"/>
              </a:lnSpc>
              <a:spcBef>
                <a:spcPts val="1191"/>
              </a:spcBef>
              <a:buClr>
                <a:srgbClr val="000000"/>
              </a:buClr>
              <a:buSzPct val="45000"/>
              <a:buFont typeface="Wingdings" charset="2"/>
              <a:buChar char=""/>
            </a:pPr>
            <a:r>
              <a:rPr lang="en-US" sz="1500" b="0" u="none" strike="noStrike" dirty="0">
                <a:solidFill>
                  <a:srgbClr val="000000"/>
                </a:solidFill>
                <a:effectLst/>
                <a:uFillTx/>
                <a:latin typeface="Cambria" panose="02040503050406030204" pitchFamily="18" charset="0"/>
                <a:ea typeface="Cambria" panose="02040503050406030204" pitchFamily="18" charset="0"/>
              </a:rPr>
              <a:t>Runs on 3–4 GB RAM</a:t>
            </a:r>
          </a:p>
          <a:p>
            <a:pPr marL="432000" indent="-324000" algn="just">
              <a:lnSpc>
                <a:spcPct val="100000"/>
              </a:lnSpc>
              <a:spcBef>
                <a:spcPts val="1191"/>
              </a:spcBef>
              <a:buClr>
                <a:srgbClr val="000000"/>
              </a:buClr>
              <a:buSzPct val="45000"/>
              <a:buFont typeface="Wingdings" charset="2"/>
              <a:buChar char=""/>
            </a:pPr>
            <a:r>
              <a:rPr lang="en-US" sz="1500" b="0" u="none" strike="noStrike" dirty="0">
                <a:solidFill>
                  <a:srgbClr val="000000"/>
                </a:solidFill>
                <a:effectLst/>
                <a:uFillTx/>
                <a:latin typeface="Cambria" panose="02040503050406030204" pitchFamily="18" charset="0"/>
                <a:ea typeface="Cambria" panose="02040503050406030204" pitchFamily="18" charset="0"/>
              </a:rPr>
              <a:t>Saves 40–50% cost using hybrid model</a:t>
            </a:r>
          </a:p>
          <a:p>
            <a:pPr marL="432000" indent="-324000" algn="just">
              <a:lnSpc>
                <a:spcPct val="100000"/>
              </a:lnSpc>
              <a:spcBef>
                <a:spcPts val="1191"/>
              </a:spcBef>
              <a:buClr>
                <a:srgbClr val="000000"/>
              </a:buClr>
              <a:buSzPct val="45000"/>
              <a:buFont typeface="Wingdings" charset="2"/>
              <a:buChar char=""/>
            </a:pPr>
            <a:r>
              <a:rPr lang="en-US" sz="1500" b="0" u="none" strike="noStrike" dirty="0">
                <a:solidFill>
                  <a:srgbClr val="000000"/>
                </a:solidFill>
                <a:effectLst/>
                <a:uFillTx/>
                <a:latin typeface="Cambria" panose="02040503050406030204" pitchFamily="18" charset="0"/>
                <a:ea typeface="Cambria" panose="02040503050406030204" pitchFamily="18" charset="0"/>
              </a:rPr>
              <a:t>Overall: Fast, accurate, and cost-efficient.</a:t>
            </a:r>
          </a:p>
          <a:p>
            <a:pPr marL="432000" indent="0">
              <a:spcBef>
                <a:spcPts val="1191"/>
              </a:spcBef>
              <a:spcAft>
                <a:spcPts val="992"/>
              </a:spcAft>
              <a:buNone/>
            </a:pPr>
            <a:endParaRPr lang="en-US" sz="1000" b="0" u="none" strike="noStrike" dirty="0">
              <a:solidFill>
                <a:srgbClr val="000000"/>
              </a:solidFill>
              <a:effectLst/>
              <a:uFillTx/>
              <a:latin typeface="Arial"/>
            </a:endParaRPr>
          </a:p>
        </p:txBody>
      </p:sp>
      <p:sp>
        <p:nvSpPr>
          <p:cNvPr id="4" name="PlaceHolder 3"/>
          <p:cNvSpPr>
            <a:spLocks noGrp="1"/>
          </p:cNvSpPr>
          <p:nvPr>
            <p:ph type="sldNum" idx="27"/>
          </p:nvPr>
        </p:nvSpPr>
        <p:spPr/>
        <p:txBody>
          <a:bodyPr/>
          <a:lstStyle/>
          <a:p>
            <a:fld id="{60D1BC6B-F8F4-4F08-AFB6-8261D29C2177}" type="slidenum">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138240"/>
            <a:ext cx="8228520" cy="562320"/>
          </a:xfrm>
          <a:prstGeom prst="rect">
            <a:avLst/>
          </a:prstGeom>
          <a:solidFill>
            <a:srgbClr val="6535EB"/>
          </a:solidFill>
          <a:ln w="0">
            <a:noFill/>
          </a:ln>
        </p:spPr>
        <p:txBody>
          <a:bodyPr lIns="91440" tIns="45720" rIns="91440" bIns="45720" anchor="ctr">
            <a:noAutofit/>
          </a:bodyPr>
          <a:lstStyle/>
          <a:p>
            <a:pPr indent="0" algn="ctr" defTabSz="914400">
              <a:lnSpc>
                <a:spcPct val="100000"/>
              </a:lnSpc>
              <a:buNone/>
              <a:tabLst>
                <a:tab pos="0" algn="l"/>
              </a:tabLst>
            </a:pPr>
            <a:r>
              <a:rPr lang="en-US" sz="3600" b="1" u="none" strike="noStrike">
                <a:solidFill>
                  <a:schemeClr val="lt1"/>
                </a:solidFill>
                <a:effectLst/>
                <a:uFillTx/>
                <a:latin typeface="Arial Black"/>
              </a:rPr>
              <a:t>SCREENSHOTS</a:t>
            </a:r>
            <a:endParaRPr lang="en-US" sz="3600" b="0" u="none" strike="noStrike">
              <a:solidFill>
                <a:srgbClr val="FFFFFF"/>
              </a:solidFill>
              <a:effectLst/>
              <a:uFillTx/>
              <a:latin typeface="Arial"/>
            </a:endParaRPr>
          </a:p>
        </p:txBody>
      </p:sp>
      <p:pic>
        <p:nvPicPr>
          <p:cNvPr id="92" name="Picture 91"/>
          <p:cNvPicPr/>
          <p:nvPr/>
        </p:nvPicPr>
        <p:blipFill>
          <a:blip r:embed="rId2"/>
          <a:stretch/>
        </p:blipFill>
        <p:spPr>
          <a:xfrm>
            <a:off x="1371600" y="848160"/>
            <a:ext cx="5714640" cy="2699280"/>
          </a:xfrm>
          <a:prstGeom prst="rect">
            <a:avLst/>
          </a:prstGeom>
          <a:noFill/>
          <a:ln w="0">
            <a:noFill/>
          </a:ln>
        </p:spPr>
      </p:pic>
      <p:pic>
        <p:nvPicPr>
          <p:cNvPr id="93" name="Picture 92"/>
          <p:cNvPicPr/>
          <p:nvPr/>
        </p:nvPicPr>
        <p:blipFill>
          <a:blip r:embed="rId3"/>
          <a:stretch/>
        </p:blipFill>
        <p:spPr>
          <a:xfrm>
            <a:off x="1371600" y="3657600"/>
            <a:ext cx="5714640" cy="3055680"/>
          </a:xfrm>
          <a:prstGeom prst="rect">
            <a:avLst/>
          </a:prstGeom>
          <a:noFill/>
          <a:ln w="0">
            <a:noFill/>
          </a:ln>
        </p:spPr>
      </p:pic>
      <p:sp>
        <p:nvSpPr>
          <p:cNvPr id="3" name="PlaceHolder 2"/>
          <p:cNvSpPr>
            <a:spLocks noGrp="1"/>
          </p:cNvSpPr>
          <p:nvPr>
            <p:ph type="sldNum" idx="27"/>
          </p:nvPr>
        </p:nvSpPr>
        <p:spPr/>
        <p:txBody>
          <a:bodyPr/>
          <a:lstStyle/>
          <a:p>
            <a:fld id="{824A38F0-AFFF-4259-83DD-21AB490B1042}" type="slidenum">
              <a:r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 name="Picture 95"/>
          <p:cNvPicPr/>
          <p:nvPr/>
        </p:nvPicPr>
        <p:blipFill>
          <a:blip r:embed="rId2"/>
          <a:stretch/>
        </p:blipFill>
        <p:spPr>
          <a:xfrm>
            <a:off x="1143000" y="228960"/>
            <a:ext cx="5714640" cy="2831400"/>
          </a:xfrm>
          <a:prstGeom prst="rect">
            <a:avLst/>
          </a:prstGeom>
          <a:noFill/>
          <a:ln w="0">
            <a:noFill/>
          </a:ln>
        </p:spPr>
      </p:pic>
      <p:pic>
        <p:nvPicPr>
          <p:cNvPr id="97" name="Picture 96"/>
          <p:cNvPicPr/>
          <p:nvPr/>
        </p:nvPicPr>
        <p:blipFill>
          <a:blip r:embed="rId3"/>
          <a:stretch/>
        </p:blipFill>
        <p:spPr>
          <a:xfrm>
            <a:off x="1143000" y="3200400"/>
            <a:ext cx="5714640" cy="2949840"/>
          </a:xfrm>
          <a:prstGeom prst="rect">
            <a:avLst/>
          </a:prstGeom>
          <a:noFill/>
          <a:ln w="0">
            <a:noFill/>
          </a:ln>
        </p:spPr>
      </p:pic>
      <p:sp>
        <p:nvSpPr>
          <p:cNvPr id="3" name="PlaceHolder 2"/>
          <p:cNvSpPr>
            <a:spLocks noGrp="1"/>
          </p:cNvSpPr>
          <p:nvPr>
            <p:ph type="sldNum" idx="27"/>
          </p:nvPr>
        </p:nvSpPr>
        <p:spPr/>
        <p:txBody>
          <a:bodyPr/>
          <a:lstStyle/>
          <a:p>
            <a:fld id="{CF372870-6ACA-4138-855F-AD2FF67087DF}" type="slidenum">
              <a:r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Picture 99"/>
          <p:cNvPicPr/>
          <p:nvPr/>
        </p:nvPicPr>
        <p:blipFill>
          <a:blip r:embed="rId2"/>
          <a:stretch/>
        </p:blipFill>
        <p:spPr>
          <a:xfrm>
            <a:off x="1521360" y="394920"/>
            <a:ext cx="5564880" cy="2805120"/>
          </a:xfrm>
          <a:prstGeom prst="rect">
            <a:avLst/>
          </a:prstGeom>
          <a:noFill/>
          <a:ln w="0">
            <a:noFill/>
          </a:ln>
        </p:spPr>
      </p:pic>
      <p:pic>
        <p:nvPicPr>
          <p:cNvPr id="101" name="Picture 100"/>
          <p:cNvPicPr/>
          <p:nvPr/>
        </p:nvPicPr>
        <p:blipFill>
          <a:blip r:embed="rId3"/>
          <a:stretch/>
        </p:blipFill>
        <p:spPr>
          <a:xfrm>
            <a:off x="1600560" y="3429000"/>
            <a:ext cx="5486040" cy="2514240"/>
          </a:xfrm>
          <a:prstGeom prst="rect">
            <a:avLst/>
          </a:prstGeom>
          <a:noFill/>
          <a:ln w="0">
            <a:noFill/>
          </a:ln>
        </p:spPr>
      </p:pic>
      <p:sp>
        <p:nvSpPr>
          <p:cNvPr id="3" name="PlaceHolder 2"/>
          <p:cNvSpPr>
            <a:spLocks noGrp="1"/>
          </p:cNvSpPr>
          <p:nvPr>
            <p:ph type="sldNum" idx="27"/>
          </p:nvPr>
        </p:nvSpPr>
        <p:spPr/>
        <p:txBody>
          <a:bodyPr/>
          <a:lstStyle/>
          <a:p>
            <a:fld id="{B7362FF1-93D7-470D-B729-EBFB77E6FA56}" type="slidenum">
              <a:r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28600"/>
            <a:ext cx="8228520" cy="562320"/>
          </a:xfrm>
          <a:prstGeom prst="rect">
            <a:avLst/>
          </a:prstGeom>
          <a:solidFill>
            <a:srgbClr val="6C3EEC"/>
          </a:solidFill>
          <a:ln w="0">
            <a:noFill/>
          </a:ln>
        </p:spPr>
        <p:txBody>
          <a:bodyPr lIns="91440" tIns="45720" rIns="91440" bIns="45720" anchor="ctr">
            <a:noAutofit/>
          </a:bodyPr>
          <a:lstStyle/>
          <a:p>
            <a:pPr indent="0" algn="ctr" defTabSz="914400">
              <a:lnSpc>
                <a:spcPct val="100000"/>
              </a:lnSpc>
              <a:buNone/>
              <a:tabLst>
                <a:tab pos="0" algn="l"/>
              </a:tabLst>
            </a:pPr>
            <a:r>
              <a:rPr lang="en-US" sz="3600" b="1" u="none" strike="noStrike">
                <a:solidFill>
                  <a:schemeClr val="lt1"/>
                </a:solidFill>
                <a:effectLst/>
                <a:uFillTx/>
                <a:latin typeface="Arial Black"/>
              </a:rPr>
              <a:t>REFERENCES</a:t>
            </a:r>
            <a:endParaRPr lang="en-US" sz="3600" b="0" u="none" strike="noStrike">
              <a:solidFill>
                <a:srgbClr val="FFFFFF"/>
              </a:solidFill>
              <a:effectLst/>
              <a:uFillTx/>
              <a:latin typeface="Arial"/>
            </a:endParaRPr>
          </a:p>
        </p:txBody>
      </p:sp>
      <p:sp>
        <p:nvSpPr>
          <p:cNvPr id="103" name="PlaceHolder 2"/>
          <p:cNvSpPr>
            <a:spLocks noGrp="1"/>
          </p:cNvSpPr>
          <p:nvPr>
            <p:ph/>
          </p:nvPr>
        </p:nvSpPr>
        <p:spPr>
          <a:xfrm>
            <a:off x="519840" y="952200"/>
            <a:ext cx="8103240" cy="5586480"/>
          </a:xfrm>
          <a:prstGeom prst="rect">
            <a:avLst/>
          </a:prstGeom>
          <a:noFill/>
          <a:ln w="0">
            <a:noFill/>
          </a:ln>
        </p:spPr>
        <p:txBody>
          <a:bodyPr lIns="91440" tIns="45720" rIns="91440" bIns="45720" numCol="1" spcCol="0" anchor="ctr">
            <a:spAutoFit/>
          </a:bodyPr>
          <a:lstStyle/>
          <a:p>
            <a:pPr marL="343080" indent="0" algn="just" defTabSz="914400">
              <a:lnSpc>
                <a:spcPct val="100000"/>
              </a:lnSpc>
              <a:buNone/>
              <a:tabLst>
                <a:tab pos="0" algn="l"/>
              </a:tabLst>
            </a:pPr>
            <a:r>
              <a:rPr lang="en-IN" sz="1600" b="0" i="1" u="none" strike="noStrike">
                <a:solidFill>
                  <a:schemeClr val="dk1"/>
                </a:solidFill>
                <a:effectLst/>
                <a:uFillTx/>
                <a:latin typeface="Arial"/>
                <a:ea typeface="Microsoft YaHei"/>
              </a:rPr>
              <a:t>[1] Sentence-BERT: Sentence Embeddings using Siamese BERT-Networks, by Nils Reimers and Iryna Gurevych, in Proceedings of the 2019 Conference on Empirical Methods in Natural Language Processing (EMNLP), 2019, pp. 3982–3992</a:t>
            </a:r>
            <a:r>
              <a:rPr lang="en-US" sz="1600" b="1" u="none" strike="noStrike">
                <a:solidFill>
                  <a:schemeClr val="dk1"/>
                </a:solidFill>
                <a:effectLst/>
                <a:uFillTx/>
                <a:latin typeface="Calibri"/>
                <a:ea typeface="Microsoft YaHei"/>
              </a:rPr>
              <a:t> </a:t>
            </a:r>
            <a:endParaRPr lang="en-US" sz="1600" b="0" u="none" strike="noStrike">
              <a:solidFill>
                <a:srgbClr val="000000"/>
              </a:solidFill>
              <a:effectLst/>
              <a:uFillTx/>
              <a:latin typeface="Arial"/>
            </a:endParaRPr>
          </a:p>
          <a:p>
            <a:pPr marL="343080" indent="0" algn="just" defTabSz="914400">
              <a:lnSpc>
                <a:spcPct val="100000"/>
              </a:lnSpc>
              <a:buNone/>
              <a:tabLst>
                <a:tab pos="0" algn="l"/>
              </a:tabLst>
            </a:pPr>
            <a:r>
              <a:rPr lang="en-US" sz="1600" b="1" u="none" strike="noStrike">
                <a:solidFill>
                  <a:schemeClr val="dk1"/>
                </a:solidFill>
                <a:effectLst/>
                <a:uFillTx/>
                <a:latin typeface="Calibri"/>
                <a:ea typeface="Microsoft YaHei"/>
                <a:hlinkClick r:id="rId2"/>
              </a:rPr>
              <a:t>https://aclanthology.org/D19-1410</a:t>
            </a:r>
            <a:endParaRPr lang="en-US" sz="1600" b="0" u="none" strike="noStrike">
              <a:solidFill>
                <a:srgbClr val="000000"/>
              </a:solidFill>
              <a:effectLst/>
              <a:uFillTx/>
              <a:latin typeface="Arial"/>
            </a:endParaRPr>
          </a:p>
          <a:p>
            <a:pPr marL="343080" indent="0" algn="just" defTabSz="914400">
              <a:lnSpc>
                <a:spcPct val="100000"/>
              </a:lnSpc>
              <a:buNone/>
              <a:tabLst>
                <a:tab pos="0" algn="l"/>
              </a:tabLst>
            </a:pPr>
            <a:endParaRPr lang="en-US" sz="1600" b="0" u="none" strike="noStrike">
              <a:solidFill>
                <a:srgbClr val="000000"/>
              </a:solidFill>
              <a:effectLst/>
              <a:uFillTx/>
              <a:latin typeface="Arial"/>
            </a:endParaRPr>
          </a:p>
          <a:p>
            <a:pPr marL="343080" indent="0" algn="just" defTabSz="914400">
              <a:lnSpc>
                <a:spcPct val="100000"/>
              </a:lnSpc>
              <a:buNone/>
              <a:tabLst>
                <a:tab pos="0" algn="l"/>
              </a:tabLst>
            </a:pPr>
            <a:r>
              <a:rPr lang="en-IN" sz="1600" b="0" i="1" u="none" strike="noStrike">
                <a:solidFill>
                  <a:schemeClr val="dk1"/>
                </a:solidFill>
                <a:effectLst/>
                <a:uFillTx/>
                <a:latin typeface="Arial"/>
                <a:ea typeface="Microsoft YaHei"/>
              </a:rPr>
              <a:t>[2] Z. Liu, F. Jiang, and S. Qian, “Semantic Consistency Checking for Model Transformations,” in Proceedings of the International Conference on Computer and Information Technology, 2015, pp. 364–368.</a:t>
            </a:r>
            <a:endParaRPr lang="en-US" sz="1600" b="0" u="none" strike="noStrike">
              <a:solidFill>
                <a:srgbClr val="000000"/>
              </a:solidFill>
              <a:effectLst/>
              <a:uFillTx/>
              <a:latin typeface="Arial"/>
            </a:endParaRPr>
          </a:p>
          <a:p>
            <a:pPr marL="343080" indent="0" algn="just" defTabSz="914400">
              <a:lnSpc>
                <a:spcPct val="100000"/>
              </a:lnSpc>
              <a:buNone/>
              <a:tabLst>
                <a:tab pos="0" algn="l"/>
              </a:tabLst>
            </a:pPr>
            <a:r>
              <a:rPr lang="en-IN" sz="1600" b="0" i="1" u="none" strike="noStrike">
                <a:solidFill>
                  <a:schemeClr val="dk1"/>
                </a:solidFill>
                <a:effectLst/>
                <a:uFillTx/>
                <a:latin typeface="Arial"/>
                <a:ea typeface="Microsoft YaHei"/>
              </a:rPr>
              <a:t> </a:t>
            </a:r>
            <a:r>
              <a:rPr lang="en-US" sz="1600" b="1" u="sng" strike="noStrike">
                <a:solidFill>
                  <a:schemeClr val="dk1"/>
                </a:solidFill>
                <a:effectLst/>
                <a:uFillTx/>
                <a:latin typeface="Calibri"/>
                <a:ea typeface="Microsoft YaHei"/>
                <a:hlinkClick r:id="rId3"/>
              </a:rPr>
              <a:t>https://ieeexplore.ieee.org/document/5486198</a:t>
            </a:r>
            <a:r>
              <a:rPr lang="en-US" sz="1600" b="1" u="none" strike="noStrike">
                <a:solidFill>
                  <a:schemeClr val="dk1"/>
                </a:solidFill>
                <a:effectLst/>
                <a:uFillTx/>
                <a:latin typeface="Calibri"/>
                <a:ea typeface="Microsoft YaHei"/>
              </a:rPr>
              <a:t> </a:t>
            </a:r>
            <a:endParaRPr lang="en-US" sz="1600" b="0" u="none" strike="noStrike">
              <a:solidFill>
                <a:srgbClr val="000000"/>
              </a:solidFill>
              <a:effectLst/>
              <a:uFillTx/>
              <a:latin typeface="Arial"/>
            </a:endParaRPr>
          </a:p>
          <a:p>
            <a:pPr marL="343080" indent="0" algn="just" defTabSz="914400">
              <a:lnSpc>
                <a:spcPct val="100000"/>
              </a:lnSpc>
              <a:buNone/>
              <a:tabLst>
                <a:tab pos="0" algn="l"/>
              </a:tabLst>
            </a:pPr>
            <a:endParaRPr lang="en-US" sz="1600" b="0" u="none" strike="noStrike">
              <a:solidFill>
                <a:srgbClr val="000000"/>
              </a:solidFill>
              <a:effectLst/>
              <a:uFillTx/>
              <a:latin typeface="Arial"/>
            </a:endParaRPr>
          </a:p>
          <a:p>
            <a:pPr marL="343080" indent="0" algn="just" defTabSz="914400">
              <a:lnSpc>
                <a:spcPct val="100000"/>
              </a:lnSpc>
              <a:buNone/>
              <a:tabLst>
                <a:tab pos="0" algn="l"/>
              </a:tabLst>
            </a:pPr>
            <a:r>
              <a:rPr lang="en-IN" sz="1600" b="0" i="1" u="none" strike="noStrike">
                <a:solidFill>
                  <a:schemeClr val="dk1"/>
                </a:solidFill>
                <a:effectLst/>
                <a:uFillTx/>
                <a:latin typeface="Arial"/>
                <a:ea typeface="Microsoft YaHei"/>
              </a:rPr>
              <a:t>[3] Y. Chen and M.-C. Chang, “Towards Multimodal Semantic Consistency Analysis of Long Form Articles,” in Proceedings of IEEE International Conference, 2022, pp. 342–347.</a:t>
            </a:r>
            <a:endParaRPr lang="en-US" sz="1600" b="0" u="none" strike="noStrike">
              <a:solidFill>
                <a:srgbClr val="000000"/>
              </a:solidFill>
              <a:effectLst/>
              <a:uFillTx/>
              <a:latin typeface="Arial"/>
            </a:endParaRPr>
          </a:p>
          <a:p>
            <a:pPr marL="343080" indent="0" algn="just" defTabSz="914400">
              <a:lnSpc>
                <a:spcPct val="100000"/>
              </a:lnSpc>
              <a:buNone/>
              <a:tabLst>
                <a:tab pos="0" algn="l"/>
              </a:tabLst>
            </a:pPr>
            <a:r>
              <a:rPr lang="en-IN" sz="1600" b="0" i="1" u="none" strike="noStrike">
                <a:solidFill>
                  <a:schemeClr val="dk1"/>
                </a:solidFill>
                <a:effectLst/>
                <a:uFillTx/>
                <a:latin typeface="Arial"/>
                <a:ea typeface="Microsoft YaHei"/>
              </a:rPr>
              <a:t> </a:t>
            </a:r>
            <a:r>
              <a:rPr lang="en-US" sz="1600" b="1" u="sng" strike="noStrike">
                <a:solidFill>
                  <a:schemeClr val="dk1"/>
                </a:solidFill>
                <a:effectLst/>
                <a:uFillTx/>
                <a:latin typeface="Calibri"/>
                <a:ea typeface="Microsoft YaHei"/>
                <a:hlinkClick r:id="rId3"/>
              </a:rPr>
              <a:t>https://ieeexplore.ieee.org/document/5486198</a:t>
            </a:r>
            <a:r>
              <a:rPr lang="en-US" sz="1600" b="1" u="none" strike="noStrike">
                <a:solidFill>
                  <a:schemeClr val="dk1"/>
                </a:solidFill>
                <a:effectLst/>
                <a:uFillTx/>
                <a:latin typeface="Calibri"/>
                <a:ea typeface="Microsoft YaHei"/>
              </a:rPr>
              <a:t> </a:t>
            </a:r>
            <a:endParaRPr lang="en-US" sz="1600" b="0" u="none" strike="noStrike">
              <a:solidFill>
                <a:srgbClr val="000000"/>
              </a:solidFill>
              <a:effectLst/>
              <a:uFillTx/>
              <a:latin typeface="Arial"/>
            </a:endParaRPr>
          </a:p>
          <a:p>
            <a:pPr marL="343080" indent="0" algn="just" defTabSz="914400">
              <a:lnSpc>
                <a:spcPct val="100000"/>
              </a:lnSpc>
              <a:buNone/>
              <a:tabLst>
                <a:tab pos="0" algn="l"/>
              </a:tabLst>
            </a:pPr>
            <a:endParaRPr lang="en-US" sz="1600" b="0" u="none" strike="noStrike">
              <a:solidFill>
                <a:srgbClr val="000000"/>
              </a:solidFill>
              <a:effectLst/>
              <a:uFillTx/>
              <a:latin typeface="Arial"/>
            </a:endParaRPr>
          </a:p>
          <a:p>
            <a:pPr marL="343080" indent="0" algn="just" defTabSz="914400">
              <a:lnSpc>
                <a:spcPct val="100000"/>
              </a:lnSpc>
              <a:buNone/>
              <a:tabLst>
                <a:tab pos="0" algn="l"/>
              </a:tabLst>
            </a:pPr>
            <a:r>
              <a:rPr lang="en-IN" sz="1600" b="0" i="1" u="none" strike="noStrike">
                <a:solidFill>
                  <a:schemeClr val="dk1"/>
                </a:solidFill>
                <a:effectLst/>
                <a:uFillTx/>
                <a:latin typeface="Arial"/>
                <a:ea typeface="Microsoft YaHei"/>
              </a:rPr>
              <a:t>[4] A. Aloui, “Semantic Analysis of Legal Documents,” 2023. </a:t>
            </a:r>
            <a:endParaRPr lang="en-US" sz="1600" b="0" u="none" strike="noStrike">
              <a:solidFill>
                <a:srgbClr val="000000"/>
              </a:solidFill>
              <a:effectLst/>
              <a:uFillTx/>
              <a:latin typeface="Arial"/>
            </a:endParaRPr>
          </a:p>
          <a:p>
            <a:pPr marL="343080" indent="0" algn="just" defTabSz="914400">
              <a:lnSpc>
                <a:spcPct val="100000"/>
              </a:lnSpc>
              <a:buNone/>
              <a:tabLst>
                <a:tab pos="0" algn="l"/>
              </a:tabLst>
            </a:pPr>
            <a:r>
              <a:rPr lang="en-US" sz="1600" b="1" u="sng" strike="noStrike">
                <a:solidFill>
                  <a:schemeClr val="dk1"/>
                </a:solidFill>
                <a:effectLst/>
                <a:uFillTx/>
                <a:latin typeface="Calibri"/>
                <a:ea typeface="Microsoft YaHei"/>
                <a:hlinkClick r:id="rId4"/>
              </a:rPr>
              <a:t>https://www.researchgate.net/publication/379452866_Semantic_Analysis_of_Legal_Documents</a:t>
            </a:r>
            <a:endParaRPr lang="en-US" sz="1600" b="0" u="none" strike="noStrike">
              <a:solidFill>
                <a:srgbClr val="000000"/>
              </a:solidFill>
              <a:effectLst/>
              <a:uFillTx/>
              <a:latin typeface="Arial"/>
            </a:endParaRPr>
          </a:p>
          <a:p>
            <a:pPr marL="343080" indent="0" algn="just" defTabSz="914400">
              <a:lnSpc>
                <a:spcPct val="100000"/>
              </a:lnSpc>
              <a:spcBef>
                <a:spcPts val="1191"/>
              </a:spcBef>
              <a:spcAft>
                <a:spcPts val="992"/>
              </a:spcAft>
              <a:buNone/>
              <a:tabLst>
                <a:tab pos="0" algn="l"/>
              </a:tabLst>
            </a:pPr>
            <a:r>
              <a:rPr lang="en-IN" sz="1600" b="0" i="1" u="none" strike="noStrike">
                <a:solidFill>
                  <a:schemeClr val="dk1"/>
                </a:solidFill>
                <a:effectLst/>
                <a:uFillTx/>
                <a:latin typeface="Arial"/>
                <a:ea typeface="Microsoft YaHei"/>
              </a:rPr>
              <a:t>[5] J. Li, V. Raheja, and D. Kumar, “ContraDoc: Understanding Self Contradictions in Documents with Large Language Models,” in Proceedings of NAACL-HLT, 2024, pp. 6509–6523.</a:t>
            </a:r>
            <a:endParaRPr lang="en-US" sz="1600" b="0" u="none" strike="noStrike">
              <a:solidFill>
                <a:srgbClr val="000000"/>
              </a:solidFill>
              <a:effectLst/>
              <a:uFillTx/>
              <a:latin typeface="Arial"/>
            </a:endParaRPr>
          </a:p>
          <a:p>
            <a:pPr marL="343080" indent="0" defTabSz="914400">
              <a:lnSpc>
                <a:spcPct val="100000"/>
              </a:lnSpc>
              <a:buNone/>
              <a:tabLst>
                <a:tab pos="0" algn="l"/>
              </a:tabLst>
            </a:pPr>
            <a:r>
              <a:rPr lang="en-IN" sz="1600" b="1" u="none" strike="noStrike">
                <a:solidFill>
                  <a:schemeClr val="dk1"/>
                </a:solidFill>
                <a:effectLst/>
                <a:uFillTx/>
                <a:latin typeface="Calibri"/>
                <a:ea typeface="Microsoft YaHei"/>
              </a:rPr>
              <a:t>      </a:t>
            </a:r>
            <a:r>
              <a:rPr lang="en-IN" sz="1600" b="1" u="sng" strike="noStrike">
                <a:solidFill>
                  <a:schemeClr val="dk1"/>
                </a:solidFill>
                <a:effectLst/>
                <a:uFillTx/>
                <a:latin typeface="Calibri"/>
                <a:ea typeface="Microsoft YaHei"/>
                <a:hlinkClick r:id="rId5"/>
              </a:rPr>
              <a:t>https://aclanthology.org/2024.naacl-long.362/</a:t>
            </a:r>
            <a:endParaRPr lang="en-US" sz="1600" b="0" u="none" strike="noStrike">
              <a:solidFill>
                <a:srgbClr val="000000"/>
              </a:solidFill>
              <a:effectLst/>
              <a:uFillTx/>
              <a:latin typeface="Arial"/>
            </a:endParaRPr>
          </a:p>
        </p:txBody>
      </p:sp>
      <p:sp>
        <p:nvSpPr>
          <p:cNvPr id="104" name="TextBox 99"/>
          <p:cNvSpPr/>
          <p:nvPr/>
        </p:nvSpPr>
        <p:spPr>
          <a:xfrm>
            <a:off x="2340360" y="2745000"/>
            <a:ext cx="6222240" cy="24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1000" b="0" u="none" strike="noStrike">
                <a:solidFill>
                  <a:srgbClr val="000000"/>
                </a:solidFill>
                <a:effectLst/>
                <a:uFillTx/>
                <a:latin typeface="Arial"/>
              </a:rPr>
              <a:t> </a:t>
            </a:r>
            <a:endParaRPr lang="en-US" sz="1000" b="0" u="none" strike="noStrike">
              <a:solidFill>
                <a:srgbClr val="000000"/>
              </a:solidFill>
              <a:effectLst/>
              <a:uFillTx/>
              <a:latin typeface="Arial"/>
            </a:endParaRPr>
          </a:p>
        </p:txBody>
      </p:sp>
      <p:sp>
        <p:nvSpPr>
          <p:cNvPr id="4" name="PlaceHolder 3"/>
          <p:cNvSpPr>
            <a:spLocks noGrp="1"/>
          </p:cNvSpPr>
          <p:nvPr>
            <p:ph type="sldNum" idx="27"/>
          </p:nvPr>
        </p:nvSpPr>
        <p:spPr/>
        <p:txBody>
          <a:bodyPr/>
          <a:lstStyle/>
          <a:p>
            <a:fld id="{E35DE90D-E0C6-43FE-874A-42CFF153F74D}" type="slidenum">
              <a:r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74680"/>
            <a:ext cx="8228520" cy="882720"/>
          </a:xfrm>
          <a:prstGeom prst="rect">
            <a:avLst/>
          </a:prstGeom>
          <a:solidFill>
            <a:srgbClr val="6535EB"/>
          </a:solidFill>
          <a:ln w="0">
            <a:noFill/>
          </a:ln>
        </p:spPr>
        <p:txBody>
          <a:bodyPr lIns="91440" tIns="45720" rIns="91440" bIns="45720" anchor="ctr">
            <a:noAutofit/>
          </a:bodyPr>
          <a:lstStyle/>
          <a:p>
            <a:pPr indent="0" algn="ctr" defTabSz="914400">
              <a:lnSpc>
                <a:spcPct val="100000"/>
              </a:lnSpc>
              <a:buNone/>
              <a:tabLst>
                <a:tab pos="0" algn="l"/>
              </a:tabLst>
            </a:pPr>
            <a:r>
              <a:rPr lang="en-US" sz="3600" b="1" u="none" strike="noStrike">
                <a:solidFill>
                  <a:schemeClr val="lt1"/>
                </a:solidFill>
                <a:effectLst/>
                <a:uFillTx/>
                <a:latin typeface="Arial Black"/>
              </a:rPr>
              <a:t>CONCLUSION</a:t>
            </a:r>
            <a:endParaRPr lang="en-US" sz="3600" b="0" u="none" strike="noStrike">
              <a:solidFill>
                <a:srgbClr val="FFFFFF"/>
              </a:solidFill>
              <a:effectLst/>
              <a:uFillTx/>
              <a:latin typeface="Arial"/>
            </a:endParaRPr>
          </a:p>
        </p:txBody>
      </p:sp>
      <p:sp>
        <p:nvSpPr>
          <p:cNvPr id="106" name="TextBox 105"/>
          <p:cNvSpPr txBox="1"/>
          <p:nvPr/>
        </p:nvSpPr>
        <p:spPr>
          <a:xfrm>
            <a:off x="604684" y="2067815"/>
            <a:ext cx="8229600" cy="2722369"/>
          </a:xfrm>
          <a:prstGeom prst="rect">
            <a:avLst/>
          </a:prstGeom>
          <a:noFill/>
          <a:ln w="0">
            <a:noFill/>
          </a:ln>
        </p:spPr>
        <p:txBody>
          <a:bodyPr lIns="90000" tIns="45000" rIns="90000" bIns="45000" anchor="t">
            <a:spAutoFit/>
          </a:bodyPr>
          <a:lstStyle/>
          <a:p>
            <a:pPr algn="just"/>
            <a:r>
              <a:rPr lang="en-US" sz="1900" b="0" u="none" strike="noStrike" dirty="0">
                <a:solidFill>
                  <a:srgbClr val="000000"/>
                </a:solidFill>
                <a:effectLst/>
                <a:uFillTx/>
                <a:latin typeface="Cambria" panose="02040503050406030204" pitchFamily="18" charset="0"/>
                <a:ea typeface="Cambria" panose="02040503050406030204" pitchFamily="18" charset="0"/>
              </a:rPr>
              <a:t>The Semantic Integrity Analysis System offers an automated, AI-driven solution for verifying complex documents across domains like legal, policy, and technical writing. By combining Sentence-BERT embeddings, FAISS-based similarity search, and Natural Language Inference, the system accurately detects duplications, contradictions, and inconsistencies at the semantic level. Its web-based interface simplifies document analysis and report generation, significantly reducing manual effort and errors. Overall, the system demonstrates a practical and scalable application of NLP and data engineering to enhance document consistency, accuracy, and integrity.</a:t>
            </a:r>
          </a:p>
        </p:txBody>
      </p:sp>
      <p:sp>
        <p:nvSpPr>
          <p:cNvPr id="3" name="PlaceHolder 2"/>
          <p:cNvSpPr>
            <a:spLocks noGrp="1"/>
          </p:cNvSpPr>
          <p:nvPr>
            <p:ph type="sldNum" idx="27"/>
          </p:nvPr>
        </p:nvSpPr>
        <p:spPr/>
        <p:txBody>
          <a:bodyPr/>
          <a:lstStyle/>
          <a:p>
            <a:fld id="{77DCA49F-0E0B-4AAB-8F56-E72672A5A014}" type="slidenum">
              <a:rP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p:nvPr>
        </p:nvSpPr>
        <p:spPr>
          <a:xfrm>
            <a:off x="457200" y="1600200"/>
            <a:ext cx="8228520" cy="4524840"/>
          </a:xfrm>
          <a:prstGeom prst="rect">
            <a:avLst/>
          </a:prstGeom>
          <a:noFill/>
          <a:ln w="0">
            <a:noFill/>
          </a:ln>
          <a:effectLst>
            <a:glow rad="228600">
              <a:srgbClr val="267DE6">
                <a:alpha val="40000"/>
              </a:srgbClr>
            </a:glow>
          </a:effectLst>
        </p:spPr>
        <p:txBody>
          <a:bodyPr lIns="91440" tIns="45720" rIns="91440" bIns="45720" anchor="t">
            <a:normAutofit/>
          </a:bodyPr>
          <a:lstStyle/>
          <a:p>
            <a:pPr marL="343080" indent="-343080" algn="ctr" defTabSz="914400">
              <a:lnSpc>
                <a:spcPct val="100000"/>
              </a:lnSpc>
              <a:spcBef>
                <a:spcPts val="1321"/>
              </a:spcBef>
              <a:buNone/>
              <a:tabLst>
                <a:tab pos="0" algn="l"/>
              </a:tabLst>
            </a:pPr>
            <a:endParaRPr lang="en-US" sz="6600" b="0" u="none" strike="noStrike">
              <a:solidFill>
                <a:srgbClr val="000000"/>
              </a:solidFill>
              <a:effectLst/>
              <a:uFillTx/>
              <a:latin typeface="Arial"/>
            </a:endParaRPr>
          </a:p>
          <a:p>
            <a:pPr marL="343080" indent="-343080" algn="ctr" defTabSz="914400">
              <a:lnSpc>
                <a:spcPct val="100000"/>
              </a:lnSpc>
              <a:spcBef>
                <a:spcPts val="1321"/>
              </a:spcBef>
              <a:buNone/>
              <a:tabLst>
                <a:tab pos="0" algn="l"/>
              </a:tabLst>
            </a:pPr>
            <a:r>
              <a:rPr lang="en-US" sz="6600" b="1" u="none" strike="noStrike">
                <a:solidFill>
                  <a:srgbClr val="6C3EEC"/>
                </a:solidFill>
                <a:effectLst/>
                <a:uFillTx/>
                <a:latin typeface="Times New Roman"/>
              </a:rPr>
              <a:t>THANK YOU</a:t>
            </a:r>
            <a:endParaRPr lang="en-US" sz="6600" b="0" u="none" strike="noStrike">
              <a:solidFill>
                <a:srgbClr val="000000"/>
              </a:solidFill>
              <a:effectLst/>
              <a:uFillTx/>
              <a:latin typeface="Arial"/>
            </a:endParaRPr>
          </a:p>
        </p:txBody>
      </p:sp>
      <p:sp>
        <p:nvSpPr>
          <p:cNvPr id="3" name="PlaceHolder 2"/>
          <p:cNvSpPr>
            <a:spLocks noGrp="1"/>
          </p:cNvSpPr>
          <p:nvPr>
            <p:ph type="sldNum" idx="27"/>
          </p:nvPr>
        </p:nvSpPr>
        <p:spPr/>
        <p:txBody>
          <a:bodyPr/>
          <a:lstStyle/>
          <a:p>
            <a:fld id="{A19C394D-0C7E-4A73-8185-54A59F6E59D1}" type="slidenum">
              <a:rPr/>
              <a:t>23</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153</TotalTime>
  <Words>2254</Words>
  <Application>Microsoft Office PowerPoint</Application>
  <PresentationFormat>On-screen Show (4:3)</PresentationFormat>
  <Paragraphs>225</Paragraphs>
  <Slides>23</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Arial Black</vt:lpstr>
      <vt:lpstr>Arial Rounded MT Bold</vt:lpstr>
      <vt:lpstr>Calibri</vt:lpstr>
      <vt:lpstr>Cambria</vt:lpstr>
      <vt:lpstr>Symbol</vt:lpstr>
      <vt:lpstr>Times New Roman</vt:lpstr>
      <vt:lpstr>Wingdings</vt:lpstr>
      <vt:lpstr>Office Theme</vt:lpstr>
      <vt:lpstr> Department of Computer Science and  Engineering   </vt:lpstr>
      <vt:lpstr>AGENDA</vt:lpstr>
      <vt:lpstr>INTRODUCTION</vt:lpstr>
      <vt:lpstr>PROBLEM STATEMENT</vt:lpstr>
      <vt:lpstr>ABSTRACT</vt:lpstr>
      <vt:lpstr>OBJECTIVE</vt:lpstr>
      <vt:lpstr>LITERATURE SURVEY</vt:lpstr>
      <vt:lpstr>ARCHITECTURE DIAGRAM</vt:lpstr>
      <vt:lpstr>PowerPoint Presentation</vt:lpstr>
      <vt:lpstr>ALGORITHMS/TECHNIQUES</vt:lpstr>
      <vt:lpstr>ALGORITHMS/TECHNIQUES</vt:lpstr>
      <vt:lpstr>PowerPoint Presentation</vt:lpstr>
      <vt:lpstr>PowerPoint Presentation</vt:lpstr>
      <vt:lpstr>ALGORITHMS/TECHNIQUES</vt:lpstr>
      <vt:lpstr>PowerPoint Presentation</vt:lpstr>
      <vt:lpstr>EXPERIMENTAL RESULTS</vt:lpstr>
      <vt:lpstr>PERFORMANCE EVALUATION</vt:lpstr>
      <vt:lpstr>SCREENSHOTS</vt:lpstr>
      <vt:lpstr>PowerPoint Presentation</vt:lpstr>
      <vt:lpstr>PowerPoint Presentation</vt:lpstr>
      <vt:lpstr>REFERENCES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Mythili M</dc:creator>
  <dc:description/>
  <cp:lastModifiedBy>Mythili M</cp:lastModifiedBy>
  <cp:revision>17</cp:revision>
  <dcterms:modified xsi:type="dcterms:W3CDTF">2026-05-11T17:09:59Z</dcterms:modified>
  <dc:language>en-US</dc:language>
</cp:coreProperties>
</file>