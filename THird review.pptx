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F1BE675-13A2-4852-B70C-01F555B61F99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5BE3092-FDD2-48F2-A998-BFA272238D8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200" cy="63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228600"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200" cy="3950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0640" cy="63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228600"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0640" cy="3950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7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7836C79-F4A2-4CC0-8DDB-FE0123E4E0B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22B0959-F911-49FB-BA83-BBD94C6323F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B4E0250-ECBA-4CBB-8538-F2619F781B4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320" cy="14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5F2E831-EB92-44B5-ABA9-2153D0B99CB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5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080" cy="116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560" cy="585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080" cy="469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D6716FB-BF29-4607-B882-C0670909FAF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320" cy="56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320" cy="80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D02F2D5-B017-4430-B4B8-B30087FCD7E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5D358EC-278A-4C38-87E1-1D19BE8A2C2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320" cy="585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8840" cy="585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D30A993-28C5-4690-AB3A-94CE00D2273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D547E84-C581-433C-B29A-41CF10C831A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320" cy="1361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320" cy="149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228600"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EB41D6A-1B08-4900-80F9-5CD5DFB5B93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40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40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6ECF71F-5AF2-4063-AD4E-1E0638B1808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hyperlink" Target="https://aclanthology.org/D19-1410" TargetMode="External"/><Relationship Id="rId2" Type="http://schemas.openxmlformats.org/officeDocument/2006/relationships/hyperlink" Target="https://ieeexplore.ieee.org/document/5486198" TargetMode="External"/><Relationship Id="rId3" Type="http://schemas.openxmlformats.org/officeDocument/2006/relationships/hyperlink" Target="https://ieeexplore.ieee.org/document/5486198" TargetMode="External"/><Relationship Id="rId4" Type="http://schemas.openxmlformats.org/officeDocument/2006/relationships/hyperlink" Target="https://www.researchgate.net/publication/379452866_Semantic_Analysis_of_Legal_Documents" TargetMode="External"/><Relationship Id="rId5" Type="http://schemas.openxmlformats.org/officeDocument/2006/relationships/hyperlink" Target="https://aclanthology.org/2024.naacl-long.362/?utm_source=chatgpt.com" TargetMode="External"/><Relationship Id="rId6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86520" y="1143000"/>
            <a:ext cx="7771320" cy="843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47500" lnSpcReduction="1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br>
              <a:rPr sz="2600"/>
            </a:br>
            <a:r>
              <a:rPr lang="en-US" sz="2600" b="1" u="none" strike="noStrike">
                <a:solidFill>
                  <a:srgbClr val="7030a0"/>
                </a:solidFill>
                <a:effectLst/>
                <a:uFillTx/>
                <a:latin typeface="Arial Black"/>
                <a:ea typeface="Calibri"/>
              </a:rPr>
              <a:t>Department of Computer Science and  Engineering</a:t>
            </a:r>
            <a:br>
              <a:rPr sz="2200"/>
            </a:br>
            <a:br>
              <a:rPr sz="2200"/>
            </a:br>
            <a:br>
              <a:rPr sz="2600"/>
            </a:b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itle 1"/>
          <p:cNvSpPr/>
          <p:nvPr/>
        </p:nvSpPr>
        <p:spPr>
          <a:xfrm>
            <a:off x="457200" y="458280"/>
            <a:ext cx="838080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7030a0"/>
                </a:solidFill>
                <a:effectLst/>
                <a:uFillTx/>
                <a:latin typeface="Arial Rounded MT Bold"/>
                <a:ea typeface="Calibri"/>
              </a:rPr>
              <a:t>ANNA UNIVERSITY REGIONAL CAMPUS COIMBATORE</a:t>
            </a:r>
            <a:br>
              <a:rPr sz="1400"/>
            </a:br>
            <a:br>
              <a:rPr sz="2800"/>
            </a:b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588240" y="1828800"/>
            <a:ext cx="7847640" cy="264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000" b="1" u="none" strike="noStrike">
                <a:solidFill>
                  <a:srgbClr val="c00000"/>
                </a:solidFill>
                <a:effectLst/>
                <a:uFillTx/>
                <a:latin typeface="Arial"/>
              </a:rPr>
              <a:t>AD3811 &amp; PROJECT WORK – (Jan –Apr 2026)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2000" b="1" u="none" strike="noStrike">
                <a:solidFill>
                  <a:srgbClr val="c00000"/>
                </a:solidFill>
                <a:effectLst/>
                <a:uFillTx/>
                <a:latin typeface="Arial"/>
              </a:rPr>
              <a:t>Final B.Tech (Artificial Intelligence and Data Science)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br>
              <a:rPr sz="2200"/>
            </a:br>
            <a:r>
              <a:rPr lang="en-US" sz="2200" b="0" u="none" strike="noStrike">
                <a:solidFill>
                  <a:srgbClr val="c00000"/>
                </a:solidFill>
                <a:effectLst/>
                <a:uFillTx/>
                <a:latin typeface="Arial"/>
              </a:rPr>
              <a:t>Title of the project :</a:t>
            </a:r>
            <a:br>
              <a:rPr sz="2200"/>
            </a:b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Semantic Integrity Analysis in Long-Context Information Systems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br>
              <a:rPr sz="2000"/>
            </a:br>
            <a:r>
              <a:rPr lang="en-US" sz="2000" b="1" u="none" strike="noStrike">
                <a:solidFill>
                  <a:srgbClr val="6535eb"/>
                </a:solidFill>
                <a:effectLst/>
                <a:uFillTx/>
                <a:latin typeface="Times New Roman"/>
              </a:rPr>
              <a:t>Date :</a:t>
            </a:r>
            <a:r>
              <a:rPr lang="en-US" sz="2000" b="0" u="none" strike="noStrike">
                <a:solidFill>
                  <a:srgbClr val="6535eb"/>
                </a:solidFill>
                <a:effectLst/>
                <a:uFillTx/>
                <a:latin typeface="Times New Roman"/>
              </a:rPr>
              <a:t> 10.04.2026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9" name="Table 8"/>
          <p:cNvGraphicFramePr/>
          <p:nvPr/>
        </p:nvGraphicFramePr>
        <p:xfrm>
          <a:off x="38160" y="4521240"/>
          <a:ext cx="9067320" cy="1996560"/>
        </p:xfrm>
        <a:graphic>
          <a:graphicData uri="http://schemas.openxmlformats.org/drawingml/2006/table">
            <a:tbl>
              <a:tblPr/>
              <a:tblGrid>
                <a:gridCol w="4533840"/>
                <a:gridCol w="4533840"/>
              </a:tblGrid>
              <a:tr h="5331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Project Guide Name/Designation: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Dr.P.Marikkannu /Assistant Professor / CSE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5176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Name and Register Number of Students: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Mythili M (710022243026)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Jayasree S (710022243017)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Rekha G (710022243013)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Sowndarya A (710022243028)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8520" cy="562320"/>
          </a:xfrm>
          <a:prstGeom prst="rect">
            <a:avLst/>
          </a:prstGeom>
          <a:solidFill>
            <a:srgbClr val="6535eb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1" u="none" strike="noStrike">
                <a:solidFill>
                  <a:schemeClr val="lt1"/>
                </a:solidFill>
                <a:effectLst/>
                <a:uFillTx/>
                <a:latin typeface="Arial Black"/>
              </a:rPr>
              <a:t>AGENDA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219320"/>
            <a:ext cx="8228520" cy="563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685800" y="914400"/>
            <a:ext cx="8000640" cy="58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INTRODUCTION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PROBLEM STATEMENT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ABSTRACT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OVERALL DESIGN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MATERIALS &amp; METHODS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MODULE IMPLEMENTATION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EXPERIMENTAL RESULTS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PERFORMANCE EVALUATION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SCREENSHOTS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REFERENCES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CONCLUSION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80B5DE47-9DCB-45DE-9044-AF68E6A15EAB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8520" cy="562320"/>
          </a:xfrm>
          <a:prstGeom prst="rect">
            <a:avLst/>
          </a:prstGeom>
          <a:solidFill>
            <a:srgbClr val="6535eb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IN" sz="3600" b="1" u="none" strike="noStrike">
                <a:solidFill>
                  <a:schemeClr val="lt1"/>
                </a:solidFill>
                <a:effectLst/>
                <a:uFillTx/>
                <a:latin typeface="Arial Black"/>
              </a:rPr>
              <a:t>INTRODUCTION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457200" y="1549440"/>
            <a:ext cx="8228520" cy="467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algn="just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900" b="0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Legal documents such as contracts, agreements, and policies often span multiple </a:t>
            </a:r>
            <a:r>
              <a:rPr lang="en-US" sz="1900" b="0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sections and pages. During drafting or revision, repeated clauses, conflicting </a:t>
            </a:r>
            <a:r>
              <a:rPr lang="en-US" sz="1900" b="0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terms, or partially updated information may be introduced, leading to </a:t>
            </a:r>
            <a:r>
              <a:rPr lang="en-US" sz="1900" b="0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duplication, contradictions, and logical inconsistencies.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1900" b="0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Manual document verification is time-consuming and error-prone, especially for </a:t>
            </a:r>
            <a:r>
              <a:rPr lang="en-US" sz="1900" b="0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large or frequently updated documents. Existing automated tools rely on </a:t>
            </a:r>
            <a:r>
              <a:rPr lang="en-US" sz="1900" b="0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keyword-based or local text analysis and fail to capture semantic meaning and </a:t>
            </a:r>
            <a:r>
              <a:rPr lang="en-US" sz="1900" b="0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global document coherence, leaving many inconsistencies undetected.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1900" b="0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This project proposes an AI-based system that uses long-context semantic </a:t>
            </a:r>
            <a:r>
              <a:rPr lang="en-US" sz="1900" b="0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analysis to detect duplication, contradictions, and inconsistencies in documents, </a:t>
            </a:r>
            <a:r>
              <a:rPr lang="en-US" sz="1900" b="0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improving reliability and reducing manual effort.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C97B3B4F-E392-4A04-8706-FA46DBB0CF79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8520" cy="562320"/>
          </a:xfrm>
          <a:prstGeom prst="rect">
            <a:avLst/>
          </a:prstGeom>
          <a:solidFill>
            <a:srgbClr val="6535eb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IN" sz="3600" b="1" u="none" strike="noStrike">
                <a:solidFill>
                  <a:schemeClr val="lt1"/>
                </a:solidFill>
                <a:effectLst/>
                <a:uFillTx/>
                <a:latin typeface="Arial Black"/>
              </a:rPr>
              <a:t>PROBLEM STATEMENT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2241720"/>
            <a:ext cx="8228520" cy="22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marL="34308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Long documents often contain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duplicate, contradictory, or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inconsistent information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 across sections due to revisions.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Manual verification is time-consuming and error-prone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, 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and existing tools rely on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keyword or local text analysis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, 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failing to capture global semantic coherence. Therefore, an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intelligent system is needed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 to automatically analyze 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documents and detect duplication, contradictions, and 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inconsistencies.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389DF914-689E-4092-9170-D3F51D83B64D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8520" cy="562320"/>
          </a:xfrm>
          <a:prstGeom prst="rect">
            <a:avLst/>
          </a:prstGeom>
          <a:solidFill>
            <a:srgbClr val="6535eb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1" u="none" strike="noStrike">
                <a:solidFill>
                  <a:schemeClr val="lt1"/>
                </a:solidFill>
                <a:effectLst/>
                <a:uFillTx/>
                <a:latin typeface="Arial Black"/>
              </a:rPr>
              <a:t>ABSTRACT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457200" y="1043280"/>
            <a:ext cx="8228520" cy="5691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285840" indent="-285840" algn="just" defTabSz="914400">
              <a:lnSpc>
                <a:spcPct val="109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This project presents </a:t>
            </a: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Semantic Integrity Analysis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, an AI-powered system designed to automate the verification of complex legal contracts and lengthy legal documents, which are often time-consuming and prone to human error during manual review.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 defTabSz="914400">
              <a:lnSpc>
                <a:spcPct val="109000"/>
              </a:lnSpc>
              <a:buNone/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algn="just" defTabSz="914400">
              <a:lnSpc>
                <a:spcPct val="109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The platform detects </a:t>
            </a: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duplication, inconsistencies, and contradictions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 using </a:t>
            </a: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NLP and rule-based heuristics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, with a </a:t>
            </a: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Flask backend, SQLite authentication,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and a frontend for </a:t>
            </a: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upload, analysis, summary, and dashboard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 defTabSz="914400">
              <a:lnSpc>
                <a:spcPct val="109000"/>
              </a:lnSpc>
              <a:buNone/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algn="just" defTabSz="914400">
              <a:lnSpc>
                <a:spcPct val="109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Users upload a </a:t>
            </a:r>
            <a:r>
              <a:rPr lang="en-IN" sz="18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final document and reference documents</a:t>
            </a: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. The system extracts text from </a:t>
            </a:r>
            <a:r>
              <a:rPr lang="en-IN" sz="18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PDF, DOCX, and TXT</a:t>
            </a: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, segments clauses, and uses SBERT with FAISS for semantic similarity search. For deeper validation, </a:t>
            </a:r>
            <a:r>
              <a:rPr lang="en-IN" sz="18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LLM and NLI models, including TinyLlama</a:t>
            </a: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, classify clauses as contradictions, duplications, or neutral.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 defTabSz="914400">
              <a:lnSpc>
                <a:spcPct val="109000"/>
              </a:lnSpc>
              <a:buNone/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algn="just" defTabSz="914400">
              <a:lnSpc>
                <a:spcPct val="109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Results are shown on an </a:t>
            </a: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interactive dashboard with line-level issue tracing, summaries, and comparison insights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, helping users quickly identify legal mismatches and improve review accuracy and efficiency.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15A47742-49B8-4B42-ACAA-2C0D84F95120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/>
          </p:nvPr>
        </p:nvSpPr>
        <p:spPr>
          <a:xfrm>
            <a:off x="457200" y="914400"/>
            <a:ext cx="8228520" cy="541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system adopts a client-server architectural pattern:-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Client Side (Frontend/UI):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ail"/>
              </a:rPr>
              <a:t>A dual-interface approach comprising a multi-page static web application (HTML/CSS/JS) and a Streamlit-based interactive dashboard. It handles user authentication, file uploads (PDF, DOCX, TXT), and displays detailed analytical dashboards.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Server Side (Backend):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Flask-based RESTful API that handles document ingestion and orchestrates the analysis pipeline.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AI Orchestration Layer: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 uses a hybrid AI approach combining local AI models (e.g., Llama 1B QLoRA) for privacy-preserving document text extraction and summarization, alongside Fast API to retrieve standard legal provisions and verify document integrity.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Data Storage layer: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sQLite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is utilized for lightweight, reliable management of user authentication and session metadata.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Google Shape;108;p1"/>
          <p:cNvSpPr/>
          <p:nvPr/>
        </p:nvSpPr>
        <p:spPr>
          <a:xfrm>
            <a:off x="434880" y="244800"/>
            <a:ext cx="8228520" cy="562320"/>
          </a:xfrm>
          <a:prstGeom prst="rect">
            <a:avLst/>
          </a:prstGeom>
          <a:solidFill>
            <a:srgbClr val="6c3e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 Black"/>
                <a:ea typeface="Arial Black"/>
              </a:rPr>
              <a:t>	</a:t>
            </a: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 Black"/>
                <a:ea typeface="Arial Black"/>
              </a:rPr>
              <a:t>OVERALL DESIGN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/>
          </p:nvPr>
        </p:nvSpPr>
        <p:spPr>
          <a:xfrm>
            <a:off x="457200" y="914400"/>
            <a:ext cx="8228520" cy="541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9999"/>
          </a:bodyPr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Materials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Programming Languages: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Python 3.11 for the backend and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AI orchestration;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HTML, CSS, JavaScript for the static web interface.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Frameworks &amp; Libraries: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Backend: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Flask, SQLite, uvicorn.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Flask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Frontend: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Streamlit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AI &amp; NLP: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Hugging Face Transformers, PyTorch.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AI Models &amp; APIs: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Local Model: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Fine-tuned TinyLlama / Llama 1B QLoRA models run locally to ensure data security and avoid exposing sensitive document content externally.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Agentic Search: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Fast API for fetching up-to-date legal standards and compliance rules from the internet.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Dataset (for fine-tuning):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Legal document datasets containing deeds, contracts, and agreements with annotated clauses.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itle 1"/>
          <p:cNvSpPr/>
          <p:nvPr/>
        </p:nvSpPr>
        <p:spPr>
          <a:xfrm>
            <a:off x="434880" y="244800"/>
            <a:ext cx="8228520" cy="562320"/>
          </a:xfrm>
          <a:prstGeom prst="rect">
            <a:avLst/>
          </a:prstGeom>
          <a:solidFill>
            <a:srgbClr val="6c3e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 Black"/>
              </a:rPr>
              <a:t>MATERIALS AND METHODS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64383A65-9D5B-4B91-931B-0A78CA38893A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/>
          </p:nvPr>
        </p:nvSpPr>
        <p:spPr>
          <a:xfrm>
            <a:off x="457200" y="914400"/>
            <a:ext cx="8228520" cy="541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Methods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Document Preprocessing: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Uploaded documents (PDF/DOCX/TXT) are parsed and chunked into manageable semantic blocks. NLP techniques are applied to strip noisy metadata and normalize the text.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Hybrid AI Execution: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The local Llama model identifies key entities (Vendor/Vendee) and extracts the primary clauses mapped by line numbers.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A powerful LLM via Fast API compares the expected clauses against the extracted clauses to flag inconsistencies, missing sections, and contradictions.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Line-Level Mapping: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Every extracted finding is correlated back to the specific page and line number in the original uploaded document, ensuring high traceability for the end-user.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itle 3"/>
          <p:cNvSpPr/>
          <p:nvPr/>
        </p:nvSpPr>
        <p:spPr>
          <a:xfrm>
            <a:off x="434880" y="244800"/>
            <a:ext cx="8228520" cy="562320"/>
          </a:xfrm>
          <a:prstGeom prst="rect">
            <a:avLst/>
          </a:prstGeom>
          <a:solidFill>
            <a:srgbClr val="6c3e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 Black"/>
              </a:rPr>
              <a:t>MATERIALS AND METHODS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BCC14C26-3717-4A92-B57D-384BD84A1C8A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itle 1"/>
          <p:cNvSpPr/>
          <p:nvPr/>
        </p:nvSpPr>
        <p:spPr>
          <a:xfrm>
            <a:off x="457200" y="228600"/>
            <a:ext cx="8228520" cy="562320"/>
          </a:xfrm>
          <a:prstGeom prst="rect">
            <a:avLst/>
          </a:prstGeom>
          <a:solidFill>
            <a:srgbClr val="6c3e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3600" b="1" u="none" strike="noStrike">
                <a:solidFill>
                  <a:schemeClr val="lt1"/>
                </a:solidFill>
                <a:effectLst/>
                <a:uFillTx/>
                <a:latin typeface="Arial Black"/>
              </a:rPr>
              <a:t>MODULE IMPLEMENTATION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228600" y="685800"/>
            <a:ext cx="8229600" cy="675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</a:t>
            </a:r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User Authentication Module-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Built using Flask routing and SQLite databases.- Secures the application by allowing only registered users to perform document analysis. Implements endpoints for registration, secure login, and session tracking.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2.Document Ingestion and Parsing Module-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Handles document uploads up to robust sizes in multiple formats (PDF, DOCX, TXT).- Supports uploading 1-2 optional "Reference Documents" alongside the primary "Final Document" for cross-verification.Implements text parsing to maintain spatial metadata (line numbers and page numbers) essential for output traceability.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3.Core Analysis Module-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Entity &amp; Meaning Extraction: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Utilizes local LLM inference to generate a "detailedSummary" and "pageSummaries"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Risk Analyzer Pipeline: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It is used to compare the Reference Document text and agent-searched standards against the Final Document.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Detects the following categories of discrepancies: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Duplication: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Unnecessary repetition of clauses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Inconsistency: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Variations in terminology or conditions.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Contradiction: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Conflicting statements within the document or against legal norms.Omission/Missing Clauses is Important legal sections that are noticeably absent.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4.Reporting and Dashboard Module-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Renders the output of the analysis module into a rich, interactive user interface.Detailed Summaries,Top Findings Card,Line Error Table.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2F3FA136-2218-4AAE-A902-940075327D3E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8520" cy="562320"/>
          </a:xfrm>
          <a:prstGeom prst="rect">
            <a:avLst/>
          </a:prstGeom>
          <a:solidFill>
            <a:srgbClr val="6535eb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EXPERIMENTAL RESULTS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457200" y="914400"/>
            <a:ext cx="8229600" cy="571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1.Evaluation Metrics</a:t>
            </a:r>
            <a:endParaRPr lang="en-US" sz="12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Precision &amp; Recall: Assessed the model’s ability to correctly identify inconsistencies and minimize false positives.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Latency: Measured end-to-end processing time from document upload to report generation.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2.Results &amp; Observations</a:t>
            </a:r>
            <a:endParaRPr lang="en-US" sz="12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High Traceability: Achieved ~95% accuracy in mapping discrepancies to exact page and line numbers.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Efficient Hybrid Model: Leveraged local LLM for cost-effective processing and external API only for advanced semantic checks, keeping response time under 30 seconds.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Improved Risk Detection: External context integration enhanced identification of missing or implicit clauses.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User-Friendly Insights: Intuitive UI with side-by-side comparisons enabled quick understanding and action, even for non-technical users.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AB8CBA49-DF29-40C5-A1B6-B2F0911A65C2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8520" cy="562320"/>
          </a:xfrm>
          <a:prstGeom prst="rect">
            <a:avLst/>
          </a:prstGeom>
          <a:solidFill>
            <a:srgbClr val="6535eb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1" u="none" strike="noStrike">
                <a:solidFill>
                  <a:schemeClr val="lt1"/>
                </a:solidFill>
                <a:effectLst/>
                <a:uFillTx/>
                <a:latin typeface="Arial Black"/>
              </a:rPr>
              <a:t>PERFORMANCE EVALUATION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457200" y="914400"/>
            <a:ext cx="8350560" cy="5715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Accuracy</a:t>
            </a:r>
            <a:endParaRPr lang="en-US" sz="16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Precision: ~92% (fewer false alarms)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Recall: ~89% (captures most issues)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F1-Score: ~90.5% (balanced performance)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Latency</a:t>
            </a:r>
            <a:endParaRPr lang="en-US" sz="12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ai;"/>
              </a:rPr>
              <a:t>Small docs: 12–18 sec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ai;"/>
              </a:rPr>
              <a:t>Medium docs: 25–35 sec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ai;"/>
              </a:rPr>
              <a:t>Large docs: 45–90 sec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Scalability</a:t>
            </a:r>
            <a:endParaRPr lang="en-US" sz="12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Runs on 3–4 GB RAM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Saves 40–50% cost using hybrid model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Overall: Fast, accurate, and cost-efficient.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60D1BC6B-F8F4-4F08-AFB6-8261D29C2177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138240"/>
            <a:ext cx="8228520" cy="562320"/>
          </a:xfrm>
          <a:prstGeom prst="rect">
            <a:avLst/>
          </a:prstGeom>
          <a:solidFill>
            <a:srgbClr val="6535eb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1" u="none" strike="noStrike">
                <a:solidFill>
                  <a:schemeClr val="lt1"/>
                </a:solidFill>
                <a:effectLst/>
                <a:uFillTx/>
                <a:latin typeface="Arial Black"/>
              </a:rPr>
              <a:t>SCREENSHOTS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2" name=""/>
          <p:cNvPicPr/>
          <p:nvPr/>
        </p:nvPicPr>
        <p:blipFill>
          <a:blip r:embed="rId1"/>
          <a:stretch/>
        </p:blipFill>
        <p:spPr>
          <a:xfrm>
            <a:off x="1371600" y="848160"/>
            <a:ext cx="5714640" cy="269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"/>
          <p:cNvPicPr/>
          <p:nvPr/>
        </p:nvPicPr>
        <p:blipFill>
          <a:blip r:embed="rId2"/>
          <a:stretch/>
        </p:blipFill>
        <p:spPr>
          <a:xfrm>
            <a:off x="1371600" y="3657600"/>
            <a:ext cx="5714640" cy="305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824A38F0-AFFF-4259-83DD-21AB490B1042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5" name=""/>
          <p:cNvPicPr/>
          <p:nvPr/>
        </p:nvPicPr>
        <p:blipFill>
          <a:blip r:embed="rId1"/>
          <a:stretch/>
        </p:blipFill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6" name=""/>
          <p:cNvPicPr/>
          <p:nvPr/>
        </p:nvPicPr>
        <p:blipFill>
          <a:blip r:embed="rId2"/>
          <a:stretch/>
        </p:blipFill>
        <p:spPr>
          <a:xfrm>
            <a:off x="1143000" y="228960"/>
            <a:ext cx="5714640" cy="2831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7" name=""/>
          <p:cNvPicPr/>
          <p:nvPr/>
        </p:nvPicPr>
        <p:blipFill>
          <a:blip r:embed="rId3"/>
          <a:stretch/>
        </p:blipFill>
        <p:spPr>
          <a:xfrm>
            <a:off x="1143000" y="3200400"/>
            <a:ext cx="5714640" cy="294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CF372870-6ACA-4138-855F-AD2FF67087DF}" type="slidenum">
              <a:t>13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9" name=""/>
          <p:cNvPicPr/>
          <p:nvPr/>
        </p:nvPicPr>
        <p:blipFill>
          <a:blip r:embed="rId1"/>
          <a:stretch/>
        </p:blipFill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0" name=""/>
          <p:cNvPicPr/>
          <p:nvPr/>
        </p:nvPicPr>
        <p:blipFill>
          <a:blip r:embed="rId2"/>
          <a:stretch/>
        </p:blipFill>
        <p:spPr>
          <a:xfrm>
            <a:off x="1521360" y="394920"/>
            <a:ext cx="5564880" cy="2805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1" name=""/>
          <p:cNvPicPr/>
          <p:nvPr/>
        </p:nvPicPr>
        <p:blipFill>
          <a:blip r:embed="rId3"/>
          <a:stretch/>
        </p:blipFill>
        <p:spPr>
          <a:xfrm>
            <a:off x="1600560" y="3429000"/>
            <a:ext cx="5486040" cy="2514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B7362FF1-93D7-470D-B729-EBFB77E6FA56}" type="slidenum">
              <a:t>14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8520" cy="562320"/>
          </a:xfrm>
          <a:prstGeom prst="rect">
            <a:avLst/>
          </a:prstGeom>
          <a:solidFill>
            <a:srgbClr val="6c3eec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1" u="none" strike="noStrike">
                <a:solidFill>
                  <a:schemeClr val="lt1"/>
                </a:solidFill>
                <a:effectLst/>
                <a:uFillTx/>
                <a:latin typeface="Arial Black"/>
              </a:rPr>
              <a:t>REFERENCES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519840" y="952200"/>
            <a:ext cx="8103240" cy="5586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spAutoFit/>
          </a:bodyPr>
          <a:p>
            <a:pPr marL="343080" indent="0" algn="just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IN" sz="16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Microsoft YaHei"/>
              </a:rPr>
              <a:t>[1] Sentence-BERT: Sentence Embeddings using Siamese BERT-Networks, by Nils Reimers and Iryna Gurevych, in Proceedings of the 2019 Conference on Empirical Methods in Natural Language Processing (EMNLP), 2019, pp. 3982–3992</a:t>
            </a: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algn="just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  <a:hlinkClick r:id="rId1"/>
              </a:rPr>
              <a:t>https://aclanthology.org/D19-1410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algn="just" defTabSz="914400">
              <a:lnSpc>
                <a:spcPct val="10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algn="just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IN" sz="16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Microsoft YaHei"/>
              </a:rPr>
              <a:t>[2] Z. Liu, F. Jiang, and S. Qian, “Semantic Consistency Checking for Model Transformations,” in Proceedings of the International Conference on Computer and Information Technology, 2015, pp. 364–368.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algn="just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IN" sz="16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lang="en-US" sz="1600" b="1" u="sng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  <a:hlinkClick r:id="rId2"/>
              </a:rPr>
              <a:t>https://ieeexplore.ieee.org/document/5486198</a:t>
            </a: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algn="just" defTabSz="914400">
              <a:lnSpc>
                <a:spcPct val="10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algn="just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IN" sz="16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Microsoft YaHei"/>
              </a:rPr>
              <a:t>[3] Y. Chen and M.-C. Chang, “Towards Multimodal Semantic Consistency Analysis of Long Form Articles,” in Proceedings of IEEE International Conference, 2022, pp. 342–347.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algn="just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IN" sz="16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lang="en-US" sz="1600" b="1" u="sng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  <a:hlinkClick r:id="rId3"/>
              </a:rPr>
              <a:t>https://ieeexplore.ieee.org/document/5486198</a:t>
            </a: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algn="just" defTabSz="914400">
              <a:lnSpc>
                <a:spcPct val="100000"/>
              </a:lnSpc>
              <a:buNone/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algn="just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IN" sz="16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Microsoft YaHei"/>
              </a:rPr>
              <a:t>[4] A. Aloui, “Semantic Analysis of Legal Documents,” 2023.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algn="just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600" b="1" u="sng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  <a:hlinkClick r:id="rId4"/>
              </a:rPr>
              <a:t>https://www.researchgate.net/publication/379452866_Semantic_Analysis_of_Legal_Documents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algn="just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IN" sz="16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Microsoft YaHei"/>
              </a:rPr>
              <a:t>[5] J. Li, V. Raheja, and D. Kumar, “ContraDoc: Understanding Self Contradictions in Documents with Large Language Models,” in Proceedings of NAACL-HLT, 2024, pp. 6509–6523.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IN" sz="16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      </a:t>
            </a:r>
            <a:r>
              <a:rPr lang="en-IN" sz="1600" b="1" u="sng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  <a:hlinkClick r:id="rId5"/>
              </a:rPr>
              <a:t>https://aclanthology.org/2024.naacl-long.362/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99"/>
          <p:cNvSpPr/>
          <p:nvPr/>
        </p:nvSpPr>
        <p:spPr>
          <a:xfrm>
            <a:off x="2340360" y="2745000"/>
            <a:ext cx="62222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E35DE90D-E0C6-43FE-874A-42CFF153F74D}" type="slidenum">
              <a:t>15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882720"/>
          </a:xfrm>
          <a:prstGeom prst="rect">
            <a:avLst/>
          </a:prstGeom>
          <a:solidFill>
            <a:srgbClr val="6535eb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1" u="none" strike="noStrike">
                <a:solidFill>
                  <a:schemeClr val="lt1"/>
                </a:solidFill>
                <a:effectLst/>
                <a:uFillTx/>
                <a:latin typeface="Arial Black"/>
              </a:rPr>
              <a:t>CONCLUSION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457200" y="1371600"/>
            <a:ext cx="8229600" cy="3738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Semantic Integrity Analysis System offers an automated, AI-driven solution for verifying complex documents across domains like legal, policy, and technical writing. By combining Sentence-BERT embeddings, FAISS-based similarity search, and Natural Language Inference, the system accurately detects duplications, contradictions, and inconsistencies at the semantic level. Its web-based interface simplifies document analysis and report generation, significantly reducing manual effort and errors. Overall, the system demonstrates a practical and scalable application of NLP and data engineering to enhance document consistency, accuracy, and integrity.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77DCA49F-0E0B-4AAB-8F56-E72672A5A014}" type="slidenum">
              <a:t>16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  <a:effectLst>
            <a:glow rad="228600">
              <a:srgbClr val="267de6">
                <a:alpha val="40000"/>
              </a:srgbClr>
            </a:glow>
          </a:effectLst>
        </p:spPr>
        <p:txBody>
          <a:bodyPr lIns="91440" rIns="91440" tIns="45720" bIns="45720" anchor="t">
            <a:normAutofit/>
          </a:bodyPr>
          <a:p>
            <a:pPr marL="343080" indent="-343080" algn="ctr" defTabSz="914400">
              <a:lnSpc>
                <a:spcPct val="100000"/>
              </a:lnSpc>
              <a:spcBef>
                <a:spcPts val="1321"/>
              </a:spcBef>
              <a:buNone/>
              <a:tabLst>
                <a:tab algn="l" pos="0"/>
              </a:tabLst>
            </a:pPr>
            <a:endParaRPr lang="en-US" sz="6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 defTabSz="914400">
              <a:lnSpc>
                <a:spcPct val="100000"/>
              </a:lnSpc>
              <a:spcBef>
                <a:spcPts val="1321"/>
              </a:spcBef>
              <a:buNone/>
              <a:tabLst>
                <a:tab algn="l" pos="0"/>
              </a:tabLst>
            </a:pPr>
            <a:r>
              <a:rPr lang="en-US" sz="6600" b="1" u="none" strike="noStrike">
                <a:solidFill>
                  <a:srgbClr val="6c3eec"/>
                </a:solidFill>
                <a:effectLst/>
                <a:uFillTx/>
                <a:latin typeface="Times New Roman"/>
              </a:rPr>
              <a:t>THANK YOU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A19C394D-0C7E-4A73-8185-54A59F6E59D1}" type="slidenum">
              <a:t>17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Application>LibreOffice/25.8.6.2$Linux_X86_64 LibreOffice_project/a46b460d1686bb49c718d2ef5f88b83ff2dc4981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2026-04-08T15:18:18Z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